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entry point. Almost every independent practice underestimates local SEO. Ask: 'If I search for your specialty in your zip code right now, where do you 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to the free practice audit offer — we can show them their current rankings live at the booth using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practice has a review horror story. Let them tell it. Then explain the math: you need a systematic pipeline of positive reviews to dilute any negatives.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sentiment catch is the underrated feature — flagging a dissatisfied patient before they post is worth more than 50 positive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creates urgency without fear-mongering. The point is that most practices have no idea this is happening. The question 'do you have a Facebook pixel on your website?' is a great conversation opener.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BAA coverage stat is powerful. Most marketing agencies have never heard of a BAA. We have one for every tool we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wrong patients problem is almost always a targeting and landing page issue. Ask what their current cost per booked appointment is. Most practices have no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audit their current Google Ads account at the booth if they share access. This is the most powerful live demo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up their actual website on a phone right at the booth and load it. The load time alone usually tells the whole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Arc Wellness or STL IO+IR website as a live example. The visual quality difference from a standard template is immediately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when their last network security audit was. The answer is almost always 'never' or 'we're not sure.' That's the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STL IO+IR is a live example — we did their PACS connectivity and network infrastructure. DICOM over subnet boundaries, Philips C-arm integration, the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prior auth stat is especially powerful for specialty practices. Ask how many staff they have dedicated to prior auth. Then ask how many of them actually enjoy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their current no-show rate is. National average is 18-23%. Any practice above that has a reminder system problem we can solve in week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pain point that lands hardest with practice administrators. The accountability vacuum between vendors is infuriating. We are the answer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pause on with practice administrators specifically. Ask: 'How many vendor calls do you take per week?' The number is usually surprising even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spreadsheet confession resonates with almost every practice. It's the universal sign that the current systems aren't working. It's also a HIPAA risk we can help them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Ensemble Health OS is the flagship product to reference here. The PACS portal and second opinion portal are extensions of the same philosophy — build what the market needs, not what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motivational close for the pain section. It reframes the competitive threat as an opportunity. The practices that move now will own their local markets before the window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close of the pain section. End on the message that independent practices have inherent advantages — they just need the right partner to unlock them. That's the conversation to have at the booth.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E8604F">
              <a:alpha val="12000"/>
            </a:srgbClr>
          </a:solidFill>
          <a:ln w="12700">
            <a:solidFill>
              <a:srgbClr val="E8604F">
                <a:alpha val="12000"/>
              </a:srgbClr>
            </a:solidFill>
            <a:prstDash val="solid"/>
          </a:ln>
        </p:spPr>
      </p:sp>
      <p:sp>
        <p:nvSpPr>
          <p:cNvPr id="57" name="Shape 55"/>
          <p:cNvSpPr/>
          <p:nvPr/>
        </p:nvSpPr>
        <p:spPr>
          <a:xfrm>
            <a:off x="-914400" y="1828800"/>
            <a:ext cx="4572000" cy="4572000"/>
          </a:xfrm>
          <a:prstGeom prst="ellipse">
            <a:avLst/>
          </a:prstGeom>
          <a:solidFill>
            <a:srgbClr val="E8604F">
              <a:alpha val="12000"/>
            </a:srgbClr>
          </a:solidFill>
          <a:ln w="12700">
            <a:solidFill>
              <a:srgbClr val="E8604F">
                <a:alpha val="12000"/>
              </a:srgbClr>
            </a:solidFill>
            <a:prstDash val="solid"/>
          </a:ln>
        </p:spPr>
      </p:sp>
      <p:sp>
        <p:nvSpPr>
          <p:cNvPr id="58" name="Text 56"/>
          <p:cNvSpPr/>
          <p:nvPr/>
        </p:nvSpPr>
        <p:spPr>
          <a:xfrm>
            <a:off x="548640" y="2194560"/>
            <a:ext cx="10972800" cy="274320"/>
          </a:xfrm>
          <a:prstGeom prst="rect">
            <a:avLst/>
          </a:prstGeom>
          <a:noFill/>
          <a:ln/>
        </p:spPr>
        <p:txBody>
          <a:bodyPr wrap="square" rtlCol="0" anchor="ctr"/>
          <a:lstStyle/>
          <a:p>
            <a:pPr indent="0" marL="0">
              <a:buNone/>
            </a:pPr>
            <a:r>
              <a:rPr lang="en-US" sz="900" b="1" spc="300" kern="0" dirty="0">
                <a:solidFill>
                  <a:srgbClr val="666E8A"/>
                </a:solidFill>
                <a:latin typeface="Calibri" pitchFamily="34" charset="0"/>
                <a:ea typeface="Calibri" pitchFamily="34" charset="-122"/>
                <a:cs typeface="Calibri" pitchFamily="34" charset="-120"/>
              </a:rPr>
              <a:t>ENSEMBLE DIGITAL LABS  ·  AIP CONFERENCE 2026</a:t>
            </a:r>
            <a:endParaRPr lang="en-US" sz="900" dirty="0"/>
          </a:p>
        </p:txBody>
      </p:sp>
      <p:sp>
        <p:nvSpPr>
          <p:cNvPr id="59" name="Text 57"/>
          <p:cNvSpPr/>
          <p:nvPr/>
        </p:nvSpPr>
        <p:spPr>
          <a:xfrm>
            <a:off x="548640" y="2651760"/>
            <a:ext cx="10972800" cy="1371600"/>
          </a:xfrm>
          <a:prstGeom prst="rect">
            <a:avLst/>
          </a:prstGeom>
          <a:noFill/>
          <a:ln/>
        </p:spPr>
        <p:txBody>
          <a:bodyPr wrap="square"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Does this sound like your practice?</a:t>
            </a:r>
            <a:endParaRPr lang="en-US" sz="5200" dirty="0"/>
          </a:p>
        </p:txBody>
      </p:sp>
      <p:sp>
        <p:nvSpPr>
          <p:cNvPr id="60" name="Text 58"/>
          <p:cNvSpPr/>
          <p:nvPr/>
        </p:nvSpPr>
        <p:spPr>
          <a:xfrm>
            <a:off x="1371600" y="4160520"/>
            <a:ext cx="9418320" cy="548640"/>
          </a:xfrm>
          <a:prstGeom prst="rect">
            <a:avLst/>
          </a:prstGeom>
          <a:noFill/>
          <a:ln/>
        </p:spPr>
        <p:txBody>
          <a:bodyPr wrap="square" rtlCol="0" anchor="ctr"/>
          <a:lstStyle/>
          <a:p>
            <a:pPr algn="ctr" indent="0" marL="0">
              <a:lnSpc>
                <a:spcPct val="140000"/>
              </a:lnSpc>
              <a:buNone/>
            </a:pPr>
            <a:r>
              <a:rPr lang="en-US" sz="1500" dirty="0">
                <a:solidFill>
                  <a:srgbClr val="B3B8CC"/>
                </a:solidFill>
                <a:latin typeface="Calibri" pitchFamily="34" charset="0"/>
                <a:ea typeface="Calibri" pitchFamily="34" charset="-122"/>
                <a:cs typeface="Calibri" pitchFamily="34" charset="-120"/>
              </a:rPr>
              <a:t>These are the 10 most common challenges we hear from independent practices every week.</a:t>
            </a:r>
            <a:endParaRPr lang="en-US" sz="1500" dirty="0"/>
          </a:p>
          <a:p>
            <a:pPr algn="ctr" indent="0" marL="0">
              <a:lnSpc>
                <a:spcPct val="140000"/>
              </a:lnSpc>
              <a:buNone/>
            </a:pPr>
            <a:r>
              <a:rPr lang="en-US" sz="1500" dirty="0">
                <a:solidFill>
                  <a:srgbClr val="B3B8CC"/>
                </a:solidFill>
                <a:latin typeface="Calibri" pitchFamily="34" charset="0"/>
                <a:ea typeface="Calibri" pitchFamily="34" charset="-122"/>
                <a:cs typeface="Calibri" pitchFamily="34" charset="-120"/>
              </a:rPr>
              <a:t>If any of these hit home — we should talk.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CC2936">
              <a:alpha val="12000"/>
            </a:srgbClr>
          </a:solidFill>
          <a:ln w="12700">
            <a:solidFill>
              <a:srgbClr val="CC2936">
                <a:alpha val="12000"/>
              </a:srgbClr>
            </a:solidFill>
            <a:prstDash val="solid"/>
          </a:ln>
        </p:spPr>
      </p:sp>
      <p:sp>
        <p:nvSpPr>
          <p:cNvPr id="57" name="Shape 55"/>
          <p:cNvSpPr/>
          <p:nvPr/>
        </p:nvSpPr>
        <p:spPr>
          <a:xfrm>
            <a:off x="-1371600" y="-914400"/>
            <a:ext cx="4114800" cy="4114800"/>
          </a:xfrm>
          <a:prstGeom prst="ellipse">
            <a:avLst/>
          </a:prstGeom>
          <a:solidFill>
            <a:srgbClr val="CC2936">
              <a:alpha val="12000"/>
            </a:srgbClr>
          </a:solidFill>
          <a:ln w="12700">
            <a:solidFill>
              <a:srgbClr val="CC2936">
                <a:alpha val="12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CC2936"/>
                </a:solidFill>
                <a:latin typeface="Calibri" pitchFamily="34" charset="0"/>
                <a:ea typeface="Calibri" pitchFamily="34" charset="-122"/>
                <a:cs typeface="Calibri" pitchFamily="34" charset="-120"/>
              </a:rPr>
              <a:t>PAIN POINT 01  ·  DIGITAL VISIBILITY</a:t>
            </a:r>
            <a:endParaRPr lang="en-US" sz="900" dirty="0"/>
          </a:p>
        </p:txBody>
      </p:sp>
      <p:sp>
        <p:nvSpPr>
          <p:cNvPr id="59" name="Text 57"/>
          <p:cNvSpPr/>
          <p:nvPr/>
        </p:nvSpPr>
        <p:spPr>
          <a:xfrm>
            <a:off x="548640" y="658368"/>
            <a:ext cx="7132320" cy="1645920"/>
          </a:xfrm>
          <a:prstGeom prst="rect">
            <a:avLst/>
          </a:prstGeom>
          <a:noFill/>
          <a:ln/>
        </p:spPr>
        <p:txBody>
          <a:bodyPr wrap="square" rtlCol="0" anchor="ctr"/>
          <a:lstStyle/>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You're not showing up</a:t>
            </a:r>
            <a:endParaRPr lang="en-US" sz="3600" dirty="0"/>
          </a:p>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when patients search for you.</a:t>
            </a:r>
            <a:endParaRPr lang="en-US" sz="3600" dirty="0"/>
          </a:p>
        </p:txBody>
      </p:sp>
      <p:sp>
        <p:nvSpPr>
          <p:cNvPr id="60" name="Shape 58"/>
          <p:cNvSpPr/>
          <p:nvPr/>
        </p:nvSpPr>
        <p:spPr>
          <a:xfrm>
            <a:off x="548640" y="2514600"/>
            <a:ext cx="6858000" cy="1371600"/>
          </a:xfrm>
          <a:prstGeom prst="roundRect">
            <a:avLst>
              <a:gd name="adj" fmla="val 9333"/>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1" name="Text 59"/>
          <p:cNvSpPr/>
          <p:nvPr/>
        </p:nvSpPr>
        <p:spPr>
          <a:xfrm>
            <a:off x="777240" y="2560320"/>
            <a:ext cx="548640" cy="731520"/>
          </a:xfrm>
          <a:prstGeom prst="rect">
            <a:avLst/>
          </a:prstGeom>
          <a:noFill/>
          <a:ln/>
        </p:spPr>
        <p:txBody>
          <a:bodyPr wrap="square" rtlCol="0" anchor="ctr"/>
          <a:lstStyle/>
          <a:p>
            <a:pPr indent="0" marL="0">
              <a:buNone/>
            </a:pPr>
            <a:r>
              <a:rPr lang="en-US" sz="4400" dirty="0">
                <a:solidFill>
                  <a:srgbClr val="CC2936"/>
                </a:solidFill>
                <a:latin typeface="Cambria" pitchFamily="34" charset="0"/>
                <a:ea typeface="Cambria" pitchFamily="34" charset="-122"/>
                <a:cs typeface="Cambria" pitchFamily="34" charset="-120"/>
              </a:rPr>
              <a:t>“</a:t>
            </a:r>
            <a:endParaRPr lang="en-US" sz="4400" dirty="0"/>
          </a:p>
        </p:txBody>
      </p:sp>
      <p:sp>
        <p:nvSpPr>
          <p:cNvPr id="62" name="Text 60"/>
          <p:cNvSpPr/>
          <p:nvPr/>
        </p:nvSpPr>
        <p:spPr>
          <a:xfrm>
            <a:off x="1280160" y="2679192"/>
            <a:ext cx="5943600" cy="1005840"/>
          </a:xfrm>
          <a:prstGeom prst="rect">
            <a:avLst/>
          </a:prstGeom>
          <a:noFill/>
          <a:ln/>
        </p:spPr>
        <p:txBody>
          <a:bodyPr wrap="square" rtlCol="0" anchor="ctr"/>
          <a:lstStyle/>
          <a:p>
            <a:pPr indent="0" marL="0">
              <a:lnSpc>
                <a:spcPct val="140000"/>
              </a:lnSpc>
              <a:buNone/>
            </a:pPr>
            <a:r>
              <a:rPr lang="en-US" sz="1400" i="1" dirty="0">
                <a:solidFill>
                  <a:srgbClr val="FFFFFF"/>
                </a:solidFill>
                <a:latin typeface="Cambria" pitchFamily="34" charset="0"/>
                <a:ea typeface="Cambria" pitchFamily="34" charset="-122"/>
                <a:cs typeface="Cambria" pitchFamily="34" charset="-120"/>
              </a:rPr>
              <a:t>We just spent $8,000 on a new website and we're still not on the first page of Google. I don't even know what went wrong.</a:t>
            </a:r>
            <a:endParaRPr lang="en-US" sz="1400" dirty="0"/>
          </a:p>
        </p:txBody>
      </p:sp>
      <p:sp>
        <p:nvSpPr>
          <p:cNvPr id="63" name="Text 61"/>
          <p:cNvSpPr/>
          <p:nvPr/>
        </p:nvSpPr>
        <p:spPr>
          <a:xfrm>
            <a:off x="1280160" y="3630168"/>
            <a:ext cx="5943600" cy="228600"/>
          </a:xfrm>
          <a:prstGeom prst="rect">
            <a:avLst/>
          </a:prstGeom>
          <a:noFill/>
          <a:ln/>
        </p:spPr>
        <p:txBody>
          <a:bodyPr wrap="square" rtlCol="0" anchor="ctr"/>
          <a:lstStyle/>
          <a:p>
            <a:pPr indent="0" marL="0">
              <a:buNone/>
            </a:pPr>
            <a:r>
              <a:rPr lang="en-US" sz="1000" dirty="0">
                <a:solidFill>
                  <a:srgbClr val="666E8A"/>
                </a:solidFill>
                <a:latin typeface="Calibri" pitchFamily="34" charset="0"/>
                <a:ea typeface="Calibri" pitchFamily="34" charset="-122"/>
                <a:cs typeface="Calibri" pitchFamily="34" charset="-120"/>
              </a:rPr>
              <a:t>— Practice Administrator, Multi-Specialty Group</a:t>
            </a:r>
            <a:endParaRPr lang="en-US" sz="1000" dirty="0"/>
          </a:p>
        </p:txBody>
      </p:sp>
      <p:sp>
        <p:nvSpPr>
          <p:cNvPr id="64" name="Shape 62"/>
          <p:cNvSpPr/>
          <p:nvPr/>
        </p:nvSpPr>
        <p:spPr>
          <a:xfrm>
            <a:off x="7863840" y="347472"/>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8065008" y="530352"/>
            <a:ext cx="274320" cy="274320"/>
          </a:xfrm>
          <a:prstGeom prst="ellipse">
            <a:avLst/>
          </a:prstGeom>
          <a:solidFill>
            <a:srgbClr val="CC2936"/>
          </a:solidFill>
          <a:ln w="12700">
            <a:solidFill>
              <a:srgbClr val="CC2936"/>
            </a:solidFill>
            <a:prstDash val="solid"/>
          </a:ln>
        </p:spPr>
      </p:sp>
      <p:sp>
        <p:nvSpPr>
          <p:cNvPr id="66" name="Text 64"/>
          <p:cNvSpPr/>
          <p:nvPr/>
        </p:nvSpPr>
        <p:spPr>
          <a:xfrm>
            <a:off x="8412480" y="493776"/>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Patients find competitors first</a:t>
            </a:r>
            <a:endParaRPr lang="en-US" sz="1200" dirty="0"/>
          </a:p>
        </p:txBody>
      </p:sp>
      <p:sp>
        <p:nvSpPr>
          <p:cNvPr id="67" name="Text 65"/>
          <p:cNvSpPr/>
          <p:nvPr/>
        </p:nvSpPr>
        <p:spPr>
          <a:xfrm>
            <a:off x="8065008" y="960120"/>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97% of patients search online before choosing a provider. If you're not on page one, you effectively don't exist.</a:t>
            </a:r>
            <a:endParaRPr lang="en-US" sz="1100" dirty="0"/>
          </a:p>
        </p:txBody>
      </p:sp>
      <p:sp>
        <p:nvSpPr>
          <p:cNvPr id="68" name="Shape 66"/>
          <p:cNvSpPr/>
          <p:nvPr/>
        </p:nvSpPr>
        <p:spPr>
          <a:xfrm>
            <a:off x="7863840" y="2468880"/>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9" name="Shape 67"/>
          <p:cNvSpPr/>
          <p:nvPr/>
        </p:nvSpPr>
        <p:spPr>
          <a:xfrm>
            <a:off x="8065008" y="2651760"/>
            <a:ext cx="274320" cy="274320"/>
          </a:xfrm>
          <a:prstGeom prst="ellipse">
            <a:avLst/>
          </a:prstGeom>
          <a:solidFill>
            <a:srgbClr val="CC2936"/>
          </a:solidFill>
          <a:ln w="12700">
            <a:solidFill>
              <a:srgbClr val="CC2936"/>
            </a:solidFill>
            <a:prstDash val="solid"/>
          </a:ln>
        </p:spPr>
      </p:sp>
      <p:sp>
        <p:nvSpPr>
          <p:cNvPr id="70" name="Text 68"/>
          <p:cNvSpPr/>
          <p:nvPr/>
        </p:nvSpPr>
        <p:spPr>
          <a:xfrm>
            <a:off x="8412480" y="2615184"/>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Ad spend goes to waste</a:t>
            </a:r>
            <a:endParaRPr lang="en-US" sz="1200" dirty="0"/>
          </a:p>
        </p:txBody>
      </p:sp>
      <p:sp>
        <p:nvSpPr>
          <p:cNvPr id="71" name="Text 69"/>
          <p:cNvSpPr/>
          <p:nvPr/>
        </p:nvSpPr>
        <p:spPr>
          <a:xfrm>
            <a:off x="8065008" y="3081528"/>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Running Google Ads without local SEO is like putting a billboard on the wrong highway. Traffic, no patients.</a:t>
            </a:r>
            <a:endParaRPr lang="en-US" sz="1100" dirty="0"/>
          </a:p>
        </p:txBody>
      </p:sp>
      <p:sp>
        <p:nvSpPr>
          <p:cNvPr id="72" name="Shape 70"/>
          <p:cNvSpPr/>
          <p:nvPr/>
        </p:nvSpPr>
        <p:spPr>
          <a:xfrm>
            <a:off x="7863840" y="4590288"/>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3" name="Shape 71"/>
          <p:cNvSpPr/>
          <p:nvPr/>
        </p:nvSpPr>
        <p:spPr>
          <a:xfrm>
            <a:off x="8065008" y="4773168"/>
            <a:ext cx="274320" cy="274320"/>
          </a:xfrm>
          <a:prstGeom prst="ellipse">
            <a:avLst/>
          </a:prstGeom>
          <a:solidFill>
            <a:srgbClr val="CC2936"/>
          </a:solidFill>
          <a:ln w="12700">
            <a:solidFill>
              <a:srgbClr val="CC2936"/>
            </a:solidFill>
            <a:prstDash val="solid"/>
          </a:ln>
        </p:spPr>
      </p:sp>
      <p:sp>
        <p:nvSpPr>
          <p:cNvPr id="74" name="Text 72"/>
          <p:cNvSpPr/>
          <p:nvPr/>
        </p:nvSpPr>
        <p:spPr>
          <a:xfrm>
            <a:off x="8412480" y="4736592"/>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Your GBP is incomplete</a:t>
            </a:r>
            <a:endParaRPr lang="en-US" sz="1200" dirty="0"/>
          </a:p>
        </p:txBody>
      </p:sp>
      <p:sp>
        <p:nvSpPr>
          <p:cNvPr id="75" name="Text 73"/>
          <p:cNvSpPr/>
          <p:nvPr/>
        </p:nvSpPr>
        <p:spPr>
          <a:xfrm>
            <a:off x="8065008" y="5202936"/>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Missing hours, no photos, zero reviews — Google ranks you lower and patients trust you less.</a:t>
            </a:r>
            <a:endParaRPr lang="en-US" sz="1100" dirty="0"/>
          </a:p>
        </p:txBody>
      </p:sp>
      <p:sp>
        <p:nvSpPr>
          <p:cNvPr id="76" name="Text 74"/>
          <p:cNvSpPr/>
          <p:nvPr/>
        </p:nvSpPr>
        <p:spPr>
          <a:xfrm>
            <a:off x="548640" y="4069080"/>
            <a:ext cx="3200400" cy="1097280"/>
          </a:xfrm>
          <a:prstGeom prst="rect">
            <a:avLst/>
          </a:prstGeom>
          <a:noFill/>
          <a:ln/>
        </p:spPr>
        <p:txBody>
          <a:bodyPr wrap="square" rtlCol="0" anchor="ctr"/>
          <a:lstStyle/>
          <a:p>
            <a:pPr indent="0" marL="0">
              <a:buNone/>
            </a:pPr>
            <a:r>
              <a:rPr lang="en-US" sz="6400" b="1" dirty="0">
                <a:solidFill>
                  <a:srgbClr val="CC2936"/>
                </a:solidFill>
                <a:latin typeface="Cambria" pitchFamily="34" charset="0"/>
                <a:ea typeface="Cambria" pitchFamily="34" charset="-122"/>
                <a:cs typeface="Cambria" pitchFamily="34" charset="-120"/>
              </a:rPr>
              <a:t>97%</a:t>
            </a:r>
            <a:endParaRPr lang="en-US" sz="6400" dirty="0"/>
          </a:p>
        </p:txBody>
      </p:sp>
      <p:sp>
        <p:nvSpPr>
          <p:cNvPr id="77" name="Text 75"/>
          <p:cNvSpPr/>
          <p:nvPr/>
        </p:nvSpPr>
        <p:spPr>
          <a:xfrm>
            <a:off x="548640" y="5074920"/>
            <a:ext cx="5029200" cy="457200"/>
          </a:xfrm>
          <a:prstGeom prst="rect">
            <a:avLst/>
          </a:prstGeom>
          <a:noFill/>
          <a:ln/>
        </p:spPr>
        <p:txBody>
          <a:bodyPr wrap="square" rtlCol="0" anchor="ctr"/>
          <a:lstStyle/>
          <a:p>
            <a:pPr indent="0" marL="0">
              <a:buNone/>
            </a:pPr>
            <a:r>
              <a:rPr lang="en-US" sz="1200" dirty="0">
                <a:solidFill>
                  <a:srgbClr val="B3B8CC"/>
                </a:solidFill>
                <a:latin typeface="Calibri" pitchFamily="34" charset="0"/>
                <a:ea typeface="Calibri" pitchFamily="34" charset="-122"/>
                <a:cs typeface="Calibri" pitchFamily="34" charset="-120"/>
              </a:rPr>
              <a:t>of patients search online before choosing a provider</a:t>
            </a:r>
            <a:endParaRPr lang="en-US" sz="1200" dirty="0"/>
          </a:p>
        </p:txBody>
      </p:sp>
      <p:sp>
        <p:nvSpPr>
          <p:cNvPr id="78" name="Text 76"/>
          <p:cNvSpPr/>
          <p:nvPr/>
        </p:nvSpPr>
        <p:spPr>
          <a:xfrm>
            <a:off x="548640" y="6492240"/>
            <a:ext cx="8229600" cy="256032"/>
          </a:xfrm>
          <a:prstGeom prst="rect">
            <a:avLst/>
          </a:prstGeom>
          <a:noFill/>
          <a:ln/>
        </p:spPr>
        <p:txBody>
          <a:bodyPr wrap="square" rtlCol="0" anchor="ctr"/>
          <a:lstStyle/>
          <a:p>
            <a:pPr indent="0" marL="0">
              <a:buNone/>
            </a:pPr>
            <a:r>
              <a:rPr lang="en-US" sz="1000" i="1" dirty="0">
                <a:solidFill>
                  <a:srgbClr val="666E8A"/>
                </a:solidFill>
                <a:latin typeface="Calibri" pitchFamily="34" charset="0"/>
                <a:ea typeface="Calibri" pitchFamily="34" charset="-122"/>
                <a:cs typeface="Calibri" pitchFamily="34" charset="-120"/>
              </a:rPr>
              <a:t>Sound familiar?  →  See how Ensemble solves this on the next slide.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1D9E75">
              <a:alpha val="12000"/>
            </a:srgbClr>
          </a:solidFill>
          <a:ln w="12700">
            <a:solidFill>
              <a:srgbClr val="1D9E75">
                <a:alpha val="12000"/>
              </a:srgbClr>
            </a:solidFill>
            <a:prstDash val="solid"/>
          </a:ln>
        </p:spPr>
      </p:sp>
      <p:sp>
        <p:nvSpPr>
          <p:cNvPr id="57" name="Shape 55"/>
          <p:cNvSpPr/>
          <p:nvPr/>
        </p:nvSpPr>
        <p:spPr>
          <a:xfrm>
            <a:off x="8229600" y="2743200"/>
            <a:ext cx="4572000" cy="4572000"/>
          </a:xfrm>
          <a:prstGeom prst="ellipse">
            <a:avLst/>
          </a:prstGeom>
          <a:solidFill>
            <a:srgbClr val="1D9E75">
              <a:alpha val="13000"/>
            </a:srgbClr>
          </a:solidFill>
          <a:ln w="12700">
            <a:solidFill>
              <a:srgbClr val="1D9E75">
                <a:alpha val="13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1D9E75"/>
                </a:solidFill>
                <a:latin typeface="Calibri" pitchFamily="34" charset="0"/>
                <a:ea typeface="Calibri" pitchFamily="34" charset="-122"/>
                <a:cs typeface="Calibri" pitchFamily="34" charset="-120"/>
              </a:rPr>
              <a:t>ENSEMBLE SOLUTION  ·  DIGITAL VISIBILITY</a:t>
            </a:r>
            <a:endParaRPr lang="en-US" sz="900" dirty="0"/>
          </a:p>
        </p:txBody>
      </p:sp>
      <p:sp>
        <p:nvSpPr>
          <p:cNvPr id="59" name="Text 57"/>
          <p:cNvSpPr/>
          <p:nvPr/>
        </p:nvSpPr>
        <p:spPr>
          <a:xfrm>
            <a:off x="548640" y="658368"/>
            <a:ext cx="7772400" cy="146304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We put you on the map.</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Literally and digitally.</a:t>
            </a:r>
            <a:endParaRPr lang="en-US" sz="3400" dirty="0"/>
          </a:p>
        </p:txBody>
      </p:sp>
      <p:sp>
        <p:nvSpPr>
          <p:cNvPr id="60" name="Text 58"/>
          <p:cNvSpPr/>
          <p:nvPr/>
        </p:nvSpPr>
        <p:spPr>
          <a:xfrm>
            <a:off x="548640" y="2286000"/>
            <a:ext cx="6035040" cy="1005840"/>
          </a:xfrm>
          <a:prstGeom prst="rect">
            <a:avLst/>
          </a:prstGeom>
          <a:noFill/>
          <a:ln/>
        </p:spPr>
        <p:txBody>
          <a:bodyPr wrap="square" rtlCol="0" anchor="ctr"/>
          <a:lstStyle/>
          <a:p>
            <a:pPr indent="0" marL="0">
              <a:lnSpc>
                <a:spcPct val="150000"/>
              </a:lnSpc>
              <a:buNone/>
            </a:pPr>
            <a:r>
              <a:rPr lang="en-US" sz="1400" dirty="0">
                <a:solidFill>
                  <a:srgbClr val="B3B8CC"/>
                </a:solidFill>
                <a:latin typeface="Calibri" pitchFamily="34" charset="0"/>
                <a:ea typeface="Calibri" pitchFamily="34" charset="-122"/>
                <a:cs typeface="Calibri" pitchFamily="34" charset="-120"/>
              </a:rPr>
              <a:t>Physician-grade SEO built around how patients actually search — by condition, procedure, and location. We fix the technical foundation, optimize your Google Business Profile, and build the content that earns you top rankings.</a:t>
            </a:r>
            <a:endParaRPr lang="en-US" sz="1400" dirty="0"/>
          </a:p>
        </p:txBody>
      </p:sp>
      <p:sp>
        <p:nvSpPr>
          <p:cNvPr id="61" name="Shape 59"/>
          <p:cNvSpPr/>
          <p:nvPr/>
        </p:nvSpPr>
        <p:spPr>
          <a:xfrm>
            <a:off x="548640" y="3474720"/>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2" name="Shape 60"/>
          <p:cNvSpPr/>
          <p:nvPr/>
        </p:nvSpPr>
        <p:spPr>
          <a:xfrm>
            <a:off x="749808" y="3721608"/>
            <a:ext cx="164592" cy="164592"/>
          </a:xfrm>
          <a:prstGeom prst="ellipse">
            <a:avLst/>
          </a:prstGeom>
          <a:solidFill>
            <a:srgbClr val="1D9E75"/>
          </a:solidFill>
          <a:ln w="12700">
            <a:solidFill>
              <a:srgbClr val="1D9E75"/>
            </a:solidFill>
            <a:prstDash val="solid"/>
          </a:ln>
        </p:spPr>
      </p:sp>
      <p:sp>
        <p:nvSpPr>
          <p:cNvPr id="63" name="Text 61"/>
          <p:cNvSpPr/>
          <p:nvPr/>
        </p:nvSpPr>
        <p:spPr>
          <a:xfrm>
            <a:off x="1024128" y="356616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Full local SEO audit — technical, content, and link profile</a:t>
            </a:r>
            <a:endParaRPr lang="en-US" sz="1250" dirty="0"/>
          </a:p>
        </p:txBody>
      </p:sp>
      <p:sp>
        <p:nvSpPr>
          <p:cNvPr id="64" name="Shape 62"/>
          <p:cNvSpPr/>
          <p:nvPr/>
        </p:nvSpPr>
        <p:spPr>
          <a:xfrm>
            <a:off x="548640" y="4261104"/>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749808" y="4507992"/>
            <a:ext cx="164592" cy="164592"/>
          </a:xfrm>
          <a:prstGeom prst="ellipse">
            <a:avLst/>
          </a:prstGeom>
          <a:solidFill>
            <a:srgbClr val="1D9E75"/>
          </a:solidFill>
          <a:ln w="12700">
            <a:solidFill>
              <a:srgbClr val="1D9E75"/>
            </a:solidFill>
            <a:prstDash val="solid"/>
          </a:ln>
        </p:spPr>
      </p:sp>
      <p:sp>
        <p:nvSpPr>
          <p:cNvPr id="66" name="Text 64"/>
          <p:cNvSpPr/>
          <p:nvPr/>
        </p:nvSpPr>
        <p:spPr>
          <a:xfrm>
            <a:off x="1024128" y="420624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Google Business Profile claimed, verified, and fully optimized</a:t>
            </a:r>
            <a:endParaRPr lang="en-US" sz="1250" dirty="0"/>
          </a:p>
        </p:txBody>
      </p:sp>
      <p:sp>
        <p:nvSpPr>
          <p:cNvPr id="67" name="Shape 65"/>
          <p:cNvSpPr/>
          <p:nvPr/>
        </p:nvSpPr>
        <p:spPr>
          <a:xfrm>
            <a:off x="548640" y="5047488"/>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8" name="Shape 66"/>
          <p:cNvSpPr/>
          <p:nvPr/>
        </p:nvSpPr>
        <p:spPr>
          <a:xfrm>
            <a:off x="749808" y="5294376"/>
            <a:ext cx="164592" cy="164592"/>
          </a:xfrm>
          <a:prstGeom prst="ellipse">
            <a:avLst/>
          </a:prstGeom>
          <a:solidFill>
            <a:srgbClr val="1D9E75"/>
          </a:solidFill>
          <a:ln w="12700">
            <a:solidFill>
              <a:srgbClr val="1D9E75"/>
            </a:solidFill>
            <a:prstDash val="solid"/>
          </a:ln>
        </p:spPr>
      </p:sp>
      <p:sp>
        <p:nvSpPr>
          <p:cNvPr id="69" name="Text 67"/>
          <p:cNvSpPr/>
          <p:nvPr/>
        </p:nvSpPr>
        <p:spPr>
          <a:xfrm>
            <a:off x="1024128" y="484632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Medical schema markup — helps Google understand your specialty</a:t>
            </a:r>
            <a:endParaRPr lang="en-US" sz="1250" dirty="0"/>
          </a:p>
        </p:txBody>
      </p:sp>
      <p:sp>
        <p:nvSpPr>
          <p:cNvPr id="70" name="Shape 68"/>
          <p:cNvSpPr/>
          <p:nvPr/>
        </p:nvSpPr>
        <p:spPr>
          <a:xfrm>
            <a:off x="548640" y="5833872"/>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1" name="Shape 69"/>
          <p:cNvSpPr/>
          <p:nvPr/>
        </p:nvSpPr>
        <p:spPr>
          <a:xfrm>
            <a:off x="749808" y="6080760"/>
            <a:ext cx="164592" cy="164592"/>
          </a:xfrm>
          <a:prstGeom prst="ellipse">
            <a:avLst/>
          </a:prstGeom>
          <a:solidFill>
            <a:srgbClr val="1D9E75"/>
          </a:solidFill>
          <a:ln w="12700">
            <a:solidFill>
              <a:srgbClr val="1D9E75"/>
            </a:solidFill>
            <a:prstDash val="solid"/>
          </a:ln>
        </p:spPr>
      </p:sp>
      <p:sp>
        <p:nvSpPr>
          <p:cNvPr id="72" name="Text 70"/>
          <p:cNvSpPr/>
          <p:nvPr/>
        </p:nvSpPr>
        <p:spPr>
          <a:xfrm>
            <a:off x="1024128" y="548640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Location-specific landing pages for every service and procedure</a:t>
            </a:r>
            <a:endParaRPr lang="en-US" sz="1250" dirty="0"/>
          </a:p>
        </p:txBody>
      </p:sp>
      <p:sp>
        <p:nvSpPr>
          <p:cNvPr id="73" name="Shape 71"/>
          <p:cNvSpPr/>
          <p:nvPr/>
        </p:nvSpPr>
        <p:spPr>
          <a:xfrm>
            <a:off x="548640" y="6620256"/>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4" name="Shape 72"/>
          <p:cNvSpPr/>
          <p:nvPr/>
        </p:nvSpPr>
        <p:spPr>
          <a:xfrm>
            <a:off x="749808" y="6867144"/>
            <a:ext cx="164592" cy="164592"/>
          </a:xfrm>
          <a:prstGeom prst="ellipse">
            <a:avLst/>
          </a:prstGeom>
          <a:solidFill>
            <a:srgbClr val="1D9E75"/>
          </a:solidFill>
          <a:ln w="12700">
            <a:solidFill>
              <a:srgbClr val="1D9E75"/>
            </a:solidFill>
            <a:prstDash val="solid"/>
          </a:ln>
        </p:spPr>
      </p:sp>
      <p:sp>
        <p:nvSpPr>
          <p:cNvPr id="75" name="Text 73"/>
          <p:cNvSpPr/>
          <p:nvPr/>
        </p:nvSpPr>
        <p:spPr>
          <a:xfrm>
            <a:off x="1024128" y="612648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Ongoing content that targets the exact searches your patients use</a:t>
            </a:r>
            <a:endParaRPr lang="en-US" sz="1250" dirty="0"/>
          </a:p>
        </p:txBody>
      </p:sp>
      <p:sp>
        <p:nvSpPr>
          <p:cNvPr id="76" name="Shape 74"/>
          <p:cNvSpPr/>
          <p:nvPr/>
        </p:nvSpPr>
        <p:spPr>
          <a:xfrm>
            <a:off x="6858000" y="2011680"/>
            <a:ext cx="4846320" cy="4389120"/>
          </a:xfrm>
          <a:prstGeom prst="roundRect">
            <a:avLst>
              <a:gd name="adj" fmla="val 2917"/>
            </a:avLst>
          </a:prstGeom>
          <a:solidFill>
            <a:srgbClr val="161D32"/>
          </a:solidFill>
          <a:ln w="15240">
            <a:solidFill>
              <a:srgbClr val="1D9E75">
                <a:alpha val="50000"/>
              </a:srgbClr>
            </a:solidFill>
            <a:prstDash val="solid"/>
          </a:ln>
          <a:effectLst>
            <a:outerShdw sx="100000" sy="100000" kx="0" ky="0" algn="bl" rotWithShape="0" blurRad="127000" dist="38100" dir="2700000">
              <a:srgbClr val="000000">
                <a:alpha val="22000"/>
              </a:srgbClr>
            </a:outerShdw>
          </a:effectLst>
        </p:spPr>
      </p:sp>
      <p:sp>
        <p:nvSpPr>
          <p:cNvPr id="77" name="Text 75"/>
          <p:cNvSpPr/>
          <p:nvPr/>
        </p:nvSpPr>
        <p:spPr>
          <a:xfrm>
            <a:off x="7086600" y="2212848"/>
            <a:ext cx="4389120" cy="274320"/>
          </a:xfrm>
          <a:prstGeom prst="rect">
            <a:avLst/>
          </a:prstGeom>
          <a:noFill/>
          <a:ln/>
        </p:spPr>
        <p:txBody>
          <a:bodyPr wrap="square" rtlCol="0" anchor="ctr"/>
          <a:lstStyle/>
          <a:p>
            <a:pPr indent="0" marL="0">
              <a:buNone/>
            </a:pPr>
            <a:r>
              <a:rPr lang="en-US" sz="900" b="1" spc="200" kern="0" dirty="0">
                <a:solidFill>
                  <a:srgbClr val="1D9E75"/>
                </a:solidFill>
                <a:latin typeface="Calibri" pitchFamily="34" charset="0"/>
                <a:ea typeface="Calibri" pitchFamily="34" charset="-122"/>
                <a:cs typeface="Calibri" pitchFamily="34" charset="-120"/>
              </a:rPr>
              <a:t>THE RESULT</a:t>
            </a:r>
            <a:endParaRPr lang="en-US" sz="900" dirty="0"/>
          </a:p>
        </p:txBody>
      </p:sp>
      <p:sp>
        <p:nvSpPr>
          <p:cNvPr id="78" name="Text 76"/>
          <p:cNvSpPr/>
          <p:nvPr/>
        </p:nvSpPr>
        <p:spPr>
          <a:xfrm>
            <a:off x="7086600" y="2542032"/>
            <a:ext cx="4389120" cy="777240"/>
          </a:xfrm>
          <a:prstGeom prst="rect">
            <a:avLst/>
          </a:prstGeom>
          <a:noFill/>
          <a:ln/>
        </p:spPr>
        <p:txBody>
          <a:bodyPr wrap="square"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First page rankings in your service area within 90 days.</a:t>
            </a:r>
            <a:endParaRPr lang="en-US" sz="2000" dirty="0"/>
          </a:p>
        </p:txBody>
      </p:sp>
      <p:sp>
        <p:nvSpPr>
          <p:cNvPr id="79" name="Text 77"/>
          <p:cNvSpPr/>
          <p:nvPr/>
        </p:nvSpPr>
        <p:spPr>
          <a:xfrm>
            <a:off x="7086600" y="3401568"/>
            <a:ext cx="4389120" cy="1371600"/>
          </a:xfrm>
          <a:prstGeom prst="rect">
            <a:avLst/>
          </a:prstGeom>
          <a:noFill/>
          <a:ln/>
        </p:spPr>
        <p:txBody>
          <a:bodyPr wrap="square" rtlCol="0" anchor="ctr"/>
          <a:lstStyle/>
          <a:p>
            <a:pPr indent="0" marL="0">
              <a:lnSpc>
                <a:spcPct val="150000"/>
              </a:lnSpc>
              <a:buNone/>
            </a:pPr>
            <a:r>
              <a:rPr lang="en-US" sz="1250" dirty="0">
                <a:solidFill>
                  <a:srgbClr val="B3B8CC"/>
                </a:solidFill>
                <a:latin typeface="Calibri" pitchFamily="34" charset="0"/>
                <a:ea typeface="Calibri" pitchFamily="34" charset="-122"/>
                <a:cs typeface="Calibri" pitchFamily="34" charset="-120"/>
              </a:rPr>
              <a:t>Most of our practices see meaningful ranking movement within the first 30 days of technical fixes and GBP optimization. Page-one rankings for core procedures typically follow within 60 to 90 days.</a:t>
            </a:r>
            <a:endParaRPr lang="en-US" sz="1250" dirty="0"/>
          </a:p>
        </p:txBody>
      </p:sp>
      <p:sp>
        <p:nvSpPr>
          <p:cNvPr id="80" name="Text 78"/>
          <p:cNvSpPr/>
          <p:nvPr/>
        </p:nvSpPr>
        <p:spPr>
          <a:xfrm>
            <a:off x="708660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90</a:t>
            </a:r>
            <a:endParaRPr lang="en-US" sz="3600" dirty="0"/>
          </a:p>
        </p:txBody>
      </p:sp>
      <p:sp>
        <p:nvSpPr>
          <p:cNvPr id="81" name="Text 79"/>
          <p:cNvSpPr/>
          <p:nvPr/>
        </p:nvSpPr>
        <p:spPr>
          <a:xfrm>
            <a:off x="708660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days to page-one rankings</a:t>
            </a:r>
            <a:endParaRPr lang="en-US" sz="1000" dirty="0"/>
          </a:p>
        </p:txBody>
      </p:sp>
      <p:sp>
        <p:nvSpPr>
          <p:cNvPr id="82" name="Text 80"/>
          <p:cNvSpPr/>
          <p:nvPr/>
        </p:nvSpPr>
        <p:spPr>
          <a:xfrm>
            <a:off x="941832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3x</a:t>
            </a:r>
            <a:endParaRPr lang="en-US" sz="3600" dirty="0"/>
          </a:p>
        </p:txBody>
      </p:sp>
      <p:sp>
        <p:nvSpPr>
          <p:cNvPr id="83" name="Text 81"/>
          <p:cNvSpPr/>
          <p:nvPr/>
        </p:nvSpPr>
        <p:spPr>
          <a:xfrm>
            <a:off x="941832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avg. increase in organic traffic</a:t>
            </a:r>
            <a:endParaRPr lang="en-US" sz="1000" dirty="0"/>
          </a:p>
        </p:txBody>
      </p:sp>
      <p:sp>
        <p:nvSpPr>
          <p:cNvPr id="84" name="Shape 82"/>
          <p:cNvSpPr/>
          <p:nvPr/>
        </p:nvSpPr>
        <p:spPr>
          <a:xfrm>
            <a:off x="548640" y="6473952"/>
            <a:ext cx="2743200" cy="320040"/>
          </a:xfrm>
          <a:prstGeom prst="roundRect">
            <a:avLst>
              <a:gd name="adj" fmla="val 57143"/>
            </a:avLst>
          </a:prstGeom>
          <a:solidFill>
            <a:srgbClr val="E8604F"/>
          </a:solidFill>
          <a:ln/>
        </p:spPr>
      </p:sp>
      <p:sp>
        <p:nvSpPr>
          <p:cNvPr id="85" name="Text 83"/>
          <p:cNvSpPr/>
          <p:nvPr/>
        </p:nvSpPr>
        <p:spPr>
          <a:xfrm>
            <a:off x="548640" y="6473952"/>
            <a:ext cx="27432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 Practice Audit  →</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CC2936">
              <a:alpha val="12000"/>
            </a:srgbClr>
          </a:solidFill>
          <a:ln w="12700">
            <a:solidFill>
              <a:srgbClr val="CC2936">
                <a:alpha val="12000"/>
              </a:srgbClr>
            </a:solidFill>
            <a:prstDash val="solid"/>
          </a:ln>
        </p:spPr>
      </p:sp>
      <p:sp>
        <p:nvSpPr>
          <p:cNvPr id="57" name="Shape 55"/>
          <p:cNvSpPr/>
          <p:nvPr/>
        </p:nvSpPr>
        <p:spPr>
          <a:xfrm>
            <a:off x="-1371600" y="-914400"/>
            <a:ext cx="4114800" cy="4114800"/>
          </a:xfrm>
          <a:prstGeom prst="ellipse">
            <a:avLst/>
          </a:prstGeom>
          <a:solidFill>
            <a:srgbClr val="CC2936">
              <a:alpha val="12000"/>
            </a:srgbClr>
          </a:solidFill>
          <a:ln w="12700">
            <a:solidFill>
              <a:srgbClr val="CC2936">
                <a:alpha val="12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CC2936"/>
                </a:solidFill>
                <a:latin typeface="Calibri" pitchFamily="34" charset="0"/>
                <a:ea typeface="Calibri" pitchFamily="34" charset="-122"/>
                <a:cs typeface="Calibri" pitchFamily="34" charset="-120"/>
              </a:rPr>
              <a:t>PAIN POINT 02  ·  REPUTATION MANAGEMENT</a:t>
            </a:r>
            <a:endParaRPr lang="en-US" sz="900" dirty="0"/>
          </a:p>
        </p:txBody>
      </p:sp>
      <p:sp>
        <p:nvSpPr>
          <p:cNvPr id="59" name="Text 57"/>
          <p:cNvSpPr/>
          <p:nvPr/>
        </p:nvSpPr>
        <p:spPr>
          <a:xfrm>
            <a:off x="548640" y="658368"/>
            <a:ext cx="7132320" cy="1645920"/>
          </a:xfrm>
          <a:prstGeom prst="rect">
            <a:avLst/>
          </a:prstGeom>
          <a:noFill/>
          <a:ln/>
        </p:spPr>
        <p:txBody>
          <a:bodyPr wrap="square" rtlCol="0" anchor="ctr"/>
          <a:lstStyle/>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One bad review is</a:t>
            </a:r>
            <a:endParaRPr lang="en-US" sz="3600" dirty="0"/>
          </a:p>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hurting your whole practice.</a:t>
            </a:r>
            <a:endParaRPr lang="en-US" sz="3600" dirty="0"/>
          </a:p>
        </p:txBody>
      </p:sp>
      <p:sp>
        <p:nvSpPr>
          <p:cNvPr id="60" name="Shape 58"/>
          <p:cNvSpPr/>
          <p:nvPr/>
        </p:nvSpPr>
        <p:spPr>
          <a:xfrm>
            <a:off x="548640" y="2514600"/>
            <a:ext cx="6858000" cy="1371600"/>
          </a:xfrm>
          <a:prstGeom prst="roundRect">
            <a:avLst>
              <a:gd name="adj" fmla="val 9333"/>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1" name="Text 59"/>
          <p:cNvSpPr/>
          <p:nvPr/>
        </p:nvSpPr>
        <p:spPr>
          <a:xfrm>
            <a:off x="777240" y="2560320"/>
            <a:ext cx="548640" cy="731520"/>
          </a:xfrm>
          <a:prstGeom prst="rect">
            <a:avLst/>
          </a:prstGeom>
          <a:noFill/>
          <a:ln/>
        </p:spPr>
        <p:txBody>
          <a:bodyPr wrap="square" rtlCol="0" anchor="ctr"/>
          <a:lstStyle/>
          <a:p>
            <a:pPr indent="0" marL="0">
              <a:buNone/>
            </a:pPr>
            <a:r>
              <a:rPr lang="en-US" sz="4400" dirty="0">
                <a:solidFill>
                  <a:srgbClr val="CC2936"/>
                </a:solidFill>
                <a:latin typeface="Cambria" pitchFamily="34" charset="0"/>
                <a:ea typeface="Cambria" pitchFamily="34" charset="-122"/>
                <a:cs typeface="Cambria" pitchFamily="34" charset="-120"/>
              </a:rPr>
              <a:t>“</a:t>
            </a:r>
            <a:endParaRPr lang="en-US" sz="4400" dirty="0"/>
          </a:p>
        </p:txBody>
      </p:sp>
      <p:sp>
        <p:nvSpPr>
          <p:cNvPr id="62" name="Text 60"/>
          <p:cNvSpPr/>
          <p:nvPr/>
        </p:nvSpPr>
        <p:spPr>
          <a:xfrm>
            <a:off x="1280160" y="2679192"/>
            <a:ext cx="5943600" cy="1005840"/>
          </a:xfrm>
          <a:prstGeom prst="rect">
            <a:avLst/>
          </a:prstGeom>
          <a:noFill/>
          <a:ln/>
        </p:spPr>
        <p:txBody>
          <a:bodyPr wrap="square" rtlCol="0" anchor="ctr"/>
          <a:lstStyle/>
          <a:p>
            <a:pPr indent="0" marL="0">
              <a:lnSpc>
                <a:spcPct val="140000"/>
              </a:lnSpc>
              <a:buNone/>
            </a:pPr>
            <a:r>
              <a:rPr lang="en-US" sz="1400" i="1" dirty="0">
                <a:solidFill>
                  <a:srgbClr val="FFFFFF"/>
                </a:solidFill>
                <a:latin typeface="Cambria" pitchFamily="34" charset="0"/>
                <a:ea typeface="Cambria" pitchFamily="34" charset="-122"/>
                <a:cs typeface="Cambria" pitchFamily="34" charset="-120"/>
              </a:rPr>
              <a:t>We have one angry patient who left three different bad reviews on three platforms. It's the first thing anyone sees. I don't know how to fight it.</a:t>
            </a:r>
            <a:endParaRPr lang="en-US" sz="1400" dirty="0"/>
          </a:p>
        </p:txBody>
      </p:sp>
      <p:sp>
        <p:nvSpPr>
          <p:cNvPr id="63" name="Text 61"/>
          <p:cNvSpPr/>
          <p:nvPr/>
        </p:nvSpPr>
        <p:spPr>
          <a:xfrm>
            <a:off x="1280160" y="3630168"/>
            <a:ext cx="5943600" cy="228600"/>
          </a:xfrm>
          <a:prstGeom prst="rect">
            <a:avLst/>
          </a:prstGeom>
          <a:noFill/>
          <a:ln/>
        </p:spPr>
        <p:txBody>
          <a:bodyPr wrap="square" rtlCol="0" anchor="ctr"/>
          <a:lstStyle/>
          <a:p>
            <a:pPr indent="0" marL="0">
              <a:buNone/>
            </a:pPr>
            <a:r>
              <a:rPr lang="en-US" sz="1000" dirty="0">
                <a:solidFill>
                  <a:srgbClr val="666E8A"/>
                </a:solidFill>
                <a:latin typeface="Calibri" pitchFamily="34" charset="0"/>
                <a:ea typeface="Calibri" pitchFamily="34" charset="-122"/>
                <a:cs typeface="Calibri" pitchFamily="34" charset="-120"/>
              </a:rPr>
              <a:t>— Physician, Solo Practice</a:t>
            </a:r>
            <a:endParaRPr lang="en-US" sz="1000" dirty="0"/>
          </a:p>
        </p:txBody>
      </p:sp>
      <p:sp>
        <p:nvSpPr>
          <p:cNvPr id="64" name="Shape 62"/>
          <p:cNvSpPr/>
          <p:nvPr/>
        </p:nvSpPr>
        <p:spPr>
          <a:xfrm>
            <a:off x="7863840" y="347472"/>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8065008" y="530352"/>
            <a:ext cx="274320" cy="274320"/>
          </a:xfrm>
          <a:prstGeom prst="ellipse">
            <a:avLst/>
          </a:prstGeom>
          <a:solidFill>
            <a:srgbClr val="CC2936"/>
          </a:solidFill>
          <a:ln w="12700">
            <a:solidFill>
              <a:srgbClr val="CC2936"/>
            </a:solidFill>
            <a:prstDash val="solid"/>
          </a:ln>
        </p:spPr>
      </p:sp>
      <p:sp>
        <p:nvSpPr>
          <p:cNvPr id="66" name="Text 64"/>
          <p:cNvSpPr/>
          <p:nvPr/>
        </p:nvSpPr>
        <p:spPr>
          <a:xfrm>
            <a:off x="8412480" y="493776"/>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76% of patients filter by reviews</a:t>
            </a:r>
            <a:endParaRPr lang="en-US" sz="1200" dirty="0"/>
          </a:p>
        </p:txBody>
      </p:sp>
      <p:sp>
        <p:nvSpPr>
          <p:cNvPr id="67" name="Text 65"/>
          <p:cNvSpPr/>
          <p:nvPr/>
        </p:nvSpPr>
        <p:spPr>
          <a:xfrm>
            <a:off x="8065008" y="960120"/>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They won't even click your website if your star rating is below 4.0. Your clinical quality is invisible until they get past the reviews.</a:t>
            </a:r>
            <a:endParaRPr lang="en-US" sz="1100" dirty="0"/>
          </a:p>
        </p:txBody>
      </p:sp>
      <p:sp>
        <p:nvSpPr>
          <p:cNvPr id="68" name="Shape 66"/>
          <p:cNvSpPr/>
          <p:nvPr/>
        </p:nvSpPr>
        <p:spPr>
          <a:xfrm>
            <a:off x="7863840" y="2468880"/>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9" name="Shape 67"/>
          <p:cNvSpPr/>
          <p:nvPr/>
        </p:nvSpPr>
        <p:spPr>
          <a:xfrm>
            <a:off x="8065008" y="2651760"/>
            <a:ext cx="274320" cy="274320"/>
          </a:xfrm>
          <a:prstGeom prst="ellipse">
            <a:avLst/>
          </a:prstGeom>
          <a:solidFill>
            <a:srgbClr val="CC2936"/>
          </a:solidFill>
          <a:ln w="12700">
            <a:solidFill>
              <a:srgbClr val="CC2936"/>
            </a:solidFill>
            <a:prstDash val="solid"/>
          </a:ln>
        </p:spPr>
      </p:sp>
      <p:sp>
        <p:nvSpPr>
          <p:cNvPr id="70" name="Text 68"/>
          <p:cNvSpPr/>
          <p:nvPr/>
        </p:nvSpPr>
        <p:spPr>
          <a:xfrm>
            <a:off x="8412480" y="2615184"/>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One negative drowns many positives</a:t>
            </a:r>
            <a:endParaRPr lang="en-US" sz="1200" dirty="0"/>
          </a:p>
        </p:txBody>
      </p:sp>
      <p:sp>
        <p:nvSpPr>
          <p:cNvPr id="71" name="Text 69"/>
          <p:cNvSpPr/>
          <p:nvPr/>
        </p:nvSpPr>
        <p:spPr>
          <a:xfrm>
            <a:off x="8065008" y="3081528"/>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A practice with 8 reviews and one angry patient at 2 stars looks worse than a competitor with 200 reviews and 4.6 stars.</a:t>
            </a:r>
            <a:endParaRPr lang="en-US" sz="1100" dirty="0"/>
          </a:p>
        </p:txBody>
      </p:sp>
      <p:sp>
        <p:nvSpPr>
          <p:cNvPr id="72" name="Shape 70"/>
          <p:cNvSpPr/>
          <p:nvPr/>
        </p:nvSpPr>
        <p:spPr>
          <a:xfrm>
            <a:off x="7863840" y="4590288"/>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3" name="Shape 71"/>
          <p:cNvSpPr/>
          <p:nvPr/>
        </p:nvSpPr>
        <p:spPr>
          <a:xfrm>
            <a:off x="8065008" y="4773168"/>
            <a:ext cx="274320" cy="274320"/>
          </a:xfrm>
          <a:prstGeom prst="ellipse">
            <a:avLst/>
          </a:prstGeom>
          <a:solidFill>
            <a:srgbClr val="CC2936"/>
          </a:solidFill>
          <a:ln w="12700">
            <a:solidFill>
              <a:srgbClr val="CC2936"/>
            </a:solidFill>
            <a:prstDash val="solid"/>
          </a:ln>
        </p:spPr>
      </p:sp>
      <p:sp>
        <p:nvSpPr>
          <p:cNvPr id="74" name="Text 72"/>
          <p:cNvSpPr/>
          <p:nvPr/>
        </p:nvSpPr>
        <p:spPr>
          <a:xfrm>
            <a:off x="8412480" y="4736592"/>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 systematic process to recover</a:t>
            </a:r>
            <a:endParaRPr lang="en-US" sz="1200" dirty="0"/>
          </a:p>
        </p:txBody>
      </p:sp>
      <p:sp>
        <p:nvSpPr>
          <p:cNvPr id="75" name="Text 73"/>
          <p:cNvSpPr/>
          <p:nvPr/>
        </p:nvSpPr>
        <p:spPr>
          <a:xfrm>
            <a:off x="8065008" y="5202936"/>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Happy patients don't leave reviews unprompted. Unhappy ones always do. Without automation, you're always losing the ratio battle.</a:t>
            </a:r>
            <a:endParaRPr lang="en-US" sz="1100" dirty="0"/>
          </a:p>
        </p:txBody>
      </p:sp>
      <p:sp>
        <p:nvSpPr>
          <p:cNvPr id="76" name="Text 74"/>
          <p:cNvSpPr/>
          <p:nvPr/>
        </p:nvSpPr>
        <p:spPr>
          <a:xfrm>
            <a:off x="548640" y="4069080"/>
            <a:ext cx="3200400" cy="1097280"/>
          </a:xfrm>
          <a:prstGeom prst="rect">
            <a:avLst/>
          </a:prstGeom>
          <a:noFill/>
          <a:ln/>
        </p:spPr>
        <p:txBody>
          <a:bodyPr wrap="square" rtlCol="0" anchor="ctr"/>
          <a:lstStyle/>
          <a:p>
            <a:pPr indent="0" marL="0">
              <a:buNone/>
            </a:pPr>
            <a:r>
              <a:rPr lang="en-US" sz="6400" b="1" dirty="0">
                <a:solidFill>
                  <a:srgbClr val="CC2936"/>
                </a:solidFill>
                <a:latin typeface="Cambria" pitchFamily="34" charset="0"/>
                <a:ea typeface="Cambria" pitchFamily="34" charset="-122"/>
                <a:cs typeface="Cambria" pitchFamily="34" charset="-120"/>
              </a:rPr>
              <a:t>76%</a:t>
            </a:r>
            <a:endParaRPr lang="en-US" sz="6400" dirty="0"/>
          </a:p>
        </p:txBody>
      </p:sp>
      <p:sp>
        <p:nvSpPr>
          <p:cNvPr id="77" name="Text 75"/>
          <p:cNvSpPr/>
          <p:nvPr/>
        </p:nvSpPr>
        <p:spPr>
          <a:xfrm>
            <a:off x="548640" y="5074920"/>
            <a:ext cx="5029200" cy="457200"/>
          </a:xfrm>
          <a:prstGeom prst="rect">
            <a:avLst/>
          </a:prstGeom>
          <a:noFill/>
          <a:ln/>
        </p:spPr>
        <p:txBody>
          <a:bodyPr wrap="square" rtlCol="0" anchor="ctr"/>
          <a:lstStyle/>
          <a:p>
            <a:pPr indent="0" marL="0">
              <a:buNone/>
            </a:pPr>
            <a:r>
              <a:rPr lang="en-US" sz="1200" dirty="0">
                <a:solidFill>
                  <a:srgbClr val="B3B8CC"/>
                </a:solidFill>
                <a:latin typeface="Calibri" pitchFamily="34" charset="0"/>
                <a:ea typeface="Calibri" pitchFamily="34" charset="-122"/>
                <a:cs typeface="Calibri" pitchFamily="34" charset="-120"/>
              </a:rPr>
              <a:t>of patients say online reviews influence their provider choice</a:t>
            </a:r>
            <a:endParaRPr lang="en-US" sz="1200" dirty="0"/>
          </a:p>
        </p:txBody>
      </p:sp>
      <p:sp>
        <p:nvSpPr>
          <p:cNvPr id="78" name="Text 76"/>
          <p:cNvSpPr/>
          <p:nvPr/>
        </p:nvSpPr>
        <p:spPr>
          <a:xfrm>
            <a:off x="548640" y="6492240"/>
            <a:ext cx="8229600" cy="256032"/>
          </a:xfrm>
          <a:prstGeom prst="rect">
            <a:avLst/>
          </a:prstGeom>
          <a:noFill/>
          <a:ln/>
        </p:spPr>
        <p:txBody>
          <a:bodyPr wrap="square" rtlCol="0" anchor="ctr"/>
          <a:lstStyle/>
          <a:p>
            <a:pPr indent="0" marL="0">
              <a:buNone/>
            </a:pPr>
            <a:r>
              <a:rPr lang="en-US" sz="1000" i="1" dirty="0">
                <a:solidFill>
                  <a:srgbClr val="666E8A"/>
                </a:solidFill>
                <a:latin typeface="Calibri" pitchFamily="34" charset="0"/>
                <a:ea typeface="Calibri" pitchFamily="34" charset="-122"/>
                <a:cs typeface="Calibri" pitchFamily="34" charset="-120"/>
              </a:rPr>
              <a:t>Sound familiar?  →  See how Ensemble solves this on the next slide.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1D9E75">
              <a:alpha val="12000"/>
            </a:srgbClr>
          </a:solidFill>
          <a:ln w="12700">
            <a:solidFill>
              <a:srgbClr val="1D9E75">
                <a:alpha val="12000"/>
              </a:srgbClr>
            </a:solidFill>
            <a:prstDash val="solid"/>
          </a:ln>
        </p:spPr>
      </p:sp>
      <p:sp>
        <p:nvSpPr>
          <p:cNvPr id="57" name="Shape 55"/>
          <p:cNvSpPr/>
          <p:nvPr/>
        </p:nvSpPr>
        <p:spPr>
          <a:xfrm>
            <a:off x="8229600" y="2743200"/>
            <a:ext cx="4572000" cy="4572000"/>
          </a:xfrm>
          <a:prstGeom prst="ellipse">
            <a:avLst/>
          </a:prstGeom>
          <a:solidFill>
            <a:srgbClr val="1D9E75">
              <a:alpha val="13000"/>
            </a:srgbClr>
          </a:solidFill>
          <a:ln w="12700">
            <a:solidFill>
              <a:srgbClr val="1D9E75">
                <a:alpha val="13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1D9E75"/>
                </a:solidFill>
                <a:latin typeface="Calibri" pitchFamily="34" charset="0"/>
                <a:ea typeface="Calibri" pitchFamily="34" charset="-122"/>
                <a:cs typeface="Calibri" pitchFamily="34" charset="-120"/>
              </a:rPr>
              <a:t>ENSEMBLE SOLUTION  ·  REPUTATION MANAGEMENT</a:t>
            </a:r>
            <a:endParaRPr lang="en-US" sz="900" dirty="0"/>
          </a:p>
        </p:txBody>
      </p:sp>
      <p:sp>
        <p:nvSpPr>
          <p:cNvPr id="59" name="Text 57"/>
          <p:cNvSpPr/>
          <p:nvPr/>
        </p:nvSpPr>
        <p:spPr>
          <a:xfrm>
            <a:off x="548640" y="658368"/>
            <a:ext cx="7772400" cy="146304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Turn your happiest patients</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into your best marketing.</a:t>
            </a:r>
            <a:endParaRPr lang="en-US" sz="3400" dirty="0"/>
          </a:p>
        </p:txBody>
      </p:sp>
      <p:sp>
        <p:nvSpPr>
          <p:cNvPr id="60" name="Text 58"/>
          <p:cNvSpPr/>
          <p:nvPr/>
        </p:nvSpPr>
        <p:spPr>
          <a:xfrm>
            <a:off x="548640" y="2286000"/>
            <a:ext cx="6035040" cy="1005840"/>
          </a:xfrm>
          <a:prstGeom prst="rect">
            <a:avLst/>
          </a:prstGeom>
          <a:noFill/>
          <a:ln/>
        </p:spPr>
        <p:txBody>
          <a:bodyPr wrap="square" rtlCol="0" anchor="ctr"/>
          <a:lstStyle/>
          <a:p>
            <a:pPr indent="0" marL="0">
              <a:lnSpc>
                <a:spcPct val="150000"/>
              </a:lnSpc>
              <a:buNone/>
            </a:pPr>
            <a:r>
              <a:rPr lang="en-US" sz="1400" dirty="0">
                <a:solidFill>
                  <a:srgbClr val="B3B8CC"/>
                </a:solidFill>
                <a:latin typeface="Calibri" pitchFamily="34" charset="0"/>
                <a:ea typeface="Calibri" pitchFamily="34" charset="-122"/>
                <a:cs typeface="Calibri" pitchFamily="34" charset="-120"/>
              </a:rPr>
              <a:t>Automated review generation, AI-powered sentiment analysis, and multi-platform monitoring that systematically builds your reputation — and catches problems before they spiral.</a:t>
            </a:r>
            <a:endParaRPr lang="en-US" sz="1400" dirty="0"/>
          </a:p>
        </p:txBody>
      </p:sp>
      <p:sp>
        <p:nvSpPr>
          <p:cNvPr id="61" name="Shape 59"/>
          <p:cNvSpPr/>
          <p:nvPr/>
        </p:nvSpPr>
        <p:spPr>
          <a:xfrm>
            <a:off x="548640" y="3474720"/>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2" name="Shape 60"/>
          <p:cNvSpPr/>
          <p:nvPr/>
        </p:nvSpPr>
        <p:spPr>
          <a:xfrm>
            <a:off x="749808" y="3721608"/>
            <a:ext cx="164592" cy="164592"/>
          </a:xfrm>
          <a:prstGeom prst="ellipse">
            <a:avLst/>
          </a:prstGeom>
          <a:solidFill>
            <a:srgbClr val="1D9E75"/>
          </a:solidFill>
          <a:ln w="12700">
            <a:solidFill>
              <a:srgbClr val="1D9E75"/>
            </a:solidFill>
            <a:prstDash val="solid"/>
          </a:ln>
        </p:spPr>
      </p:sp>
      <p:sp>
        <p:nvSpPr>
          <p:cNvPr id="63" name="Text 61"/>
          <p:cNvSpPr/>
          <p:nvPr/>
        </p:nvSpPr>
        <p:spPr>
          <a:xfrm>
            <a:off x="1024128" y="356616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Automated post-visit review requests via SMS and email</a:t>
            </a:r>
            <a:endParaRPr lang="en-US" sz="1250" dirty="0"/>
          </a:p>
        </p:txBody>
      </p:sp>
      <p:sp>
        <p:nvSpPr>
          <p:cNvPr id="64" name="Shape 62"/>
          <p:cNvSpPr/>
          <p:nvPr/>
        </p:nvSpPr>
        <p:spPr>
          <a:xfrm>
            <a:off x="548640" y="4261104"/>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749808" y="4507992"/>
            <a:ext cx="164592" cy="164592"/>
          </a:xfrm>
          <a:prstGeom prst="ellipse">
            <a:avLst/>
          </a:prstGeom>
          <a:solidFill>
            <a:srgbClr val="1D9E75"/>
          </a:solidFill>
          <a:ln w="12700">
            <a:solidFill>
              <a:srgbClr val="1D9E75"/>
            </a:solidFill>
            <a:prstDash val="solid"/>
          </a:ln>
        </p:spPr>
      </p:sp>
      <p:sp>
        <p:nvSpPr>
          <p:cNvPr id="66" name="Text 64"/>
          <p:cNvSpPr/>
          <p:nvPr/>
        </p:nvSpPr>
        <p:spPr>
          <a:xfrm>
            <a:off x="1024128" y="420624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AI sentiment analysis — flags dissatisfied patients before they post publicly</a:t>
            </a:r>
            <a:endParaRPr lang="en-US" sz="1250" dirty="0"/>
          </a:p>
        </p:txBody>
      </p:sp>
      <p:sp>
        <p:nvSpPr>
          <p:cNvPr id="67" name="Shape 65"/>
          <p:cNvSpPr/>
          <p:nvPr/>
        </p:nvSpPr>
        <p:spPr>
          <a:xfrm>
            <a:off x="548640" y="5047488"/>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8" name="Shape 66"/>
          <p:cNvSpPr/>
          <p:nvPr/>
        </p:nvSpPr>
        <p:spPr>
          <a:xfrm>
            <a:off x="749808" y="5294376"/>
            <a:ext cx="164592" cy="164592"/>
          </a:xfrm>
          <a:prstGeom prst="ellipse">
            <a:avLst/>
          </a:prstGeom>
          <a:solidFill>
            <a:srgbClr val="1D9E75"/>
          </a:solidFill>
          <a:ln w="12700">
            <a:solidFill>
              <a:srgbClr val="1D9E75"/>
            </a:solidFill>
            <a:prstDash val="solid"/>
          </a:ln>
        </p:spPr>
      </p:sp>
      <p:sp>
        <p:nvSpPr>
          <p:cNvPr id="69" name="Text 67"/>
          <p:cNvSpPr/>
          <p:nvPr/>
        </p:nvSpPr>
        <p:spPr>
          <a:xfrm>
            <a:off x="1024128" y="484632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Multi-platform monitoring — Google, Healthgrades, Zocdoc, Facebook</a:t>
            </a:r>
            <a:endParaRPr lang="en-US" sz="1250" dirty="0"/>
          </a:p>
        </p:txBody>
      </p:sp>
      <p:sp>
        <p:nvSpPr>
          <p:cNvPr id="70" name="Shape 68"/>
          <p:cNvSpPr/>
          <p:nvPr/>
        </p:nvSpPr>
        <p:spPr>
          <a:xfrm>
            <a:off x="548640" y="5833872"/>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1" name="Shape 69"/>
          <p:cNvSpPr/>
          <p:nvPr/>
        </p:nvSpPr>
        <p:spPr>
          <a:xfrm>
            <a:off x="749808" y="6080760"/>
            <a:ext cx="164592" cy="164592"/>
          </a:xfrm>
          <a:prstGeom prst="ellipse">
            <a:avLst/>
          </a:prstGeom>
          <a:solidFill>
            <a:srgbClr val="1D9E75"/>
          </a:solidFill>
          <a:ln w="12700">
            <a:solidFill>
              <a:srgbClr val="1D9E75"/>
            </a:solidFill>
            <a:prstDash val="solid"/>
          </a:ln>
        </p:spPr>
      </p:sp>
      <p:sp>
        <p:nvSpPr>
          <p:cNvPr id="72" name="Text 70"/>
          <p:cNvSpPr/>
          <p:nvPr/>
        </p:nvSpPr>
        <p:spPr>
          <a:xfrm>
            <a:off x="1024128" y="548640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Response templates for every review type — positive, neutral, and negative</a:t>
            </a:r>
            <a:endParaRPr lang="en-US" sz="1250" dirty="0"/>
          </a:p>
        </p:txBody>
      </p:sp>
      <p:sp>
        <p:nvSpPr>
          <p:cNvPr id="73" name="Shape 71"/>
          <p:cNvSpPr/>
          <p:nvPr/>
        </p:nvSpPr>
        <p:spPr>
          <a:xfrm>
            <a:off x="548640" y="6620256"/>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4" name="Shape 72"/>
          <p:cNvSpPr/>
          <p:nvPr/>
        </p:nvSpPr>
        <p:spPr>
          <a:xfrm>
            <a:off x="749808" y="6867144"/>
            <a:ext cx="164592" cy="164592"/>
          </a:xfrm>
          <a:prstGeom prst="ellipse">
            <a:avLst/>
          </a:prstGeom>
          <a:solidFill>
            <a:srgbClr val="1D9E75"/>
          </a:solidFill>
          <a:ln w="12700">
            <a:solidFill>
              <a:srgbClr val="1D9E75"/>
            </a:solidFill>
            <a:prstDash val="solid"/>
          </a:ln>
        </p:spPr>
      </p:sp>
      <p:sp>
        <p:nvSpPr>
          <p:cNvPr id="75" name="Text 73"/>
          <p:cNvSpPr/>
          <p:nvPr/>
        </p:nvSpPr>
        <p:spPr>
          <a:xfrm>
            <a:off x="1024128" y="612648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Monthly reputation scorecard with trend tracking</a:t>
            </a:r>
            <a:endParaRPr lang="en-US" sz="1250" dirty="0"/>
          </a:p>
        </p:txBody>
      </p:sp>
      <p:sp>
        <p:nvSpPr>
          <p:cNvPr id="76" name="Shape 74"/>
          <p:cNvSpPr/>
          <p:nvPr/>
        </p:nvSpPr>
        <p:spPr>
          <a:xfrm>
            <a:off x="6858000" y="2011680"/>
            <a:ext cx="4846320" cy="4389120"/>
          </a:xfrm>
          <a:prstGeom prst="roundRect">
            <a:avLst>
              <a:gd name="adj" fmla="val 2917"/>
            </a:avLst>
          </a:prstGeom>
          <a:solidFill>
            <a:srgbClr val="161D32"/>
          </a:solidFill>
          <a:ln w="15240">
            <a:solidFill>
              <a:srgbClr val="1D9E75">
                <a:alpha val="50000"/>
              </a:srgbClr>
            </a:solidFill>
            <a:prstDash val="solid"/>
          </a:ln>
          <a:effectLst>
            <a:outerShdw sx="100000" sy="100000" kx="0" ky="0" algn="bl" rotWithShape="0" blurRad="127000" dist="38100" dir="2700000">
              <a:srgbClr val="000000">
                <a:alpha val="22000"/>
              </a:srgbClr>
            </a:outerShdw>
          </a:effectLst>
        </p:spPr>
      </p:sp>
      <p:sp>
        <p:nvSpPr>
          <p:cNvPr id="77" name="Text 75"/>
          <p:cNvSpPr/>
          <p:nvPr/>
        </p:nvSpPr>
        <p:spPr>
          <a:xfrm>
            <a:off x="7086600" y="2212848"/>
            <a:ext cx="4389120" cy="274320"/>
          </a:xfrm>
          <a:prstGeom prst="rect">
            <a:avLst/>
          </a:prstGeom>
          <a:noFill/>
          <a:ln/>
        </p:spPr>
        <p:txBody>
          <a:bodyPr wrap="square" rtlCol="0" anchor="ctr"/>
          <a:lstStyle/>
          <a:p>
            <a:pPr indent="0" marL="0">
              <a:buNone/>
            </a:pPr>
            <a:r>
              <a:rPr lang="en-US" sz="900" b="1" spc="200" kern="0" dirty="0">
                <a:solidFill>
                  <a:srgbClr val="1D9E75"/>
                </a:solidFill>
                <a:latin typeface="Calibri" pitchFamily="34" charset="0"/>
                <a:ea typeface="Calibri" pitchFamily="34" charset="-122"/>
                <a:cs typeface="Calibri" pitchFamily="34" charset="-120"/>
              </a:rPr>
              <a:t>THE RESULT</a:t>
            </a:r>
            <a:endParaRPr lang="en-US" sz="900" dirty="0"/>
          </a:p>
        </p:txBody>
      </p:sp>
      <p:sp>
        <p:nvSpPr>
          <p:cNvPr id="78" name="Text 76"/>
          <p:cNvSpPr/>
          <p:nvPr/>
        </p:nvSpPr>
        <p:spPr>
          <a:xfrm>
            <a:off x="7086600" y="2542032"/>
            <a:ext cx="4389120" cy="777240"/>
          </a:xfrm>
          <a:prstGeom prst="rect">
            <a:avLst/>
          </a:prstGeom>
          <a:noFill/>
          <a:ln/>
        </p:spPr>
        <p:txBody>
          <a:bodyPr wrap="square"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A 4.8-star average and 10x more reviews in 6 months.</a:t>
            </a:r>
            <a:endParaRPr lang="en-US" sz="2000" dirty="0"/>
          </a:p>
        </p:txBody>
      </p:sp>
      <p:sp>
        <p:nvSpPr>
          <p:cNvPr id="79" name="Text 77"/>
          <p:cNvSpPr/>
          <p:nvPr/>
        </p:nvSpPr>
        <p:spPr>
          <a:xfrm>
            <a:off x="7086600" y="3401568"/>
            <a:ext cx="4389120" cy="1371600"/>
          </a:xfrm>
          <a:prstGeom prst="rect">
            <a:avLst/>
          </a:prstGeom>
          <a:noFill/>
          <a:ln/>
        </p:spPr>
        <p:txBody>
          <a:bodyPr wrap="square" rtlCol="0" anchor="ctr"/>
          <a:lstStyle/>
          <a:p>
            <a:pPr indent="0" marL="0">
              <a:lnSpc>
                <a:spcPct val="150000"/>
              </a:lnSpc>
              <a:buNone/>
            </a:pPr>
            <a:r>
              <a:rPr lang="en-US" sz="1250" dirty="0">
                <a:solidFill>
                  <a:srgbClr val="B3B8CC"/>
                </a:solidFill>
                <a:latin typeface="Calibri" pitchFamily="34" charset="0"/>
                <a:ea typeface="Calibri" pitchFamily="34" charset="-122"/>
                <a:cs typeface="Calibri" pitchFamily="34" charset="-120"/>
              </a:rPr>
              <a:t>Practices using our review automation typically generate 3 to 5 new reviews per week from existing patients. Volume dilutes negative outliers and signals to Google that you are an active, trusted provider.</a:t>
            </a:r>
            <a:endParaRPr lang="en-US" sz="1250" dirty="0"/>
          </a:p>
        </p:txBody>
      </p:sp>
      <p:sp>
        <p:nvSpPr>
          <p:cNvPr id="80" name="Text 78"/>
          <p:cNvSpPr/>
          <p:nvPr/>
        </p:nvSpPr>
        <p:spPr>
          <a:xfrm>
            <a:off x="708660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4.8★</a:t>
            </a:r>
            <a:endParaRPr lang="en-US" sz="3600" dirty="0"/>
          </a:p>
        </p:txBody>
      </p:sp>
      <p:sp>
        <p:nvSpPr>
          <p:cNvPr id="81" name="Text 79"/>
          <p:cNvSpPr/>
          <p:nvPr/>
        </p:nvSpPr>
        <p:spPr>
          <a:xfrm>
            <a:off x="708660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avg rating after 6 months</a:t>
            </a:r>
            <a:endParaRPr lang="en-US" sz="1000" dirty="0"/>
          </a:p>
        </p:txBody>
      </p:sp>
      <p:sp>
        <p:nvSpPr>
          <p:cNvPr id="82" name="Text 80"/>
          <p:cNvSpPr/>
          <p:nvPr/>
        </p:nvSpPr>
        <p:spPr>
          <a:xfrm>
            <a:off x="941832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10x</a:t>
            </a:r>
            <a:endParaRPr lang="en-US" sz="3600" dirty="0"/>
          </a:p>
        </p:txBody>
      </p:sp>
      <p:sp>
        <p:nvSpPr>
          <p:cNvPr id="83" name="Text 81"/>
          <p:cNvSpPr/>
          <p:nvPr/>
        </p:nvSpPr>
        <p:spPr>
          <a:xfrm>
            <a:off x="941832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more reviews generated</a:t>
            </a:r>
            <a:endParaRPr lang="en-US" sz="1000" dirty="0"/>
          </a:p>
        </p:txBody>
      </p:sp>
      <p:sp>
        <p:nvSpPr>
          <p:cNvPr id="84" name="Shape 82"/>
          <p:cNvSpPr/>
          <p:nvPr/>
        </p:nvSpPr>
        <p:spPr>
          <a:xfrm>
            <a:off x="548640" y="6473952"/>
            <a:ext cx="2743200" cy="320040"/>
          </a:xfrm>
          <a:prstGeom prst="roundRect">
            <a:avLst>
              <a:gd name="adj" fmla="val 57143"/>
            </a:avLst>
          </a:prstGeom>
          <a:solidFill>
            <a:srgbClr val="E8604F"/>
          </a:solidFill>
          <a:ln/>
        </p:spPr>
      </p:sp>
      <p:sp>
        <p:nvSpPr>
          <p:cNvPr id="85" name="Text 83"/>
          <p:cNvSpPr/>
          <p:nvPr/>
        </p:nvSpPr>
        <p:spPr>
          <a:xfrm>
            <a:off x="548640" y="6473952"/>
            <a:ext cx="27432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 Practice Audit  →</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CC2936">
              <a:alpha val="12000"/>
            </a:srgbClr>
          </a:solidFill>
          <a:ln w="12700">
            <a:solidFill>
              <a:srgbClr val="CC2936">
                <a:alpha val="12000"/>
              </a:srgbClr>
            </a:solidFill>
            <a:prstDash val="solid"/>
          </a:ln>
        </p:spPr>
      </p:sp>
      <p:sp>
        <p:nvSpPr>
          <p:cNvPr id="57" name="Shape 55"/>
          <p:cNvSpPr/>
          <p:nvPr/>
        </p:nvSpPr>
        <p:spPr>
          <a:xfrm>
            <a:off x="-1371600" y="-914400"/>
            <a:ext cx="4114800" cy="4114800"/>
          </a:xfrm>
          <a:prstGeom prst="ellipse">
            <a:avLst/>
          </a:prstGeom>
          <a:solidFill>
            <a:srgbClr val="CC2936">
              <a:alpha val="12000"/>
            </a:srgbClr>
          </a:solidFill>
          <a:ln w="12700">
            <a:solidFill>
              <a:srgbClr val="CC2936">
                <a:alpha val="12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CC2936"/>
                </a:solidFill>
                <a:latin typeface="Calibri" pitchFamily="34" charset="0"/>
                <a:ea typeface="Calibri" pitchFamily="34" charset="-122"/>
                <a:cs typeface="Calibri" pitchFamily="34" charset="-120"/>
              </a:rPr>
              <a:t>PAIN POINT 03  ·  HIPAA &amp; DIGITAL COMPLIANCE</a:t>
            </a:r>
            <a:endParaRPr lang="en-US" sz="900" dirty="0"/>
          </a:p>
        </p:txBody>
      </p:sp>
      <p:sp>
        <p:nvSpPr>
          <p:cNvPr id="59" name="Text 57"/>
          <p:cNvSpPr/>
          <p:nvPr/>
        </p:nvSpPr>
        <p:spPr>
          <a:xfrm>
            <a:off x="548640" y="658368"/>
            <a:ext cx="7132320" cy="1645920"/>
          </a:xfrm>
          <a:prstGeom prst="rect">
            <a:avLst/>
          </a:prstGeom>
          <a:noFill/>
          <a:ln/>
        </p:spPr>
        <p:txBody>
          <a:bodyPr wrap="square" rtlCol="0" anchor="ctr"/>
          <a:lstStyle/>
          <a:p>
            <a:pPr indent="0" marL="0">
              <a:lnSpc>
                <a:spcPct val="110000"/>
              </a:lnSpc>
              <a:buNone/>
            </a:pPr>
            <a:r>
              <a:rPr lang="en-US" sz="3300" b="1" dirty="0">
                <a:solidFill>
                  <a:srgbClr val="FFFFFF"/>
                </a:solidFill>
                <a:latin typeface="Cambria" pitchFamily="34" charset="0"/>
                <a:ea typeface="Cambria" pitchFamily="34" charset="-122"/>
                <a:cs typeface="Cambria" pitchFamily="34" charset="-120"/>
              </a:rPr>
              <a:t>Your website and ads</a:t>
            </a:r>
            <a:endParaRPr lang="en-US" sz="3300" dirty="0"/>
          </a:p>
          <a:p>
            <a:pPr indent="0" marL="0">
              <a:lnSpc>
                <a:spcPct val="110000"/>
              </a:lnSpc>
              <a:buNone/>
            </a:pPr>
            <a:r>
              <a:rPr lang="en-US" sz="3300" b="1" dirty="0">
                <a:solidFill>
                  <a:srgbClr val="FFFFFF"/>
                </a:solidFill>
                <a:latin typeface="Cambria" pitchFamily="34" charset="0"/>
                <a:ea typeface="Cambria" pitchFamily="34" charset="-122"/>
                <a:cs typeface="Cambria" pitchFamily="34" charset="-120"/>
              </a:rPr>
              <a:t>may be violating HIPAA right now.</a:t>
            </a:r>
            <a:endParaRPr lang="en-US" sz="3300" dirty="0"/>
          </a:p>
        </p:txBody>
      </p:sp>
      <p:sp>
        <p:nvSpPr>
          <p:cNvPr id="60" name="Shape 58"/>
          <p:cNvSpPr/>
          <p:nvPr/>
        </p:nvSpPr>
        <p:spPr>
          <a:xfrm>
            <a:off x="548640" y="2514600"/>
            <a:ext cx="6858000" cy="1371600"/>
          </a:xfrm>
          <a:prstGeom prst="roundRect">
            <a:avLst>
              <a:gd name="adj" fmla="val 9333"/>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1" name="Text 59"/>
          <p:cNvSpPr/>
          <p:nvPr/>
        </p:nvSpPr>
        <p:spPr>
          <a:xfrm>
            <a:off x="777240" y="2560320"/>
            <a:ext cx="548640" cy="731520"/>
          </a:xfrm>
          <a:prstGeom prst="rect">
            <a:avLst/>
          </a:prstGeom>
          <a:noFill/>
          <a:ln/>
        </p:spPr>
        <p:txBody>
          <a:bodyPr wrap="square" rtlCol="0" anchor="ctr"/>
          <a:lstStyle/>
          <a:p>
            <a:pPr indent="0" marL="0">
              <a:buNone/>
            </a:pPr>
            <a:r>
              <a:rPr lang="en-US" sz="4400" dirty="0">
                <a:solidFill>
                  <a:srgbClr val="CC2936"/>
                </a:solidFill>
                <a:latin typeface="Cambria" pitchFamily="34" charset="0"/>
                <a:ea typeface="Cambria" pitchFamily="34" charset="-122"/>
                <a:cs typeface="Cambria" pitchFamily="34" charset="-120"/>
              </a:rPr>
              <a:t>“</a:t>
            </a:r>
            <a:endParaRPr lang="en-US" sz="4400" dirty="0"/>
          </a:p>
        </p:txBody>
      </p:sp>
      <p:sp>
        <p:nvSpPr>
          <p:cNvPr id="62" name="Text 60"/>
          <p:cNvSpPr/>
          <p:nvPr/>
        </p:nvSpPr>
        <p:spPr>
          <a:xfrm>
            <a:off x="1280160" y="2679192"/>
            <a:ext cx="5943600" cy="1005840"/>
          </a:xfrm>
          <a:prstGeom prst="rect">
            <a:avLst/>
          </a:prstGeom>
          <a:noFill/>
          <a:ln/>
        </p:spPr>
        <p:txBody>
          <a:bodyPr wrap="square" rtlCol="0" anchor="ctr"/>
          <a:lstStyle/>
          <a:p>
            <a:pPr indent="0" marL="0">
              <a:lnSpc>
                <a:spcPct val="140000"/>
              </a:lnSpc>
              <a:buNone/>
            </a:pPr>
            <a:r>
              <a:rPr lang="en-US" sz="1400" i="1" dirty="0">
                <a:solidFill>
                  <a:srgbClr val="FFFFFF"/>
                </a:solidFill>
                <a:latin typeface="Cambria" pitchFamily="34" charset="0"/>
                <a:ea typeface="Cambria" pitchFamily="34" charset="-122"/>
                <a:cs typeface="Cambria" pitchFamily="34" charset="-120"/>
              </a:rPr>
              <a:t>Our marketing company set up Facebook ads and I later found out the pixel was tracking patient health conditions. I didn't even know that was illegal.</a:t>
            </a:r>
            <a:endParaRPr lang="en-US" sz="1400" dirty="0"/>
          </a:p>
        </p:txBody>
      </p:sp>
      <p:sp>
        <p:nvSpPr>
          <p:cNvPr id="63" name="Text 61"/>
          <p:cNvSpPr/>
          <p:nvPr/>
        </p:nvSpPr>
        <p:spPr>
          <a:xfrm>
            <a:off x="1280160" y="3630168"/>
            <a:ext cx="5943600" cy="228600"/>
          </a:xfrm>
          <a:prstGeom prst="rect">
            <a:avLst/>
          </a:prstGeom>
          <a:noFill/>
          <a:ln/>
        </p:spPr>
        <p:txBody>
          <a:bodyPr wrap="square" rtlCol="0" anchor="ctr"/>
          <a:lstStyle/>
          <a:p>
            <a:pPr indent="0" marL="0">
              <a:buNone/>
            </a:pPr>
            <a:r>
              <a:rPr lang="en-US" sz="1000" dirty="0">
                <a:solidFill>
                  <a:srgbClr val="666E8A"/>
                </a:solidFill>
                <a:latin typeface="Calibri" pitchFamily="34" charset="0"/>
                <a:ea typeface="Calibri" pitchFamily="34" charset="-122"/>
                <a:cs typeface="Calibri" pitchFamily="34" charset="-120"/>
              </a:rPr>
              <a:t>— Practice Manager, Cardiology Group</a:t>
            </a:r>
            <a:endParaRPr lang="en-US" sz="1000" dirty="0"/>
          </a:p>
        </p:txBody>
      </p:sp>
      <p:sp>
        <p:nvSpPr>
          <p:cNvPr id="64" name="Shape 62"/>
          <p:cNvSpPr/>
          <p:nvPr/>
        </p:nvSpPr>
        <p:spPr>
          <a:xfrm>
            <a:off x="7863840" y="347472"/>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8065008" y="530352"/>
            <a:ext cx="274320" cy="274320"/>
          </a:xfrm>
          <a:prstGeom prst="ellipse">
            <a:avLst/>
          </a:prstGeom>
          <a:solidFill>
            <a:srgbClr val="CC2936"/>
          </a:solidFill>
          <a:ln w="12700">
            <a:solidFill>
              <a:srgbClr val="CC2936"/>
            </a:solidFill>
            <a:prstDash val="solid"/>
          </a:ln>
        </p:spPr>
      </p:sp>
      <p:sp>
        <p:nvSpPr>
          <p:cNvPr id="66" name="Text 64"/>
          <p:cNvSpPr/>
          <p:nvPr/>
        </p:nvSpPr>
        <p:spPr>
          <a:xfrm>
            <a:off x="8412480" y="493776"/>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Meta pixel violations are rampant</a:t>
            </a:r>
            <a:endParaRPr lang="en-US" sz="1200" dirty="0"/>
          </a:p>
        </p:txBody>
      </p:sp>
      <p:sp>
        <p:nvSpPr>
          <p:cNvPr id="67" name="Text 65"/>
          <p:cNvSpPr/>
          <p:nvPr/>
        </p:nvSpPr>
        <p:spPr>
          <a:xfrm>
            <a:off x="8065008" y="960120"/>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The Meta pixel on your website can capture condition searches, appointment types, and procedure pages — all considered PHI under HIPAA.</a:t>
            </a:r>
            <a:endParaRPr lang="en-US" sz="1100" dirty="0"/>
          </a:p>
        </p:txBody>
      </p:sp>
      <p:sp>
        <p:nvSpPr>
          <p:cNvPr id="68" name="Shape 66"/>
          <p:cNvSpPr/>
          <p:nvPr/>
        </p:nvSpPr>
        <p:spPr>
          <a:xfrm>
            <a:off x="7863840" y="2468880"/>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9" name="Shape 67"/>
          <p:cNvSpPr/>
          <p:nvPr/>
        </p:nvSpPr>
        <p:spPr>
          <a:xfrm>
            <a:off x="8065008" y="2651760"/>
            <a:ext cx="274320" cy="274320"/>
          </a:xfrm>
          <a:prstGeom prst="ellipse">
            <a:avLst/>
          </a:prstGeom>
          <a:solidFill>
            <a:srgbClr val="CC2936"/>
          </a:solidFill>
          <a:ln w="12700">
            <a:solidFill>
              <a:srgbClr val="CC2936"/>
            </a:solidFill>
            <a:prstDash val="solid"/>
          </a:ln>
        </p:spPr>
      </p:sp>
      <p:sp>
        <p:nvSpPr>
          <p:cNvPr id="70" name="Text 68"/>
          <p:cNvSpPr/>
          <p:nvPr/>
        </p:nvSpPr>
        <p:spPr>
          <a:xfrm>
            <a:off x="8412480" y="2615184"/>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Fines up to $1.9M per violation</a:t>
            </a:r>
            <a:endParaRPr lang="en-US" sz="1200" dirty="0"/>
          </a:p>
        </p:txBody>
      </p:sp>
      <p:sp>
        <p:nvSpPr>
          <p:cNvPr id="71" name="Text 69"/>
          <p:cNvSpPr/>
          <p:nvPr/>
        </p:nvSpPr>
        <p:spPr>
          <a:xfrm>
            <a:off x="8065008" y="3081528"/>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OCR is actively investigating healthcare advertising. Several practices have faced 7-figure settlements for pixel-based tracking violations.</a:t>
            </a:r>
            <a:endParaRPr lang="en-US" sz="1100" dirty="0"/>
          </a:p>
        </p:txBody>
      </p:sp>
      <p:sp>
        <p:nvSpPr>
          <p:cNvPr id="72" name="Shape 70"/>
          <p:cNvSpPr/>
          <p:nvPr/>
        </p:nvSpPr>
        <p:spPr>
          <a:xfrm>
            <a:off x="7863840" y="4590288"/>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3" name="Shape 71"/>
          <p:cNvSpPr/>
          <p:nvPr/>
        </p:nvSpPr>
        <p:spPr>
          <a:xfrm>
            <a:off x="8065008" y="4773168"/>
            <a:ext cx="274320" cy="274320"/>
          </a:xfrm>
          <a:prstGeom prst="ellipse">
            <a:avLst/>
          </a:prstGeom>
          <a:solidFill>
            <a:srgbClr val="CC2936"/>
          </a:solidFill>
          <a:ln w="12700">
            <a:solidFill>
              <a:srgbClr val="CC2936"/>
            </a:solidFill>
            <a:prstDash val="solid"/>
          </a:ln>
        </p:spPr>
      </p:sp>
      <p:sp>
        <p:nvSpPr>
          <p:cNvPr id="74" name="Text 72"/>
          <p:cNvSpPr/>
          <p:nvPr/>
        </p:nvSpPr>
        <p:spPr>
          <a:xfrm>
            <a:off x="8412480" y="4736592"/>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Your agency probably doesn't know</a:t>
            </a:r>
            <a:endParaRPr lang="en-US" sz="1200" dirty="0"/>
          </a:p>
        </p:txBody>
      </p:sp>
      <p:sp>
        <p:nvSpPr>
          <p:cNvPr id="75" name="Text 73"/>
          <p:cNvSpPr/>
          <p:nvPr/>
        </p:nvSpPr>
        <p:spPr>
          <a:xfrm>
            <a:off x="8065008" y="5202936"/>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Most digital marketing agencies have no HIPAA training. They install standard pixels, standard forms, standard tools — all potentially non-compliant.</a:t>
            </a:r>
            <a:endParaRPr lang="en-US" sz="1100" dirty="0"/>
          </a:p>
        </p:txBody>
      </p:sp>
      <p:sp>
        <p:nvSpPr>
          <p:cNvPr id="76" name="Text 74"/>
          <p:cNvSpPr/>
          <p:nvPr/>
        </p:nvSpPr>
        <p:spPr>
          <a:xfrm>
            <a:off x="548640" y="4069080"/>
            <a:ext cx="3200400" cy="1097280"/>
          </a:xfrm>
          <a:prstGeom prst="rect">
            <a:avLst/>
          </a:prstGeom>
          <a:noFill/>
          <a:ln/>
        </p:spPr>
        <p:txBody>
          <a:bodyPr wrap="square" rtlCol="0" anchor="ctr"/>
          <a:lstStyle/>
          <a:p>
            <a:pPr indent="0" marL="0">
              <a:buNone/>
            </a:pPr>
            <a:r>
              <a:rPr lang="en-US" sz="6400" b="1" dirty="0">
                <a:solidFill>
                  <a:srgbClr val="CC2936"/>
                </a:solidFill>
                <a:latin typeface="Cambria" pitchFamily="34" charset="0"/>
                <a:ea typeface="Cambria" pitchFamily="34" charset="-122"/>
                <a:cs typeface="Cambria" pitchFamily="34" charset="-120"/>
              </a:rPr>
              <a:t>$1.9M</a:t>
            </a:r>
            <a:endParaRPr lang="en-US" sz="6400" dirty="0"/>
          </a:p>
        </p:txBody>
      </p:sp>
      <p:sp>
        <p:nvSpPr>
          <p:cNvPr id="77" name="Text 75"/>
          <p:cNvSpPr/>
          <p:nvPr/>
        </p:nvSpPr>
        <p:spPr>
          <a:xfrm>
            <a:off x="548640" y="5074920"/>
            <a:ext cx="5029200" cy="457200"/>
          </a:xfrm>
          <a:prstGeom prst="rect">
            <a:avLst/>
          </a:prstGeom>
          <a:noFill/>
          <a:ln/>
        </p:spPr>
        <p:txBody>
          <a:bodyPr wrap="square" rtlCol="0" anchor="ctr"/>
          <a:lstStyle/>
          <a:p>
            <a:pPr indent="0" marL="0">
              <a:buNone/>
            </a:pPr>
            <a:r>
              <a:rPr lang="en-US" sz="1200" dirty="0">
                <a:solidFill>
                  <a:srgbClr val="B3B8CC"/>
                </a:solidFill>
                <a:latin typeface="Calibri" pitchFamily="34" charset="0"/>
                <a:ea typeface="Calibri" pitchFamily="34" charset="-122"/>
                <a:cs typeface="Calibri" pitchFamily="34" charset="-120"/>
              </a:rPr>
              <a:t>maximum fine per HIPAA violation category</a:t>
            </a:r>
            <a:endParaRPr lang="en-US" sz="1200" dirty="0"/>
          </a:p>
        </p:txBody>
      </p:sp>
      <p:sp>
        <p:nvSpPr>
          <p:cNvPr id="78" name="Text 76"/>
          <p:cNvSpPr/>
          <p:nvPr/>
        </p:nvSpPr>
        <p:spPr>
          <a:xfrm>
            <a:off x="548640" y="6492240"/>
            <a:ext cx="8229600" cy="256032"/>
          </a:xfrm>
          <a:prstGeom prst="rect">
            <a:avLst/>
          </a:prstGeom>
          <a:noFill/>
          <a:ln/>
        </p:spPr>
        <p:txBody>
          <a:bodyPr wrap="square" rtlCol="0" anchor="ctr"/>
          <a:lstStyle/>
          <a:p>
            <a:pPr indent="0" marL="0">
              <a:buNone/>
            </a:pPr>
            <a:r>
              <a:rPr lang="en-US" sz="1000" i="1" dirty="0">
                <a:solidFill>
                  <a:srgbClr val="666E8A"/>
                </a:solidFill>
                <a:latin typeface="Calibri" pitchFamily="34" charset="0"/>
                <a:ea typeface="Calibri" pitchFamily="34" charset="-122"/>
                <a:cs typeface="Calibri" pitchFamily="34" charset="-120"/>
              </a:rPr>
              <a:t>Sound familiar?  →  See how Ensemble solves this on the next slide.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1D9E75">
              <a:alpha val="12000"/>
            </a:srgbClr>
          </a:solidFill>
          <a:ln w="12700">
            <a:solidFill>
              <a:srgbClr val="1D9E75">
                <a:alpha val="12000"/>
              </a:srgbClr>
            </a:solidFill>
            <a:prstDash val="solid"/>
          </a:ln>
        </p:spPr>
      </p:sp>
      <p:sp>
        <p:nvSpPr>
          <p:cNvPr id="57" name="Shape 55"/>
          <p:cNvSpPr/>
          <p:nvPr/>
        </p:nvSpPr>
        <p:spPr>
          <a:xfrm>
            <a:off x="8229600" y="2743200"/>
            <a:ext cx="4572000" cy="4572000"/>
          </a:xfrm>
          <a:prstGeom prst="ellipse">
            <a:avLst/>
          </a:prstGeom>
          <a:solidFill>
            <a:srgbClr val="1D9E75">
              <a:alpha val="13000"/>
            </a:srgbClr>
          </a:solidFill>
          <a:ln w="12700">
            <a:solidFill>
              <a:srgbClr val="1D9E75">
                <a:alpha val="13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1D9E75"/>
                </a:solidFill>
                <a:latin typeface="Calibri" pitchFamily="34" charset="0"/>
                <a:ea typeface="Calibri" pitchFamily="34" charset="-122"/>
                <a:cs typeface="Calibri" pitchFamily="34" charset="-120"/>
              </a:rPr>
              <a:t>ENSEMBLE SOLUTION  ·  HIPAA &amp; DIGITAL COMPLIANCE</a:t>
            </a:r>
            <a:endParaRPr lang="en-US" sz="900" dirty="0"/>
          </a:p>
        </p:txBody>
      </p:sp>
      <p:sp>
        <p:nvSpPr>
          <p:cNvPr id="59" name="Text 57"/>
          <p:cNvSpPr/>
          <p:nvPr/>
        </p:nvSpPr>
        <p:spPr>
          <a:xfrm>
            <a:off x="548640" y="658368"/>
            <a:ext cx="7772400" cy="1463040"/>
          </a:xfrm>
          <a:prstGeom prst="rect">
            <a:avLst/>
          </a:prstGeom>
          <a:noFill/>
          <a:ln/>
        </p:spPr>
        <p:txBody>
          <a:bodyPr wrap="square" rtlCol="0" anchor="ctr"/>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HIPAA-compliant marketing</a:t>
            </a:r>
            <a:endParaRPr lang="en-US" sz="3000" dirty="0"/>
          </a:p>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is not optional. We make it default.</a:t>
            </a:r>
            <a:endParaRPr lang="en-US" sz="3000" dirty="0"/>
          </a:p>
        </p:txBody>
      </p:sp>
      <p:sp>
        <p:nvSpPr>
          <p:cNvPr id="60" name="Text 58"/>
          <p:cNvSpPr/>
          <p:nvPr/>
        </p:nvSpPr>
        <p:spPr>
          <a:xfrm>
            <a:off x="548640" y="2286000"/>
            <a:ext cx="6035040" cy="1005840"/>
          </a:xfrm>
          <a:prstGeom prst="rect">
            <a:avLst/>
          </a:prstGeom>
          <a:noFill/>
          <a:ln/>
        </p:spPr>
        <p:txBody>
          <a:bodyPr wrap="square" rtlCol="0" anchor="ctr"/>
          <a:lstStyle/>
          <a:p>
            <a:pPr indent="0" marL="0">
              <a:lnSpc>
                <a:spcPct val="150000"/>
              </a:lnSpc>
              <a:buNone/>
            </a:pPr>
            <a:r>
              <a:rPr lang="en-US" sz="1400" dirty="0">
                <a:solidFill>
                  <a:srgbClr val="B3B8CC"/>
                </a:solidFill>
                <a:latin typeface="Calibri" pitchFamily="34" charset="0"/>
                <a:ea typeface="Calibri" pitchFamily="34" charset="-122"/>
                <a:cs typeface="Calibri" pitchFamily="34" charset="-120"/>
              </a:rPr>
              <a:t>Every campaign, every pixel, every form, and every data flow we build is designed with HIPAA compliance as the starting point — not an afterthought tacked on at the end.</a:t>
            </a:r>
            <a:endParaRPr lang="en-US" sz="1400" dirty="0"/>
          </a:p>
        </p:txBody>
      </p:sp>
      <p:sp>
        <p:nvSpPr>
          <p:cNvPr id="61" name="Shape 59"/>
          <p:cNvSpPr/>
          <p:nvPr/>
        </p:nvSpPr>
        <p:spPr>
          <a:xfrm>
            <a:off x="548640" y="3474720"/>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2" name="Shape 60"/>
          <p:cNvSpPr/>
          <p:nvPr/>
        </p:nvSpPr>
        <p:spPr>
          <a:xfrm>
            <a:off x="749808" y="3721608"/>
            <a:ext cx="164592" cy="164592"/>
          </a:xfrm>
          <a:prstGeom prst="ellipse">
            <a:avLst/>
          </a:prstGeom>
          <a:solidFill>
            <a:srgbClr val="1D9E75"/>
          </a:solidFill>
          <a:ln w="12700">
            <a:solidFill>
              <a:srgbClr val="1D9E75"/>
            </a:solidFill>
            <a:prstDash val="solid"/>
          </a:ln>
        </p:spPr>
      </p:sp>
      <p:sp>
        <p:nvSpPr>
          <p:cNvPr id="63" name="Text 61"/>
          <p:cNvSpPr/>
          <p:nvPr/>
        </p:nvSpPr>
        <p:spPr>
          <a:xfrm>
            <a:off x="1024128" y="356616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Full HIPAA compliance audit of your existing website and ad accounts</a:t>
            </a:r>
            <a:endParaRPr lang="en-US" sz="1250" dirty="0"/>
          </a:p>
        </p:txBody>
      </p:sp>
      <p:sp>
        <p:nvSpPr>
          <p:cNvPr id="64" name="Shape 62"/>
          <p:cNvSpPr/>
          <p:nvPr/>
        </p:nvSpPr>
        <p:spPr>
          <a:xfrm>
            <a:off x="548640" y="4261104"/>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749808" y="4507992"/>
            <a:ext cx="164592" cy="164592"/>
          </a:xfrm>
          <a:prstGeom prst="ellipse">
            <a:avLst/>
          </a:prstGeom>
          <a:solidFill>
            <a:srgbClr val="1D9E75"/>
          </a:solidFill>
          <a:ln w="12700">
            <a:solidFill>
              <a:srgbClr val="1D9E75"/>
            </a:solidFill>
            <a:prstDash val="solid"/>
          </a:ln>
        </p:spPr>
      </p:sp>
      <p:sp>
        <p:nvSpPr>
          <p:cNvPr id="66" name="Text 64"/>
          <p:cNvSpPr/>
          <p:nvPr/>
        </p:nvSpPr>
        <p:spPr>
          <a:xfrm>
            <a:off x="1024128" y="420624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Replacement of non-compliant pixels with HIPAA-safe tracking alternatives</a:t>
            </a:r>
            <a:endParaRPr lang="en-US" sz="1250" dirty="0"/>
          </a:p>
        </p:txBody>
      </p:sp>
      <p:sp>
        <p:nvSpPr>
          <p:cNvPr id="67" name="Shape 65"/>
          <p:cNvSpPr/>
          <p:nvPr/>
        </p:nvSpPr>
        <p:spPr>
          <a:xfrm>
            <a:off x="548640" y="5047488"/>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8" name="Shape 66"/>
          <p:cNvSpPr/>
          <p:nvPr/>
        </p:nvSpPr>
        <p:spPr>
          <a:xfrm>
            <a:off x="749808" y="5294376"/>
            <a:ext cx="164592" cy="164592"/>
          </a:xfrm>
          <a:prstGeom prst="ellipse">
            <a:avLst/>
          </a:prstGeom>
          <a:solidFill>
            <a:srgbClr val="1D9E75"/>
          </a:solidFill>
          <a:ln w="12700">
            <a:solidFill>
              <a:srgbClr val="1D9E75"/>
            </a:solidFill>
            <a:prstDash val="solid"/>
          </a:ln>
        </p:spPr>
      </p:sp>
      <p:sp>
        <p:nvSpPr>
          <p:cNvPr id="69" name="Text 67"/>
          <p:cNvSpPr/>
          <p:nvPr/>
        </p:nvSpPr>
        <p:spPr>
          <a:xfrm>
            <a:off x="1024128" y="484632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Patient intake forms built on encrypted, BAA-covered infrastructure</a:t>
            </a:r>
            <a:endParaRPr lang="en-US" sz="1250" dirty="0"/>
          </a:p>
        </p:txBody>
      </p:sp>
      <p:sp>
        <p:nvSpPr>
          <p:cNvPr id="70" name="Shape 68"/>
          <p:cNvSpPr/>
          <p:nvPr/>
        </p:nvSpPr>
        <p:spPr>
          <a:xfrm>
            <a:off x="548640" y="5833872"/>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1" name="Shape 69"/>
          <p:cNvSpPr/>
          <p:nvPr/>
        </p:nvSpPr>
        <p:spPr>
          <a:xfrm>
            <a:off x="749808" y="6080760"/>
            <a:ext cx="164592" cy="164592"/>
          </a:xfrm>
          <a:prstGeom prst="ellipse">
            <a:avLst/>
          </a:prstGeom>
          <a:solidFill>
            <a:srgbClr val="1D9E75"/>
          </a:solidFill>
          <a:ln w="12700">
            <a:solidFill>
              <a:srgbClr val="1D9E75"/>
            </a:solidFill>
            <a:prstDash val="solid"/>
          </a:ln>
        </p:spPr>
      </p:sp>
      <p:sp>
        <p:nvSpPr>
          <p:cNvPr id="72" name="Text 70"/>
          <p:cNvSpPr/>
          <p:nvPr/>
        </p:nvSpPr>
        <p:spPr>
          <a:xfrm>
            <a:off x="1024128" y="548640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HIPAA-compliant analytics — session data never tied to PHI</a:t>
            </a:r>
            <a:endParaRPr lang="en-US" sz="1250" dirty="0"/>
          </a:p>
        </p:txBody>
      </p:sp>
      <p:sp>
        <p:nvSpPr>
          <p:cNvPr id="73" name="Shape 71"/>
          <p:cNvSpPr/>
          <p:nvPr/>
        </p:nvSpPr>
        <p:spPr>
          <a:xfrm>
            <a:off x="548640" y="6620256"/>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4" name="Shape 72"/>
          <p:cNvSpPr/>
          <p:nvPr/>
        </p:nvSpPr>
        <p:spPr>
          <a:xfrm>
            <a:off x="749808" y="6867144"/>
            <a:ext cx="164592" cy="164592"/>
          </a:xfrm>
          <a:prstGeom prst="ellipse">
            <a:avLst/>
          </a:prstGeom>
          <a:solidFill>
            <a:srgbClr val="1D9E75"/>
          </a:solidFill>
          <a:ln w="12700">
            <a:solidFill>
              <a:srgbClr val="1D9E75"/>
            </a:solidFill>
            <a:prstDash val="solid"/>
          </a:ln>
        </p:spPr>
      </p:sp>
      <p:sp>
        <p:nvSpPr>
          <p:cNvPr id="75" name="Text 73"/>
          <p:cNvSpPr/>
          <p:nvPr/>
        </p:nvSpPr>
        <p:spPr>
          <a:xfrm>
            <a:off x="1024128" y="612648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Staff training on digital compliance basics — what not to post, share, or click</a:t>
            </a:r>
            <a:endParaRPr lang="en-US" sz="1250" dirty="0"/>
          </a:p>
        </p:txBody>
      </p:sp>
      <p:sp>
        <p:nvSpPr>
          <p:cNvPr id="76" name="Shape 74"/>
          <p:cNvSpPr/>
          <p:nvPr/>
        </p:nvSpPr>
        <p:spPr>
          <a:xfrm>
            <a:off x="6858000" y="2011680"/>
            <a:ext cx="4846320" cy="4389120"/>
          </a:xfrm>
          <a:prstGeom prst="roundRect">
            <a:avLst>
              <a:gd name="adj" fmla="val 2917"/>
            </a:avLst>
          </a:prstGeom>
          <a:solidFill>
            <a:srgbClr val="161D32"/>
          </a:solidFill>
          <a:ln w="15240">
            <a:solidFill>
              <a:srgbClr val="1D9E75">
                <a:alpha val="50000"/>
              </a:srgbClr>
            </a:solidFill>
            <a:prstDash val="solid"/>
          </a:ln>
          <a:effectLst>
            <a:outerShdw sx="100000" sy="100000" kx="0" ky="0" algn="bl" rotWithShape="0" blurRad="127000" dist="38100" dir="2700000">
              <a:srgbClr val="000000">
                <a:alpha val="22000"/>
              </a:srgbClr>
            </a:outerShdw>
          </a:effectLst>
        </p:spPr>
      </p:sp>
      <p:sp>
        <p:nvSpPr>
          <p:cNvPr id="77" name="Text 75"/>
          <p:cNvSpPr/>
          <p:nvPr/>
        </p:nvSpPr>
        <p:spPr>
          <a:xfrm>
            <a:off x="7086600" y="2212848"/>
            <a:ext cx="4389120" cy="274320"/>
          </a:xfrm>
          <a:prstGeom prst="rect">
            <a:avLst/>
          </a:prstGeom>
          <a:noFill/>
          <a:ln/>
        </p:spPr>
        <p:txBody>
          <a:bodyPr wrap="square" rtlCol="0" anchor="ctr"/>
          <a:lstStyle/>
          <a:p>
            <a:pPr indent="0" marL="0">
              <a:buNone/>
            </a:pPr>
            <a:r>
              <a:rPr lang="en-US" sz="900" b="1" spc="200" kern="0" dirty="0">
                <a:solidFill>
                  <a:srgbClr val="1D9E75"/>
                </a:solidFill>
                <a:latin typeface="Calibri" pitchFamily="34" charset="0"/>
                <a:ea typeface="Calibri" pitchFamily="34" charset="-122"/>
                <a:cs typeface="Calibri" pitchFamily="34" charset="-120"/>
              </a:rPr>
              <a:t>THE RESULT</a:t>
            </a:r>
            <a:endParaRPr lang="en-US" sz="900" dirty="0"/>
          </a:p>
        </p:txBody>
      </p:sp>
      <p:sp>
        <p:nvSpPr>
          <p:cNvPr id="78" name="Text 76"/>
          <p:cNvSpPr/>
          <p:nvPr/>
        </p:nvSpPr>
        <p:spPr>
          <a:xfrm>
            <a:off x="7086600" y="2542032"/>
            <a:ext cx="4389120" cy="777240"/>
          </a:xfrm>
          <a:prstGeom prst="rect">
            <a:avLst/>
          </a:prstGeom>
          <a:noFill/>
          <a:ln/>
        </p:spPr>
        <p:txBody>
          <a:bodyPr wrap="square"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Run effective campaigns. Stay compliant. Sleep better.</a:t>
            </a:r>
            <a:endParaRPr lang="en-US" sz="2000" dirty="0"/>
          </a:p>
        </p:txBody>
      </p:sp>
      <p:sp>
        <p:nvSpPr>
          <p:cNvPr id="79" name="Text 77"/>
          <p:cNvSpPr/>
          <p:nvPr/>
        </p:nvSpPr>
        <p:spPr>
          <a:xfrm>
            <a:off x="7086600" y="3401568"/>
            <a:ext cx="4389120" cy="1371600"/>
          </a:xfrm>
          <a:prstGeom prst="rect">
            <a:avLst/>
          </a:prstGeom>
          <a:noFill/>
          <a:ln/>
        </p:spPr>
        <p:txBody>
          <a:bodyPr wrap="square" rtlCol="0" anchor="ctr"/>
          <a:lstStyle/>
          <a:p>
            <a:pPr indent="0" marL="0">
              <a:lnSpc>
                <a:spcPct val="150000"/>
              </a:lnSpc>
              <a:buNone/>
            </a:pPr>
            <a:r>
              <a:rPr lang="en-US" sz="1250" dirty="0">
                <a:solidFill>
                  <a:srgbClr val="B3B8CC"/>
                </a:solidFill>
                <a:latin typeface="Calibri" pitchFamily="34" charset="0"/>
                <a:ea typeface="Calibri" pitchFamily="34" charset="-122"/>
                <a:cs typeface="Calibri" pitchFamily="34" charset="-120"/>
              </a:rPr>
              <a:t>We hold Business Associate Agreements with every tool in our stack that touches patient data. You get the same targeting power and campaign performance — without the regulatory exposure that keeps healthcare lawyers in business.</a:t>
            </a:r>
            <a:endParaRPr lang="en-US" sz="1250" dirty="0"/>
          </a:p>
        </p:txBody>
      </p:sp>
      <p:sp>
        <p:nvSpPr>
          <p:cNvPr id="80" name="Text 78"/>
          <p:cNvSpPr/>
          <p:nvPr/>
        </p:nvSpPr>
        <p:spPr>
          <a:xfrm>
            <a:off x="708660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100%</a:t>
            </a:r>
            <a:endParaRPr lang="en-US" sz="3600" dirty="0"/>
          </a:p>
        </p:txBody>
      </p:sp>
      <p:sp>
        <p:nvSpPr>
          <p:cNvPr id="81" name="Text 79"/>
          <p:cNvSpPr/>
          <p:nvPr/>
        </p:nvSpPr>
        <p:spPr>
          <a:xfrm>
            <a:off x="708660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BAA coverage across our stack</a:t>
            </a:r>
            <a:endParaRPr lang="en-US" sz="1000" dirty="0"/>
          </a:p>
        </p:txBody>
      </p:sp>
      <p:sp>
        <p:nvSpPr>
          <p:cNvPr id="82" name="Text 80"/>
          <p:cNvSpPr/>
          <p:nvPr/>
        </p:nvSpPr>
        <p:spPr>
          <a:xfrm>
            <a:off x="941832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0</a:t>
            </a:r>
            <a:endParaRPr lang="en-US" sz="3600" dirty="0"/>
          </a:p>
        </p:txBody>
      </p:sp>
      <p:sp>
        <p:nvSpPr>
          <p:cNvPr id="83" name="Text 81"/>
          <p:cNvSpPr/>
          <p:nvPr/>
        </p:nvSpPr>
        <p:spPr>
          <a:xfrm>
            <a:off x="941832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compliance incidents for our clients</a:t>
            </a:r>
            <a:endParaRPr lang="en-US" sz="1000" dirty="0"/>
          </a:p>
        </p:txBody>
      </p:sp>
      <p:sp>
        <p:nvSpPr>
          <p:cNvPr id="84" name="Shape 82"/>
          <p:cNvSpPr/>
          <p:nvPr/>
        </p:nvSpPr>
        <p:spPr>
          <a:xfrm>
            <a:off x="548640" y="6473952"/>
            <a:ext cx="2743200" cy="320040"/>
          </a:xfrm>
          <a:prstGeom prst="roundRect">
            <a:avLst>
              <a:gd name="adj" fmla="val 57143"/>
            </a:avLst>
          </a:prstGeom>
          <a:solidFill>
            <a:srgbClr val="E8604F"/>
          </a:solidFill>
          <a:ln/>
        </p:spPr>
      </p:sp>
      <p:sp>
        <p:nvSpPr>
          <p:cNvPr id="85" name="Text 83"/>
          <p:cNvSpPr/>
          <p:nvPr/>
        </p:nvSpPr>
        <p:spPr>
          <a:xfrm>
            <a:off x="548640" y="6473952"/>
            <a:ext cx="27432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 Practice Audit  →</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CC2936">
              <a:alpha val="12000"/>
            </a:srgbClr>
          </a:solidFill>
          <a:ln w="12700">
            <a:solidFill>
              <a:srgbClr val="CC2936">
                <a:alpha val="12000"/>
              </a:srgbClr>
            </a:solidFill>
            <a:prstDash val="solid"/>
          </a:ln>
        </p:spPr>
      </p:sp>
      <p:sp>
        <p:nvSpPr>
          <p:cNvPr id="57" name="Shape 55"/>
          <p:cNvSpPr/>
          <p:nvPr/>
        </p:nvSpPr>
        <p:spPr>
          <a:xfrm>
            <a:off x="-1371600" y="-914400"/>
            <a:ext cx="4114800" cy="4114800"/>
          </a:xfrm>
          <a:prstGeom prst="ellipse">
            <a:avLst/>
          </a:prstGeom>
          <a:solidFill>
            <a:srgbClr val="CC2936">
              <a:alpha val="12000"/>
            </a:srgbClr>
          </a:solidFill>
          <a:ln w="12700">
            <a:solidFill>
              <a:srgbClr val="CC2936">
                <a:alpha val="12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CC2936"/>
                </a:solidFill>
                <a:latin typeface="Calibri" pitchFamily="34" charset="0"/>
                <a:ea typeface="Calibri" pitchFamily="34" charset="-122"/>
                <a:cs typeface="Calibri" pitchFamily="34" charset="-120"/>
              </a:rPr>
              <a:t>PAIN POINT 04  ·  PATIENT ACQUISITION</a:t>
            </a:r>
            <a:endParaRPr lang="en-US" sz="900" dirty="0"/>
          </a:p>
        </p:txBody>
      </p:sp>
      <p:sp>
        <p:nvSpPr>
          <p:cNvPr id="59" name="Text 57"/>
          <p:cNvSpPr/>
          <p:nvPr/>
        </p:nvSpPr>
        <p:spPr>
          <a:xfrm>
            <a:off x="548640" y="658368"/>
            <a:ext cx="7132320" cy="1645920"/>
          </a:xfrm>
          <a:prstGeom prst="rect">
            <a:avLst/>
          </a:prstGeom>
          <a:noFill/>
          <a:ln/>
        </p:spPr>
        <p:txBody>
          <a:bodyPr wrap="square" rtlCol="0" anchor="ctr"/>
          <a:lstStyle/>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You're spending on ads</a:t>
            </a:r>
            <a:endParaRPr lang="en-US" sz="3600" dirty="0"/>
          </a:p>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but the wrong patients are calling.</a:t>
            </a:r>
            <a:endParaRPr lang="en-US" sz="3600" dirty="0"/>
          </a:p>
        </p:txBody>
      </p:sp>
      <p:sp>
        <p:nvSpPr>
          <p:cNvPr id="60" name="Shape 58"/>
          <p:cNvSpPr/>
          <p:nvPr/>
        </p:nvSpPr>
        <p:spPr>
          <a:xfrm>
            <a:off x="548640" y="2514600"/>
            <a:ext cx="6858000" cy="1371600"/>
          </a:xfrm>
          <a:prstGeom prst="roundRect">
            <a:avLst>
              <a:gd name="adj" fmla="val 9333"/>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1" name="Text 59"/>
          <p:cNvSpPr/>
          <p:nvPr/>
        </p:nvSpPr>
        <p:spPr>
          <a:xfrm>
            <a:off x="777240" y="2560320"/>
            <a:ext cx="548640" cy="731520"/>
          </a:xfrm>
          <a:prstGeom prst="rect">
            <a:avLst/>
          </a:prstGeom>
          <a:noFill/>
          <a:ln/>
        </p:spPr>
        <p:txBody>
          <a:bodyPr wrap="square" rtlCol="0" anchor="ctr"/>
          <a:lstStyle/>
          <a:p>
            <a:pPr indent="0" marL="0">
              <a:buNone/>
            </a:pPr>
            <a:r>
              <a:rPr lang="en-US" sz="4400" dirty="0">
                <a:solidFill>
                  <a:srgbClr val="CC2936"/>
                </a:solidFill>
                <a:latin typeface="Cambria" pitchFamily="34" charset="0"/>
                <a:ea typeface="Cambria" pitchFamily="34" charset="-122"/>
                <a:cs typeface="Cambria" pitchFamily="34" charset="-120"/>
              </a:rPr>
              <a:t>“</a:t>
            </a:r>
            <a:endParaRPr lang="en-US" sz="4400" dirty="0"/>
          </a:p>
        </p:txBody>
      </p:sp>
      <p:sp>
        <p:nvSpPr>
          <p:cNvPr id="62" name="Text 60"/>
          <p:cNvSpPr/>
          <p:nvPr/>
        </p:nvSpPr>
        <p:spPr>
          <a:xfrm>
            <a:off x="1280160" y="2679192"/>
            <a:ext cx="5943600" cy="1005840"/>
          </a:xfrm>
          <a:prstGeom prst="rect">
            <a:avLst/>
          </a:prstGeom>
          <a:noFill/>
          <a:ln/>
        </p:spPr>
        <p:txBody>
          <a:bodyPr wrap="square" rtlCol="0" anchor="ctr"/>
          <a:lstStyle/>
          <a:p>
            <a:pPr indent="0" marL="0">
              <a:lnSpc>
                <a:spcPct val="140000"/>
              </a:lnSpc>
              <a:buNone/>
            </a:pPr>
            <a:r>
              <a:rPr lang="en-US" sz="1400" i="1" dirty="0">
                <a:solidFill>
                  <a:srgbClr val="FFFFFF"/>
                </a:solidFill>
                <a:latin typeface="Cambria" pitchFamily="34" charset="0"/>
                <a:ea typeface="Cambria" pitchFamily="34" charset="-122"/>
                <a:cs typeface="Cambria" pitchFamily="34" charset="-120"/>
              </a:rPr>
              <a:t>We're spending $5,000 a month on Google Ads and getting calls, but half of them are outside our service area or asking about procedures we don't even do.</a:t>
            </a:r>
            <a:endParaRPr lang="en-US" sz="1400" dirty="0"/>
          </a:p>
        </p:txBody>
      </p:sp>
      <p:sp>
        <p:nvSpPr>
          <p:cNvPr id="63" name="Text 61"/>
          <p:cNvSpPr/>
          <p:nvPr/>
        </p:nvSpPr>
        <p:spPr>
          <a:xfrm>
            <a:off x="1280160" y="3630168"/>
            <a:ext cx="5943600" cy="228600"/>
          </a:xfrm>
          <a:prstGeom prst="rect">
            <a:avLst/>
          </a:prstGeom>
          <a:noFill/>
          <a:ln/>
        </p:spPr>
        <p:txBody>
          <a:bodyPr wrap="square" rtlCol="0" anchor="ctr"/>
          <a:lstStyle/>
          <a:p>
            <a:pPr indent="0" marL="0">
              <a:buNone/>
            </a:pPr>
            <a:r>
              <a:rPr lang="en-US" sz="1000" dirty="0">
                <a:solidFill>
                  <a:srgbClr val="666E8A"/>
                </a:solidFill>
                <a:latin typeface="Calibri" pitchFamily="34" charset="0"/>
                <a:ea typeface="Calibri" pitchFamily="34" charset="-122"/>
                <a:cs typeface="Calibri" pitchFamily="34" charset="-120"/>
              </a:rPr>
              <a:t>— Office Director, Orthopedic Practice</a:t>
            </a:r>
            <a:endParaRPr lang="en-US" sz="1000" dirty="0"/>
          </a:p>
        </p:txBody>
      </p:sp>
      <p:sp>
        <p:nvSpPr>
          <p:cNvPr id="64" name="Shape 62"/>
          <p:cNvSpPr/>
          <p:nvPr/>
        </p:nvSpPr>
        <p:spPr>
          <a:xfrm>
            <a:off x="7863840" y="347472"/>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8065008" y="530352"/>
            <a:ext cx="274320" cy="274320"/>
          </a:xfrm>
          <a:prstGeom prst="ellipse">
            <a:avLst/>
          </a:prstGeom>
          <a:solidFill>
            <a:srgbClr val="CC2936"/>
          </a:solidFill>
          <a:ln w="12700">
            <a:solidFill>
              <a:srgbClr val="CC2936"/>
            </a:solidFill>
            <a:prstDash val="solid"/>
          </a:ln>
        </p:spPr>
      </p:sp>
      <p:sp>
        <p:nvSpPr>
          <p:cNvPr id="66" name="Text 64"/>
          <p:cNvSpPr/>
          <p:nvPr/>
        </p:nvSpPr>
        <p:spPr>
          <a:xfrm>
            <a:off x="8412480" y="493776"/>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Broad targeting wastes budget fast</a:t>
            </a:r>
            <a:endParaRPr lang="en-US" sz="1200" dirty="0"/>
          </a:p>
        </p:txBody>
      </p:sp>
      <p:sp>
        <p:nvSpPr>
          <p:cNvPr id="67" name="Text 65"/>
          <p:cNvSpPr/>
          <p:nvPr/>
        </p:nvSpPr>
        <p:spPr>
          <a:xfrm>
            <a:off x="8065008" y="960120"/>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Generic campaigns target anyone searching vaguely related terms. You pay $80 to $200 per click for people who were never your patient.</a:t>
            </a:r>
            <a:endParaRPr lang="en-US" sz="1100" dirty="0"/>
          </a:p>
        </p:txBody>
      </p:sp>
      <p:sp>
        <p:nvSpPr>
          <p:cNvPr id="68" name="Shape 66"/>
          <p:cNvSpPr/>
          <p:nvPr/>
        </p:nvSpPr>
        <p:spPr>
          <a:xfrm>
            <a:off x="7863840" y="2468880"/>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9" name="Shape 67"/>
          <p:cNvSpPr/>
          <p:nvPr/>
        </p:nvSpPr>
        <p:spPr>
          <a:xfrm>
            <a:off x="8065008" y="2651760"/>
            <a:ext cx="274320" cy="274320"/>
          </a:xfrm>
          <a:prstGeom prst="ellipse">
            <a:avLst/>
          </a:prstGeom>
          <a:solidFill>
            <a:srgbClr val="CC2936"/>
          </a:solidFill>
          <a:ln w="12700">
            <a:solidFill>
              <a:srgbClr val="CC2936"/>
            </a:solidFill>
            <a:prstDash val="solid"/>
          </a:ln>
        </p:spPr>
      </p:sp>
      <p:sp>
        <p:nvSpPr>
          <p:cNvPr id="70" name="Text 68"/>
          <p:cNvSpPr/>
          <p:nvPr/>
        </p:nvSpPr>
        <p:spPr>
          <a:xfrm>
            <a:off x="8412480" y="2615184"/>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Generic landing pages kill conversion</a:t>
            </a:r>
            <a:endParaRPr lang="en-US" sz="1200" dirty="0"/>
          </a:p>
        </p:txBody>
      </p:sp>
      <p:sp>
        <p:nvSpPr>
          <p:cNvPr id="71" name="Text 69"/>
          <p:cNvSpPr/>
          <p:nvPr/>
        </p:nvSpPr>
        <p:spPr>
          <a:xfrm>
            <a:off x="8065008" y="3081528"/>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Sending ad traffic to your homepage is like sending a patient straight to triage. They bounce. You pay. Nobody books.</a:t>
            </a:r>
            <a:endParaRPr lang="en-US" sz="1100" dirty="0"/>
          </a:p>
        </p:txBody>
      </p:sp>
      <p:sp>
        <p:nvSpPr>
          <p:cNvPr id="72" name="Shape 70"/>
          <p:cNvSpPr/>
          <p:nvPr/>
        </p:nvSpPr>
        <p:spPr>
          <a:xfrm>
            <a:off x="7863840" y="4590288"/>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3" name="Shape 71"/>
          <p:cNvSpPr/>
          <p:nvPr/>
        </p:nvSpPr>
        <p:spPr>
          <a:xfrm>
            <a:off x="8065008" y="4773168"/>
            <a:ext cx="274320" cy="274320"/>
          </a:xfrm>
          <a:prstGeom prst="ellipse">
            <a:avLst/>
          </a:prstGeom>
          <a:solidFill>
            <a:srgbClr val="CC2936"/>
          </a:solidFill>
          <a:ln w="12700">
            <a:solidFill>
              <a:srgbClr val="CC2936"/>
            </a:solidFill>
            <a:prstDash val="solid"/>
          </a:ln>
        </p:spPr>
      </p:sp>
      <p:sp>
        <p:nvSpPr>
          <p:cNvPr id="74" name="Text 72"/>
          <p:cNvSpPr/>
          <p:nvPr/>
        </p:nvSpPr>
        <p:spPr>
          <a:xfrm>
            <a:off x="8412480" y="4736592"/>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 feedback loop = no improvement</a:t>
            </a:r>
            <a:endParaRPr lang="en-US" sz="1200" dirty="0"/>
          </a:p>
        </p:txBody>
      </p:sp>
      <p:sp>
        <p:nvSpPr>
          <p:cNvPr id="75" name="Text 73"/>
          <p:cNvSpPr/>
          <p:nvPr/>
        </p:nvSpPr>
        <p:spPr>
          <a:xfrm>
            <a:off x="8065008" y="5202936"/>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Without conversion tracking tied to actual booked appointments, you're optimizing for clicks — not patients walking through the door.</a:t>
            </a:r>
            <a:endParaRPr lang="en-US" sz="1100" dirty="0"/>
          </a:p>
        </p:txBody>
      </p:sp>
      <p:sp>
        <p:nvSpPr>
          <p:cNvPr id="76" name="Text 74"/>
          <p:cNvSpPr/>
          <p:nvPr/>
        </p:nvSpPr>
        <p:spPr>
          <a:xfrm>
            <a:off x="548640" y="4069080"/>
            <a:ext cx="3200400" cy="1097280"/>
          </a:xfrm>
          <a:prstGeom prst="rect">
            <a:avLst/>
          </a:prstGeom>
          <a:noFill/>
          <a:ln/>
        </p:spPr>
        <p:txBody>
          <a:bodyPr wrap="square" rtlCol="0" anchor="ctr"/>
          <a:lstStyle/>
          <a:p>
            <a:pPr indent="0" marL="0">
              <a:buNone/>
            </a:pPr>
            <a:r>
              <a:rPr lang="en-US" sz="6400" b="1" dirty="0">
                <a:solidFill>
                  <a:srgbClr val="CC2936"/>
                </a:solidFill>
                <a:latin typeface="Cambria" pitchFamily="34" charset="0"/>
                <a:ea typeface="Cambria" pitchFamily="34" charset="-122"/>
                <a:cs typeface="Cambria" pitchFamily="34" charset="-120"/>
              </a:rPr>
              <a:t>$180</a:t>
            </a:r>
            <a:endParaRPr lang="en-US" sz="6400" dirty="0"/>
          </a:p>
        </p:txBody>
      </p:sp>
      <p:sp>
        <p:nvSpPr>
          <p:cNvPr id="77" name="Text 75"/>
          <p:cNvSpPr/>
          <p:nvPr/>
        </p:nvSpPr>
        <p:spPr>
          <a:xfrm>
            <a:off x="548640" y="5074920"/>
            <a:ext cx="5029200" cy="457200"/>
          </a:xfrm>
          <a:prstGeom prst="rect">
            <a:avLst/>
          </a:prstGeom>
          <a:noFill/>
          <a:ln/>
        </p:spPr>
        <p:txBody>
          <a:bodyPr wrap="square" rtlCol="0" anchor="ctr"/>
          <a:lstStyle/>
          <a:p>
            <a:pPr indent="0" marL="0">
              <a:buNone/>
            </a:pPr>
            <a:r>
              <a:rPr lang="en-US" sz="1200" dirty="0">
                <a:solidFill>
                  <a:srgbClr val="B3B8CC"/>
                </a:solidFill>
                <a:latin typeface="Calibri" pitchFamily="34" charset="0"/>
                <a:ea typeface="Calibri" pitchFamily="34" charset="-122"/>
                <a:cs typeface="Calibri" pitchFamily="34" charset="-120"/>
              </a:rPr>
              <a:t>average cost-per-click in competitive healthcare markets</a:t>
            </a:r>
            <a:endParaRPr lang="en-US" sz="1200" dirty="0"/>
          </a:p>
        </p:txBody>
      </p:sp>
      <p:sp>
        <p:nvSpPr>
          <p:cNvPr id="78" name="Text 76"/>
          <p:cNvSpPr/>
          <p:nvPr/>
        </p:nvSpPr>
        <p:spPr>
          <a:xfrm>
            <a:off x="548640" y="6492240"/>
            <a:ext cx="8229600" cy="256032"/>
          </a:xfrm>
          <a:prstGeom prst="rect">
            <a:avLst/>
          </a:prstGeom>
          <a:noFill/>
          <a:ln/>
        </p:spPr>
        <p:txBody>
          <a:bodyPr wrap="square" rtlCol="0" anchor="ctr"/>
          <a:lstStyle/>
          <a:p>
            <a:pPr indent="0" marL="0">
              <a:buNone/>
            </a:pPr>
            <a:r>
              <a:rPr lang="en-US" sz="1000" i="1" dirty="0">
                <a:solidFill>
                  <a:srgbClr val="666E8A"/>
                </a:solidFill>
                <a:latin typeface="Calibri" pitchFamily="34" charset="0"/>
                <a:ea typeface="Calibri" pitchFamily="34" charset="-122"/>
                <a:cs typeface="Calibri" pitchFamily="34" charset="-120"/>
              </a:rPr>
              <a:t>Sound familiar?  →  See how Ensemble solves this on the next slide.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1D9E75">
              <a:alpha val="12000"/>
            </a:srgbClr>
          </a:solidFill>
          <a:ln w="12700">
            <a:solidFill>
              <a:srgbClr val="1D9E75">
                <a:alpha val="12000"/>
              </a:srgbClr>
            </a:solidFill>
            <a:prstDash val="solid"/>
          </a:ln>
        </p:spPr>
      </p:sp>
      <p:sp>
        <p:nvSpPr>
          <p:cNvPr id="57" name="Shape 55"/>
          <p:cNvSpPr/>
          <p:nvPr/>
        </p:nvSpPr>
        <p:spPr>
          <a:xfrm>
            <a:off x="8229600" y="2743200"/>
            <a:ext cx="4572000" cy="4572000"/>
          </a:xfrm>
          <a:prstGeom prst="ellipse">
            <a:avLst/>
          </a:prstGeom>
          <a:solidFill>
            <a:srgbClr val="1D9E75">
              <a:alpha val="13000"/>
            </a:srgbClr>
          </a:solidFill>
          <a:ln w="12700">
            <a:solidFill>
              <a:srgbClr val="1D9E75">
                <a:alpha val="13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1D9E75"/>
                </a:solidFill>
                <a:latin typeface="Calibri" pitchFamily="34" charset="0"/>
                <a:ea typeface="Calibri" pitchFamily="34" charset="-122"/>
                <a:cs typeface="Calibri" pitchFamily="34" charset="-120"/>
              </a:rPr>
              <a:t>ENSEMBLE SOLUTION  ·  PATIENT ACQUISITION</a:t>
            </a:r>
            <a:endParaRPr lang="en-US" sz="900" dirty="0"/>
          </a:p>
        </p:txBody>
      </p:sp>
      <p:sp>
        <p:nvSpPr>
          <p:cNvPr id="59" name="Text 57"/>
          <p:cNvSpPr/>
          <p:nvPr/>
        </p:nvSpPr>
        <p:spPr>
          <a:xfrm>
            <a:off x="548640" y="658368"/>
            <a:ext cx="7772400" cy="146304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Fewer clicks. More patients.</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Every dollar working harder.</a:t>
            </a:r>
            <a:endParaRPr lang="en-US" sz="3400" dirty="0"/>
          </a:p>
        </p:txBody>
      </p:sp>
      <p:sp>
        <p:nvSpPr>
          <p:cNvPr id="60" name="Text 58"/>
          <p:cNvSpPr/>
          <p:nvPr/>
        </p:nvSpPr>
        <p:spPr>
          <a:xfrm>
            <a:off x="548640" y="2286000"/>
            <a:ext cx="6035040" cy="1005840"/>
          </a:xfrm>
          <a:prstGeom prst="rect">
            <a:avLst/>
          </a:prstGeom>
          <a:noFill/>
          <a:ln/>
        </p:spPr>
        <p:txBody>
          <a:bodyPr wrap="square" rtlCol="0" anchor="ctr"/>
          <a:lstStyle/>
          <a:p>
            <a:pPr indent="0" marL="0">
              <a:lnSpc>
                <a:spcPct val="150000"/>
              </a:lnSpc>
              <a:buNone/>
            </a:pPr>
            <a:r>
              <a:rPr lang="en-US" sz="1400" dirty="0">
                <a:solidFill>
                  <a:srgbClr val="B3B8CC"/>
                </a:solidFill>
                <a:latin typeface="Calibri" pitchFamily="34" charset="0"/>
                <a:ea typeface="Calibri" pitchFamily="34" charset="-122"/>
                <a:cs typeface="Calibri" pitchFamily="34" charset="-120"/>
              </a:rPr>
              <a:t>AI-optimized campaigns that target the right patient — right condition, right zip code, right device, right time — with procedure-specific landing pages designed to convert browsers into booked appointments.</a:t>
            </a:r>
            <a:endParaRPr lang="en-US" sz="1400" dirty="0"/>
          </a:p>
        </p:txBody>
      </p:sp>
      <p:sp>
        <p:nvSpPr>
          <p:cNvPr id="61" name="Shape 59"/>
          <p:cNvSpPr/>
          <p:nvPr/>
        </p:nvSpPr>
        <p:spPr>
          <a:xfrm>
            <a:off x="548640" y="3474720"/>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2" name="Shape 60"/>
          <p:cNvSpPr/>
          <p:nvPr/>
        </p:nvSpPr>
        <p:spPr>
          <a:xfrm>
            <a:off x="749808" y="3721608"/>
            <a:ext cx="164592" cy="164592"/>
          </a:xfrm>
          <a:prstGeom prst="ellipse">
            <a:avLst/>
          </a:prstGeom>
          <a:solidFill>
            <a:srgbClr val="1D9E75"/>
          </a:solidFill>
          <a:ln w="12700">
            <a:solidFill>
              <a:srgbClr val="1D9E75"/>
            </a:solidFill>
            <a:prstDash val="solid"/>
          </a:ln>
        </p:spPr>
      </p:sp>
      <p:sp>
        <p:nvSpPr>
          <p:cNvPr id="63" name="Text 61"/>
          <p:cNvSpPr/>
          <p:nvPr/>
        </p:nvSpPr>
        <p:spPr>
          <a:xfrm>
            <a:off x="1024128" y="356616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Condition and procedure-specific campaign structure — not one campaign for everything</a:t>
            </a:r>
            <a:endParaRPr lang="en-US" sz="1250" dirty="0"/>
          </a:p>
        </p:txBody>
      </p:sp>
      <p:sp>
        <p:nvSpPr>
          <p:cNvPr id="64" name="Shape 62"/>
          <p:cNvSpPr/>
          <p:nvPr/>
        </p:nvSpPr>
        <p:spPr>
          <a:xfrm>
            <a:off x="548640" y="4261104"/>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749808" y="4507992"/>
            <a:ext cx="164592" cy="164592"/>
          </a:xfrm>
          <a:prstGeom prst="ellipse">
            <a:avLst/>
          </a:prstGeom>
          <a:solidFill>
            <a:srgbClr val="1D9E75"/>
          </a:solidFill>
          <a:ln w="12700">
            <a:solidFill>
              <a:srgbClr val="1D9E75"/>
            </a:solidFill>
            <a:prstDash val="solid"/>
          </a:ln>
        </p:spPr>
      </p:sp>
      <p:sp>
        <p:nvSpPr>
          <p:cNvPr id="66" name="Text 64"/>
          <p:cNvSpPr/>
          <p:nvPr/>
        </p:nvSpPr>
        <p:spPr>
          <a:xfrm>
            <a:off x="1024128" y="420624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Geo-fencing to your actual service area and referring zip codes</a:t>
            </a:r>
            <a:endParaRPr lang="en-US" sz="1250" dirty="0"/>
          </a:p>
        </p:txBody>
      </p:sp>
      <p:sp>
        <p:nvSpPr>
          <p:cNvPr id="67" name="Shape 65"/>
          <p:cNvSpPr/>
          <p:nvPr/>
        </p:nvSpPr>
        <p:spPr>
          <a:xfrm>
            <a:off x="548640" y="5047488"/>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8" name="Shape 66"/>
          <p:cNvSpPr/>
          <p:nvPr/>
        </p:nvSpPr>
        <p:spPr>
          <a:xfrm>
            <a:off x="749808" y="5294376"/>
            <a:ext cx="164592" cy="164592"/>
          </a:xfrm>
          <a:prstGeom prst="ellipse">
            <a:avLst/>
          </a:prstGeom>
          <a:solidFill>
            <a:srgbClr val="1D9E75"/>
          </a:solidFill>
          <a:ln w="12700">
            <a:solidFill>
              <a:srgbClr val="1D9E75"/>
            </a:solidFill>
            <a:prstDash val="solid"/>
          </a:ln>
        </p:spPr>
      </p:sp>
      <p:sp>
        <p:nvSpPr>
          <p:cNvPr id="69" name="Text 67"/>
          <p:cNvSpPr/>
          <p:nvPr/>
        </p:nvSpPr>
        <p:spPr>
          <a:xfrm>
            <a:off x="1024128" y="484632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Dedicated landing pages per procedure — no homepage traffic dumping</a:t>
            </a:r>
            <a:endParaRPr lang="en-US" sz="1250" dirty="0"/>
          </a:p>
        </p:txBody>
      </p:sp>
      <p:sp>
        <p:nvSpPr>
          <p:cNvPr id="70" name="Shape 68"/>
          <p:cNvSpPr/>
          <p:nvPr/>
        </p:nvSpPr>
        <p:spPr>
          <a:xfrm>
            <a:off x="548640" y="5833872"/>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1" name="Shape 69"/>
          <p:cNvSpPr/>
          <p:nvPr/>
        </p:nvSpPr>
        <p:spPr>
          <a:xfrm>
            <a:off x="749808" y="6080760"/>
            <a:ext cx="164592" cy="164592"/>
          </a:xfrm>
          <a:prstGeom prst="ellipse">
            <a:avLst/>
          </a:prstGeom>
          <a:solidFill>
            <a:srgbClr val="1D9E75"/>
          </a:solidFill>
          <a:ln w="12700">
            <a:solidFill>
              <a:srgbClr val="1D9E75"/>
            </a:solidFill>
            <a:prstDash val="solid"/>
          </a:ln>
        </p:spPr>
      </p:sp>
      <p:sp>
        <p:nvSpPr>
          <p:cNvPr id="72" name="Text 70"/>
          <p:cNvSpPr/>
          <p:nvPr/>
        </p:nvSpPr>
        <p:spPr>
          <a:xfrm>
            <a:off x="1024128" y="548640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Call tracking tied to booked appointments — real ROI, not click-through rate</a:t>
            </a:r>
            <a:endParaRPr lang="en-US" sz="1250" dirty="0"/>
          </a:p>
        </p:txBody>
      </p:sp>
      <p:sp>
        <p:nvSpPr>
          <p:cNvPr id="73" name="Shape 71"/>
          <p:cNvSpPr/>
          <p:nvPr/>
        </p:nvSpPr>
        <p:spPr>
          <a:xfrm>
            <a:off x="548640" y="6620256"/>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4" name="Shape 72"/>
          <p:cNvSpPr/>
          <p:nvPr/>
        </p:nvSpPr>
        <p:spPr>
          <a:xfrm>
            <a:off x="749808" y="6867144"/>
            <a:ext cx="164592" cy="164592"/>
          </a:xfrm>
          <a:prstGeom prst="ellipse">
            <a:avLst/>
          </a:prstGeom>
          <a:solidFill>
            <a:srgbClr val="1D9E75"/>
          </a:solidFill>
          <a:ln w="12700">
            <a:solidFill>
              <a:srgbClr val="1D9E75"/>
            </a:solidFill>
            <a:prstDash val="solid"/>
          </a:ln>
        </p:spPr>
      </p:sp>
      <p:sp>
        <p:nvSpPr>
          <p:cNvPr id="75" name="Text 73"/>
          <p:cNvSpPr/>
          <p:nvPr/>
        </p:nvSpPr>
        <p:spPr>
          <a:xfrm>
            <a:off x="1024128" y="612648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Weekly optimization cycle — budget reallocation based on actual conversions</a:t>
            </a:r>
            <a:endParaRPr lang="en-US" sz="1250" dirty="0"/>
          </a:p>
        </p:txBody>
      </p:sp>
      <p:sp>
        <p:nvSpPr>
          <p:cNvPr id="76" name="Shape 74"/>
          <p:cNvSpPr/>
          <p:nvPr/>
        </p:nvSpPr>
        <p:spPr>
          <a:xfrm>
            <a:off x="6858000" y="2011680"/>
            <a:ext cx="4846320" cy="4389120"/>
          </a:xfrm>
          <a:prstGeom prst="roundRect">
            <a:avLst>
              <a:gd name="adj" fmla="val 2917"/>
            </a:avLst>
          </a:prstGeom>
          <a:solidFill>
            <a:srgbClr val="161D32"/>
          </a:solidFill>
          <a:ln w="15240">
            <a:solidFill>
              <a:srgbClr val="1D9E75">
                <a:alpha val="50000"/>
              </a:srgbClr>
            </a:solidFill>
            <a:prstDash val="solid"/>
          </a:ln>
          <a:effectLst>
            <a:outerShdw sx="100000" sy="100000" kx="0" ky="0" algn="bl" rotWithShape="0" blurRad="127000" dist="38100" dir="2700000">
              <a:srgbClr val="000000">
                <a:alpha val="22000"/>
              </a:srgbClr>
            </a:outerShdw>
          </a:effectLst>
        </p:spPr>
      </p:sp>
      <p:sp>
        <p:nvSpPr>
          <p:cNvPr id="77" name="Text 75"/>
          <p:cNvSpPr/>
          <p:nvPr/>
        </p:nvSpPr>
        <p:spPr>
          <a:xfrm>
            <a:off x="7086600" y="2212848"/>
            <a:ext cx="4389120" cy="274320"/>
          </a:xfrm>
          <a:prstGeom prst="rect">
            <a:avLst/>
          </a:prstGeom>
          <a:noFill/>
          <a:ln/>
        </p:spPr>
        <p:txBody>
          <a:bodyPr wrap="square" rtlCol="0" anchor="ctr"/>
          <a:lstStyle/>
          <a:p>
            <a:pPr indent="0" marL="0">
              <a:buNone/>
            </a:pPr>
            <a:r>
              <a:rPr lang="en-US" sz="900" b="1" spc="200" kern="0" dirty="0">
                <a:solidFill>
                  <a:srgbClr val="1D9E75"/>
                </a:solidFill>
                <a:latin typeface="Calibri" pitchFamily="34" charset="0"/>
                <a:ea typeface="Calibri" pitchFamily="34" charset="-122"/>
                <a:cs typeface="Calibri" pitchFamily="34" charset="-120"/>
              </a:rPr>
              <a:t>THE RESULT</a:t>
            </a:r>
            <a:endParaRPr lang="en-US" sz="900" dirty="0"/>
          </a:p>
        </p:txBody>
      </p:sp>
      <p:sp>
        <p:nvSpPr>
          <p:cNvPr id="78" name="Text 76"/>
          <p:cNvSpPr/>
          <p:nvPr/>
        </p:nvSpPr>
        <p:spPr>
          <a:xfrm>
            <a:off x="7086600" y="2542032"/>
            <a:ext cx="4389120" cy="777240"/>
          </a:xfrm>
          <a:prstGeom prst="rect">
            <a:avLst/>
          </a:prstGeom>
          <a:noFill/>
          <a:ln/>
        </p:spPr>
        <p:txBody>
          <a:bodyPr wrap="square"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Cost per booked appointment cut by 40% in 60 days.</a:t>
            </a:r>
            <a:endParaRPr lang="en-US" sz="2000" dirty="0"/>
          </a:p>
        </p:txBody>
      </p:sp>
      <p:sp>
        <p:nvSpPr>
          <p:cNvPr id="79" name="Text 77"/>
          <p:cNvSpPr/>
          <p:nvPr/>
        </p:nvSpPr>
        <p:spPr>
          <a:xfrm>
            <a:off x="7086600" y="3401568"/>
            <a:ext cx="4389120" cy="1371600"/>
          </a:xfrm>
          <a:prstGeom prst="rect">
            <a:avLst/>
          </a:prstGeom>
          <a:noFill/>
          <a:ln/>
        </p:spPr>
        <p:txBody>
          <a:bodyPr wrap="square" rtlCol="0" anchor="ctr"/>
          <a:lstStyle/>
          <a:p>
            <a:pPr indent="0" marL="0">
              <a:lnSpc>
                <a:spcPct val="150000"/>
              </a:lnSpc>
              <a:buNone/>
            </a:pPr>
            <a:r>
              <a:rPr lang="en-US" sz="1250" dirty="0">
                <a:solidFill>
                  <a:srgbClr val="B3B8CC"/>
                </a:solidFill>
                <a:latin typeface="Calibri" pitchFamily="34" charset="0"/>
                <a:ea typeface="Calibri" pitchFamily="34" charset="-122"/>
                <a:cs typeface="Calibri" pitchFamily="34" charset="-120"/>
              </a:rPr>
              <a:t>When we restructure an existing campaign account, the most common outcome is 30 to 50% lower cost per acquisition within the first 60 days — not by spending less, but by spending smarter on the right audience.</a:t>
            </a:r>
            <a:endParaRPr lang="en-US" sz="1250" dirty="0"/>
          </a:p>
        </p:txBody>
      </p:sp>
      <p:sp>
        <p:nvSpPr>
          <p:cNvPr id="80" name="Text 78"/>
          <p:cNvSpPr/>
          <p:nvPr/>
        </p:nvSpPr>
        <p:spPr>
          <a:xfrm>
            <a:off x="708660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40%</a:t>
            </a:r>
            <a:endParaRPr lang="en-US" sz="3600" dirty="0"/>
          </a:p>
        </p:txBody>
      </p:sp>
      <p:sp>
        <p:nvSpPr>
          <p:cNvPr id="81" name="Text 79"/>
          <p:cNvSpPr/>
          <p:nvPr/>
        </p:nvSpPr>
        <p:spPr>
          <a:xfrm>
            <a:off x="708660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avg reduction in cost per booked appt</a:t>
            </a:r>
            <a:endParaRPr lang="en-US" sz="1000" dirty="0"/>
          </a:p>
        </p:txBody>
      </p:sp>
      <p:sp>
        <p:nvSpPr>
          <p:cNvPr id="82" name="Text 80"/>
          <p:cNvSpPr/>
          <p:nvPr/>
        </p:nvSpPr>
        <p:spPr>
          <a:xfrm>
            <a:off x="941832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60</a:t>
            </a:r>
            <a:endParaRPr lang="en-US" sz="3600" dirty="0"/>
          </a:p>
        </p:txBody>
      </p:sp>
      <p:sp>
        <p:nvSpPr>
          <p:cNvPr id="83" name="Text 81"/>
          <p:cNvSpPr/>
          <p:nvPr/>
        </p:nvSpPr>
        <p:spPr>
          <a:xfrm>
            <a:off x="941832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days to see meaningful improvement</a:t>
            </a:r>
            <a:endParaRPr lang="en-US" sz="1000" dirty="0"/>
          </a:p>
        </p:txBody>
      </p:sp>
      <p:sp>
        <p:nvSpPr>
          <p:cNvPr id="84" name="Shape 82"/>
          <p:cNvSpPr/>
          <p:nvPr/>
        </p:nvSpPr>
        <p:spPr>
          <a:xfrm>
            <a:off x="548640" y="6473952"/>
            <a:ext cx="2743200" cy="320040"/>
          </a:xfrm>
          <a:prstGeom prst="roundRect">
            <a:avLst>
              <a:gd name="adj" fmla="val 57143"/>
            </a:avLst>
          </a:prstGeom>
          <a:solidFill>
            <a:srgbClr val="E8604F"/>
          </a:solidFill>
          <a:ln/>
        </p:spPr>
      </p:sp>
      <p:sp>
        <p:nvSpPr>
          <p:cNvPr id="85" name="Text 83"/>
          <p:cNvSpPr/>
          <p:nvPr/>
        </p:nvSpPr>
        <p:spPr>
          <a:xfrm>
            <a:off x="548640" y="6473952"/>
            <a:ext cx="27432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 Practice Audit  →</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CC2936">
              <a:alpha val="12000"/>
            </a:srgbClr>
          </a:solidFill>
          <a:ln w="12700">
            <a:solidFill>
              <a:srgbClr val="CC2936">
                <a:alpha val="12000"/>
              </a:srgbClr>
            </a:solidFill>
            <a:prstDash val="solid"/>
          </a:ln>
        </p:spPr>
      </p:sp>
      <p:sp>
        <p:nvSpPr>
          <p:cNvPr id="57" name="Shape 55"/>
          <p:cNvSpPr/>
          <p:nvPr/>
        </p:nvSpPr>
        <p:spPr>
          <a:xfrm>
            <a:off x="-1371600" y="-914400"/>
            <a:ext cx="4114800" cy="4114800"/>
          </a:xfrm>
          <a:prstGeom prst="ellipse">
            <a:avLst/>
          </a:prstGeom>
          <a:solidFill>
            <a:srgbClr val="CC2936">
              <a:alpha val="12000"/>
            </a:srgbClr>
          </a:solidFill>
          <a:ln w="12700">
            <a:solidFill>
              <a:srgbClr val="CC2936">
                <a:alpha val="12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CC2936"/>
                </a:solidFill>
                <a:latin typeface="Calibri" pitchFamily="34" charset="0"/>
                <a:ea typeface="Calibri" pitchFamily="34" charset="-122"/>
                <a:cs typeface="Calibri" pitchFamily="34" charset="-120"/>
              </a:rPr>
              <a:t>PAIN POINT 05  ·  WEBSITE &amp; PATIENT EXPERIENCE</a:t>
            </a:r>
            <a:endParaRPr lang="en-US" sz="900" dirty="0"/>
          </a:p>
        </p:txBody>
      </p:sp>
      <p:sp>
        <p:nvSpPr>
          <p:cNvPr id="59" name="Text 57"/>
          <p:cNvSpPr/>
          <p:nvPr/>
        </p:nvSpPr>
        <p:spPr>
          <a:xfrm>
            <a:off x="548640" y="658368"/>
            <a:ext cx="7132320" cy="1645920"/>
          </a:xfrm>
          <a:prstGeom prst="rect">
            <a:avLst/>
          </a:prstGeom>
          <a:noFill/>
          <a:ln/>
        </p:spPr>
        <p:txBody>
          <a:bodyPr wrap="square" rtlCol="0" anchor="ctr"/>
          <a:lstStyle/>
          <a:p>
            <a:pPr indent="0" marL="0">
              <a:lnSpc>
                <a:spcPct val="110000"/>
              </a:lnSpc>
              <a:buNone/>
            </a:pPr>
            <a:r>
              <a:rPr lang="en-US" sz="3500" b="1" dirty="0">
                <a:solidFill>
                  <a:srgbClr val="FFFFFF"/>
                </a:solidFill>
                <a:latin typeface="Cambria" pitchFamily="34" charset="0"/>
                <a:ea typeface="Cambria" pitchFamily="34" charset="-122"/>
                <a:cs typeface="Cambria" pitchFamily="34" charset="-120"/>
              </a:rPr>
              <a:t>Patients visit your website</a:t>
            </a:r>
            <a:endParaRPr lang="en-US" sz="3500" dirty="0"/>
          </a:p>
          <a:p>
            <a:pPr indent="0" marL="0">
              <a:lnSpc>
                <a:spcPct val="110000"/>
              </a:lnSpc>
              <a:buNone/>
            </a:pPr>
            <a:r>
              <a:rPr lang="en-US" sz="3500" b="1" dirty="0">
                <a:solidFill>
                  <a:srgbClr val="FFFFFF"/>
                </a:solidFill>
                <a:latin typeface="Cambria" pitchFamily="34" charset="0"/>
                <a:ea typeface="Cambria" pitchFamily="34" charset="-122"/>
                <a:cs typeface="Cambria" pitchFamily="34" charset="-120"/>
              </a:rPr>
              <a:t>and call your competitor.</a:t>
            </a:r>
            <a:endParaRPr lang="en-US" sz="3500" dirty="0"/>
          </a:p>
        </p:txBody>
      </p:sp>
      <p:sp>
        <p:nvSpPr>
          <p:cNvPr id="60" name="Shape 58"/>
          <p:cNvSpPr/>
          <p:nvPr/>
        </p:nvSpPr>
        <p:spPr>
          <a:xfrm>
            <a:off x="548640" y="2514600"/>
            <a:ext cx="6858000" cy="1371600"/>
          </a:xfrm>
          <a:prstGeom prst="roundRect">
            <a:avLst>
              <a:gd name="adj" fmla="val 9333"/>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1" name="Text 59"/>
          <p:cNvSpPr/>
          <p:nvPr/>
        </p:nvSpPr>
        <p:spPr>
          <a:xfrm>
            <a:off x="777240" y="2560320"/>
            <a:ext cx="548640" cy="731520"/>
          </a:xfrm>
          <a:prstGeom prst="rect">
            <a:avLst/>
          </a:prstGeom>
          <a:noFill/>
          <a:ln/>
        </p:spPr>
        <p:txBody>
          <a:bodyPr wrap="square" rtlCol="0" anchor="ctr"/>
          <a:lstStyle/>
          <a:p>
            <a:pPr indent="0" marL="0">
              <a:buNone/>
            </a:pPr>
            <a:r>
              <a:rPr lang="en-US" sz="4400" dirty="0">
                <a:solidFill>
                  <a:srgbClr val="CC2936"/>
                </a:solidFill>
                <a:latin typeface="Cambria" pitchFamily="34" charset="0"/>
                <a:ea typeface="Cambria" pitchFamily="34" charset="-122"/>
                <a:cs typeface="Cambria" pitchFamily="34" charset="-120"/>
              </a:rPr>
              <a:t>“</a:t>
            </a:r>
            <a:endParaRPr lang="en-US" sz="4400" dirty="0"/>
          </a:p>
        </p:txBody>
      </p:sp>
      <p:sp>
        <p:nvSpPr>
          <p:cNvPr id="62" name="Text 60"/>
          <p:cNvSpPr/>
          <p:nvPr/>
        </p:nvSpPr>
        <p:spPr>
          <a:xfrm>
            <a:off x="1280160" y="2679192"/>
            <a:ext cx="5943600" cy="1005840"/>
          </a:xfrm>
          <a:prstGeom prst="rect">
            <a:avLst/>
          </a:prstGeom>
          <a:noFill/>
          <a:ln/>
        </p:spPr>
        <p:txBody>
          <a:bodyPr wrap="square" rtlCol="0" anchor="ctr"/>
          <a:lstStyle/>
          <a:p>
            <a:pPr indent="0" marL="0">
              <a:lnSpc>
                <a:spcPct val="140000"/>
              </a:lnSpc>
              <a:buNone/>
            </a:pPr>
            <a:r>
              <a:rPr lang="en-US" sz="1400" i="1" dirty="0">
                <a:solidFill>
                  <a:srgbClr val="FFFFFF"/>
                </a:solidFill>
                <a:latin typeface="Cambria" pitchFamily="34" charset="0"/>
                <a:ea typeface="Cambria" pitchFamily="34" charset="-122"/>
                <a:cs typeface="Cambria" pitchFamily="34" charset="-120"/>
              </a:rPr>
              <a:t>Our website was built 6 years ago. It takes forever to load on a phone, you can't book online, and honestly it doesn't even reflect what we do anymore.</a:t>
            </a:r>
            <a:endParaRPr lang="en-US" sz="1400" dirty="0"/>
          </a:p>
        </p:txBody>
      </p:sp>
      <p:sp>
        <p:nvSpPr>
          <p:cNvPr id="63" name="Text 61"/>
          <p:cNvSpPr/>
          <p:nvPr/>
        </p:nvSpPr>
        <p:spPr>
          <a:xfrm>
            <a:off x="1280160" y="3630168"/>
            <a:ext cx="5943600" cy="228600"/>
          </a:xfrm>
          <a:prstGeom prst="rect">
            <a:avLst/>
          </a:prstGeom>
          <a:noFill/>
          <a:ln/>
        </p:spPr>
        <p:txBody>
          <a:bodyPr wrap="square" rtlCol="0" anchor="ctr"/>
          <a:lstStyle/>
          <a:p>
            <a:pPr indent="0" marL="0">
              <a:buNone/>
            </a:pPr>
            <a:r>
              <a:rPr lang="en-US" sz="1000" dirty="0">
                <a:solidFill>
                  <a:srgbClr val="666E8A"/>
                </a:solidFill>
                <a:latin typeface="Calibri" pitchFamily="34" charset="0"/>
                <a:ea typeface="Calibri" pitchFamily="34" charset="-122"/>
                <a:cs typeface="Calibri" pitchFamily="34" charset="-120"/>
              </a:rPr>
              <a:t>— Physician Owner, Pain Management Practice</a:t>
            </a:r>
            <a:endParaRPr lang="en-US" sz="1000" dirty="0"/>
          </a:p>
        </p:txBody>
      </p:sp>
      <p:sp>
        <p:nvSpPr>
          <p:cNvPr id="64" name="Shape 62"/>
          <p:cNvSpPr/>
          <p:nvPr/>
        </p:nvSpPr>
        <p:spPr>
          <a:xfrm>
            <a:off x="7863840" y="347472"/>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8065008" y="530352"/>
            <a:ext cx="274320" cy="274320"/>
          </a:xfrm>
          <a:prstGeom prst="ellipse">
            <a:avLst/>
          </a:prstGeom>
          <a:solidFill>
            <a:srgbClr val="CC2936"/>
          </a:solidFill>
          <a:ln w="12700">
            <a:solidFill>
              <a:srgbClr val="CC2936"/>
            </a:solidFill>
            <a:prstDash val="solid"/>
          </a:ln>
        </p:spPr>
      </p:sp>
      <p:sp>
        <p:nvSpPr>
          <p:cNvPr id="66" name="Text 64"/>
          <p:cNvSpPr/>
          <p:nvPr/>
        </p:nvSpPr>
        <p:spPr>
          <a:xfrm>
            <a:off x="8412480" y="493776"/>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53% of mobile visitors leave in 3 seconds</a:t>
            </a:r>
            <a:endParaRPr lang="en-US" sz="1200" dirty="0"/>
          </a:p>
        </p:txBody>
      </p:sp>
      <p:sp>
        <p:nvSpPr>
          <p:cNvPr id="67" name="Text 65"/>
          <p:cNvSpPr/>
          <p:nvPr/>
        </p:nvSpPr>
        <p:spPr>
          <a:xfrm>
            <a:off x="8065008" y="960120"/>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If your site takes more than 3 seconds to load on mobile, more than half your visitors are already gone — before reading a single word.</a:t>
            </a:r>
            <a:endParaRPr lang="en-US" sz="1100" dirty="0"/>
          </a:p>
        </p:txBody>
      </p:sp>
      <p:sp>
        <p:nvSpPr>
          <p:cNvPr id="68" name="Shape 66"/>
          <p:cNvSpPr/>
          <p:nvPr/>
        </p:nvSpPr>
        <p:spPr>
          <a:xfrm>
            <a:off x="7863840" y="2468880"/>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9" name="Shape 67"/>
          <p:cNvSpPr/>
          <p:nvPr/>
        </p:nvSpPr>
        <p:spPr>
          <a:xfrm>
            <a:off x="8065008" y="2651760"/>
            <a:ext cx="274320" cy="274320"/>
          </a:xfrm>
          <a:prstGeom prst="ellipse">
            <a:avLst/>
          </a:prstGeom>
          <a:solidFill>
            <a:srgbClr val="CC2936"/>
          </a:solidFill>
          <a:ln w="12700">
            <a:solidFill>
              <a:srgbClr val="CC2936"/>
            </a:solidFill>
            <a:prstDash val="solid"/>
          </a:ln>
        </p:spPr>
      </p:sp>
      <p:sp>
        <p:nvSpPr>
          <p:cNvPr id="70" name="Text 68"/>
          <p:cNvSpPr/>
          <p:nvPr/>
        </p:nvSpPr>
        <p:spPr>
          <a:xfrm>
            <a:off x="8412480" y="2615184"/>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 online booking = lost patients</a:t>
            </a:r>
            <a:endParaRPr lang="en-US" sz="1200" dirty="0"/>
          </a:p>
        </p:txBody>
      </p:sp>
      <p:sp>
        <p:nvSpPr>
          <p:cNvPr id="71" name="Text 69"/>
          <p:cNvSpPr/>
          <p:nvPr/>
        </p:nvSpPr>
        <p:spPr>
          <a:xfrm>
            <a:off x="8065008" y="3081528"/>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68% of patients prefer to book appointments online. If you don't offer it, you're invisible to a generation that does everything on their phone.</a:t>
            </a:r>
            <a:endParaRPr lang="en-US" sz="1100" dirty="0"/>
          </a:p>
        </p:txBody>
      </p:sp>
      <p:sp>
        <p:nvSpPr>
          <p:cNvPr id="72" name="Shape 70"/>
          <p:cNvSpPr/>
          <p:nvPr/>
        </p:nvSpPr>
        <p:spPr>
          <a:xfrm>
            <a:off x="7863840" y="4590288"/>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3" name="Shape 71"/>
          <p:cNvSpPr/>
          <p:nvPr/>
        </p:nvSpPr>
        <p:spPr>
          <a:xfrm>
            <a:off x="8065008" y="4773168"/>
            <a:ext cx="274320" cy="274320"/>
          </a:xfrm>
          <a:prstGeom prst="ellipse">
            <a:avLst/>
          </a:prstGeom>
          <a:solidFill>
            <a:srgbClr val="CC2936"/>
          </a:solidFill>
          <a:ln w="12700">
            <a:solidFill>
              <a:srgbClr val="CC2936"/>
            </a:solidFill>
            <a:prstDash val="solid"/>
          </a:ln>
        </p:spPr>
      </p:sp>
      <p:sp>
        <p:nvSpPr>
          <p:cNvPr id="74" name="Text 72"/>
          <p:cNvSpPr/>
          <p:nvPr/>
        </p:nvSpPr>
        <p:spPr>
          <a:xfrm>
            <a:off x="8412480" y="4736592"/>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Your website doesn't reflect your quality</a:t>
            </a:r>
            <a:endParaRPr lang="en-US" sz="1200" dirty="0"/>
          </a:p>
        </p:txBody>
      </p:sp>
      <p:sp>
        <p:nvSpPr>
          <p:cNvPr id="75" name="Text 73"/>
          <p:cNvSpPr/>
          <p:nvPr/>
        </p:nvSpPr>
        <p:spPr>
          <a:xfrm>
            <a:off x="8065008" y="5202936"/>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A dated website signals a dated practice. Patients make instant credibility judgments from the first impression. Your clinical quality is invisible behind bad design.</a:t>
            </a:r>
            <a:endParaRPr lang="en-US" sz="1100" dirty="0"/>
          </a:p>
        </p:txBody>
      </p:sp>
      <p:sp>
        <p:nvSpPr>
          <p:cNvPr id="76" name="Text 74"/>
          <p:cNvSpPr/>
          <p:nvPr/>
        </p:nvSpPr>
        <p:spPr>
          <a:xfrm>
            <a:off x="548640" y="4069080"/>
            <a:ext cx="3200400" cy="1097280"/>
          </a:xfrm>
          <a:prstGeom prst="rect">
            <a:avLst/>
          </a:prstGeom>
          <a:noFill/>
          <a:ln/>
        </p:spPr>
        <p:txBody>
          <a:bodyPr wrap="square" rtlCol="0" anchor="ctr"/>
          <a:lstStyle/>
          <a:p>
            <a:pPr indent="0" marL="0">
              <a:buNone/>
            </a:pPr>
            <a:r>
              <a:rPr lang="en-US" sz="6400" b="1" dirty="0">
                <a:solidFill>
                  <a:srgbClr val="CC2936"/>
                </a:solidFill>
                <a:latin typeface="Cambria" pitchFamily="34" charset="0"/>
                <a:ea typeface="Cambria" pitchFamily="34" charset="-122"/>
                <a:cs typeface="Cambria" pitchFamily="34" charset="-120"/>
              </a:rPr>
              <a:t>68%</a:t>
            </a:r>
            <a:endParaRPr lang="en-US" sz="6400" dirty="0"/>
          </a:p>
        </p:txBody>
      </p:sp>
      <p:sp>
        <p:nvSpPr>
          <p:cNvPr id="77" name="Text 75"/>
          <p:cNvSpPr/>
          <p:nvPr/>
        </p:nvSpPr>
        <p:spPr>
          <a:xfrm>
            <a:off x="548640" y="5074920"/>
            <a:ext cx="5029200" cy="457200"/>
          </a:xfrm>
          <a:prstGeom prst="rect">
            <a:avLst/>
          </a:prstGeom>
          <a:noFill/>
          <a:ln/>
        </p:spPr>
        <p:txBody>
          <a:bodyPr wrap="square" rtlCol="0" anchor="ctr"/>
          <a:lstStyle/>
          <a:p>
            <a:pPr indent="0" marL="0">
              <a:buNone/>
            </a:pPr>
            <a:r>
              <a:rPr lang="en-US" sz="1200" dirty="0">
                <a:solidFill>
                  <a:srgbClr val="B3B8CC"/>
                </a:solidFill>
                <a:latin typeface="Calibri" pitchFamily="34" charset="0"/>
                <a:ea typeface="Calibri" pitchFamily="34" charset="-122"/>
                <a:cs typeface="Calibri" pitchFamily="34" charset="-120"/>
              </a:rPr>
              <a:t>of patients prefer to book appointments online</a:t>
            </a:r>
            <a:endParaRPr lang="en-US" sz="1200" dirty="0"/>
          </a:p>
        </p:txBody>
      </p:sp>
      <p:sp>
        <p:nvSpPr>
          <p:cNvPr id="78" name="Text 76"/>
          <p:cNvSpPr/>
          <p:nvPr/>
        </p:nvSpPr>
        <p:spPr>
          <a:xfrm>
            <a:off x="548640" y="6492240"/>
            <a:ext cx="8229600" cy="256032"/>
          </a:xfrm>
          <a:prstGeom prst="rect">
            <a:avLst/>
          </a:prstGeom>
          <a:noFill/>
          <a:ln/>
        </p:spPr>
        <p:txBody>
          <a:bodyPr wrap="square" rtlCol="0" anchor="ctr"/>
          <a:lstStyle/>
          <a:p>
            <a:pPr indent="0" marL="0">
              <a:buNone/>
            </a:pPr>
            <a:r>
              <a:rPr lang="en-US" sz="1000" i="1" dirty="0">
                <a:solidFill>
                  <a:srgbClr val="666E8A"/>
                </a:solidFill>
                <a:latin typeface="Calibri" pitchFamily="34" charset="0"/>
                <a:ea typeface="Calibri" pitchFamily="34" charset="-122"/>
                <a:cs typeface="Calibri" pitchFamily="34" charset="-120"/>
              </a:rPr>
              <a:t>Sound familiar?  →  See how Ensemble solves this on the next slide.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1D9E75">
              <a:alpha val="12000"/>
            </a:srgbClr>
          </a:solidFill>
          <a:ln w="12700">
            <a:solidFill>
              <a:srgbClr val="1D9E75">
                <a:alpha val="12000"/>
              </a:srgbClr>
            </a:solidFill>
            <a:prstDash val="solid"/>
          </a:ln>
        </p:spPr>
      </p:sp>
      <p:sp>
        <p:nvSpPr>
          <p:cNvPr id="57" name="Shape 55"/>
          <p:cNvSpPr/>
          <p:nvPr/>
        </p:nvSpPr>
        <p:spPr>
          <a:xfrm>
            <a:off x="8229600" y="2743200"/>
            <a:ext cx="4572000" cy="4572000"/>
          </a:xfrm>
          <a:prstGeom prst="ellipse">
            <a:avLst/>
          </a:prstGeom>
          <a:solidFill>
            <a:srgbClr val="1D9E75">
              <a:alpha val="13000"/>
            </a:srgbClr>
          </a:solidFill>
          <a:ln w="12700">
            <a:solidFill>
              <a:srgbClr val="1D9E75">
                <a:alpha val="13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1D9E75"/>
                </a:solidFill>
                <a:latin typeface="Calibri" pitchFamily="34" charset="0"/>
                <a:ea typeface="Calibri" pitchFamily="34" charset="-122"/>
                <a:cs typeface="Calibri" pitchFamily="34" charset="-120"/>
              </a:rPr>
              <a:t>ENSEMBLE SOLUTION  ·  WEBSITE &amp; PATIENT EXPERIENCE</a:t>
            </a:r>
            <a:endParaRPr lang="en-US" sz="900" dirty="0"/>
          </a:p>
        </p:txBody>
      </p:sp>
      <p:sp>
        <p:nvSpPr>
          <p:cNvPr id="59" name="Text 57"/>
          <p:cNvSpPr/>
          <p:nvPr/>
        </p:nvSpPr>
        <p:spPr>
          <a:xfrm>
            <a:off x="548640" y="658368"/>
            <a:ext cx="7772400" cy="146304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A website that works as hard</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as your clinical team.</a:t>
            </a:r>
            <a:endParaRPr lang="en-US" sz="3400" dirty="0"/>
          </a:p>
        </p:txBody>
      </p:sp>
      <p:sp>
        <p:nvSpPr>
          <p:cNvPr id="60" name="Text 58"/>
          <p:cNvSpPr/>
          <p:nvPr/>
        </p:nvSpPr>
        <p:spPr>
          <a:xfrm>
            <a:off x="548640" y="2286000"/>
            <a:ext cx="6035040" cy="1005840"/>
          </a:xfrm>
          <a:prstGeom prst="rect">
            <a:avLst/>
          </a:prstGeom>
          <a:noFill/>
          <a:ln/>
        </p:spPr>
        <p:txBody>
          <a:bodyPr wrap="square" rtlCol="0" anchor="ctr"/>
          <a:lstStyle/>
          <a:p>
            <a:pPr indent="0" marL="0">
              <a:lnSpc>
                <a:spcPct val="150000"/>
              </a:lnSpc>
              <a:buNone/>
            </a:pPr>
            <a:r>
              <a:rPr lang="en-US" sz="1400" dirty="0">
                <a:solidFill>
                  <a:srgbClr val="B3B8CC"/>
                </a:solidFill>
                <a:latin typeface="Calibri" pitchFamily="34" charset="0"/>
                <a:ea typeface="Calibri" pitchFamily="34" charset="-122"/>
                <a:cs typeface="Calibri" pitchFamily="34" charset="-120"/>
              </a:rPr>
              <a:t>Physician-grade websites built for speed, conversion, and clinical credibility — with online scheduling, secure patient forms, and the kind of design that makes patients feel confident before they ever walk through the door.</a:t>
            </a:r>
            <a:endParaRPr lang="en-US" sz="1400" dirty="0"/>
          </a:p>
        </p:txBody>
      </p:sp>
      <p:sp>
        <p:nvSpPr>
          <p:cNvPr id="61" name="Shape 59"/>
          <p:cNvSpPr/>
          <p:nvPr/>
        </p:nvSpPr>
        <p:spPr>
          <a:xfrm>
            <a:off x="548640" y="3474720"/>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2" name="Shape 60"/>
          <p:cNvSpPr/>
          <p:nvPr/>
        </p:nvSpPr>
        <p:spPr>
          <a:xfrm>
            <a:off x="749808" y="3721608"/>
            <a:ext cx="164592" cy="164592"/>
          </a:xfrm>
          <a:prstGeom prst="ellipse">
            <a:avLst/>
          </a:prstGeom>
          <a:solidFill>
            <a:srgbClr val="1D9E75"/>
          </a:solidFill>
          <a:ln w="12700">
            <a:solidFill>
              <a:srgbClr val="1D9E75"/>
            </a:solidFill>
            <a:prstDash val="solid"/>
          </a:ln>
        </p:spPr>
      </p:sp>
      <p:sp>
        <p:nvSpPr>
          <p:cNvPr id="63" name="Text 61"/>
          <p:cNvSpPr/>
          <p:nvPr/>
        </p:nvSpPr>
        <p:spPr>
          <a:xfrm>
            <a:off x="1024128" y="356616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Sub-2-second mobile load times — tested on real devices, not just PageSpeed score</a:t>
            </a:r>
            <a:endParaRPr lang="en-US" sz="1250" dirty="0"/>
          </a:p>
        </p:txBody>
      </p:sp>
      <p:sp>
        <p:nvSpPr>
          <p:cNvPr id="64" name="Shape 62"/>
          <p:cNvSpPr/>
          <p:nvPr/>
        </p:nvSpPr>
        <p:spPr>
          <a:xfrm>
            <a:off x="548640" y="4261104"/>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749808" y="4507992"/>
            <a:ext cx="164592" cy="164592"/>
          </a:xfrm>
          <a:prstGeom prst="ellipse">
            <a:avLst/>
          </a:prstGeom>
          <a:solidFill>
            <a:srgbClr val="1D9E75"/>
          </a:solidFill>
          <a:ln w="12700">
            <a:solidFill>
              <a:srgbClr val="1D9E75"/>
            </a:solidFill>
            <a:prstDash val="solid"/>
          </a:ln>
        </p:spPr>
      </p:sp>
      <p:sp>
        <p:nvSpPr>
          <p:cNvPr id="66" name="Text 64"/>
          <p:cNvSpPr/>
          <p:nvPr/>
        </p:nvSpPr>
        <p:spPr>
          <a:xfrm>
            <a:off x="1024128" y="420624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Online scheduling integration — Zocdoc, Athena, eClinicalWorks, and custom portals</a:t>
            </a:r>
            <a:endParaRPr lang="en-US" sz="1250" dirty="0"/>
          </a:p>
        </p:txBody>
      </p:sp>
      <p:sp>
        <p:nvSpPr>
          <p:cNvPr id="67" name="Shape 65"/>
          <p:cNvSpPr/>
          <p:nvPr/>
        </p:nvSpPr>
        <p:spPr>
          <a:xfrm>
            <a:off x="548640" y="5047488"/>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8" name="Shape 66"/>
          <p:cNvSpPr/>
          <p:nvPr/>
        </p:nvSpPr>
        <p:spPr>
          <a:xfrm>
            <a:off x="749808" y="5294376"/>
            <a:ext cx="164592" cy="164592"/>
          </a:xfrm>
          <a:prstGeom prst="ellipse">
            <a:avLst/>
          </a:prstGeom>
          <a:solidFill>
            <a:srgbClr val="1D9E75"/>
          </a:solidFill>
          <a:ln w="12700">
            <a:solidFill>
              <a:srgbClr val="1D9E75"/>
            </a:solidFill>
            <a:prstDash val="solid"/>
          </a:ln>
        </p:spPr>
      </p:sp>
      <p:sp>
        <p:nvSpPr>
          <p:cNvPr id="69" name="Text 67"/>
          <p:cNvSpPr/>
          <p:nvPr/>
        </p:nvSpPr>
        <p:spPr>
          <a:xfrm>
            <a:off x="1024128" y="484632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Secure HIPAA-compliant patient intake forms — no unencrypted email</a:t>
            </a:r>
            <a:endParaRPr lang="en-US" sz="1250" dirty="0"/>
          </a:p>
        </p:txBody>
      </p:sp>
      <p:sp>
        <p:nvSpPr>
          <p:cNvPr id="70" name="Shape 68"/>
          <p:cNvSpPr/>
          <p:nvPr/>
        </p:nvSpPr>
        <p:spPr>
          <a:xfrm>
            <a:off x="548640" y="5833872"/>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1" name="Shape 69"/>
          <p:cNvSpPr/>
          <p:nvPr/>
        </p:nvSpPr>
        <p:spPr>
          <a:xfrm>
            <a:off x="749808" y="6080760"/>
            <a:ext cx="164592" cy="164592"/>
          </a:xfrm>
          <a:prstGeom prst="ellipse">
            <a:avLst/>
          </a:prstGeom>
          <a:solidFill>
            <a:srgbClr val="1D9E75"/>
          </a:solidFill>
          <a:ln w="12700">
            <a:solidFill>
              <a:srgbClr val="1D9E75"/>
            </a:solidFill>
            <a:prstDash val="solid"/>
          </a:ln>
        </p:spPr>
      </p:sp>
      <p:sp>
        <p:nvSpPr>
          <p:cNvPr id="72" name="Text 70"/>
          <p:cNvSpPr/>
          <p:nvPr/>
        </p:nvSpPr>
        <p:spPr>
          <a:xfrm>
            <a:off x="1024128" y="548640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Condition and procedure pages built for both patients and search engines</a:t>
            </a:r>
            <a:endParaRPr lang="en-US" sz="1250" dirty="0"/>
          </a:p>
        </p:txBody>
      </p:sp>
      <p:sp>
        <p:nvSpPr>
          <p:cNvPr id="73" name="Shape 71"/>
          <p:cNvSpPr/>
          <p:nvPr/>
        </p:nvSpPr>
        <p:spPr>
          <a:xfrm>
            <a:off x="548640" y="6620256"/>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4" name="Shape 72"/>
          <p:cNvSpPr/>
          <p:nvPr/>
        </p:nvSpPr>
        <p:spPr>
          <a:xfrm>
            <a:off x="749808" y="6867144"/>
            <a:ext cx="164592" cy="164592"/>
          </a:xfrm>
          <a:prstGeom prst="ellipse">
            <a:avLst/>
          </a:prstGeom>
          <a:solidFill>
            <a:srgbClr val="1D9E75"/>
          </a:solidFill>
          <a:ln w="12700">
            <a:solidFill>
              <a:srgbClr val="1D9E75"/>
            </a:solidFill>
            <a:prstDash val="solid"/>
          </a:ln>
        </p:spPr>
      </p:sp>
      <p:sp>
        <p:nvSpPr>
          <p:cNvPr id="75" name="Text 73"/>
          <p:cNvSpPr/>
          <p:nvPr/>
        </p:nvSpPr>
        <p:spPr>
          <a:xfrm>
            <a:off x="1024128" y="612648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ADA accessibility compliance — required for healthcare providers under OCR guidance</a:t>
            </a:r>
            <a:endParaRPr lang="en-US" sz="1250" dirty="0"/>
          </a:p>
        </p:txBody>
      </p:sp>
      <p:sp>
        <p:nvSpPr>
          <p:cNvPr id="76" name="Shape 74"/>
          <p:cNvSpPr/>
          <p:nvPr/>
        </p:nvSpPr>
        <p:spPr>
          <a:xfrm>
            <a:off x="6858000" y="2011680"/>
            <a:ext cx="4846320" cy="4389120"/>
          </a:xfrm>
          <a:prstGeom prst="roundRect">
            <a:avLst>
              <a:gd name="adj" fmla="val 2917"/>
            </a:avLst>
          </a:prstGeom>
          <a:solidFill>
            <a:srgbClr val="161D32"/>
          </a:solidFill>
          <a:ln w="15240">
            <a:solidFill>
              <a:srgbClr val="1D9E75">
                <a:alpha val="50000"/>
              </a:srgbClr>
            </a:solidFill>
            <a:prstDash val="solid"/>
          </a:ln>
          <a:effectLst>
            <a:outerShdw sx="100000" sy="100000" kx="0" ky="0" algn="bl" rotWithShape="0" blurRad="127000" dist="38100" dir="2700000">
              <a:srgbClr val="000000">
                <a:alpha val="22000"/>
              </a:srgbClr>
            </a:outerShdw>
          </a:effectLst>
        </p:spPr>
      </p:sp>
      <p:sp>
        <p:nvSpPr>
          <p:cNvPr id="77" name="Text 75"/>
          <p:cNvSpPr/>
          <p:nvPr/>
        </p:nvSpPr>
        <p:spPr>
          <a:xfrm>
            <a:off x="7086600" y="2212848"/>
            <a:ext cx="4389120" cy="274320"/>
          </a:xfrm>
          <a:prstGeom prst="rect">
            <a:avLst/>
          </a:prstGeom>
          <a:noFill/>
          <a:ln/>
        </p:spPr>
        <p:txBody>
          <a:bodyPr wrap="square" rtlCol="0" anchor="ctr"/>
          <a:lstStyle/>
          <a:p>
            <a:pPr indent="0" marL="0">
              <a:buNone/>
            </a:pPr>
            <a:r>
              <a:rPr lang="en-US" sz="900" b="1" spc="200" kern="0" dirty="0">
                <a:solidFill>
                  <a:srgbClr val="1D9E75"/>
                </a:solidFill>
                <a:latin typeface="Calibri" pitchFamily="34" charset="0"/>
                <a:ea typeface="Calibri" pitchFamily="34" charset="-122"/>
                <a:cs typeface="Calibri" pitchFamily="34" charset="-120"/>
              </a:rPr>
              <a:t>THE RESULT</a:t>
            </a:r>
            <a:endParaRPr lang="en-US" sz="900" dirty="0"/>
          </a:p>
        </p:txBody>
      </p:sp>
      <p:sp>
        <p:nvSpPr>
          <p:cNvPr id="78" name="Text 76"/>
          <p:cNvSpPr/>
          <p:nvPr/>
        </p:nvSpPr>
        <p:spPr>
          <a:xfrm>
            <a:off x="7086600" y="2542032"/>
            <a:ext cx="4389120" cy="777240"/>
          </a:xfrm>
          <a:prstGeom prst="rect">
            <a:avLst/>
          </a:prstGeom>
          <a:noFill/>
          <a:ln/>
        </p:spPr>
        <p:txBody>
          <a:bodyPr wrap="square"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A website patients trust enough to book from immediately.</a:t>
            </a:r>
            <a:endParaRPr lang="en-US" sz="2000" dirty="0"/>
          </a:p>
        </p:txBody>
      </p:sp>
      <p:sp>
        <p:nvSpPr>
          <p:cNvPr id="79" name="Text 77"/>
          <p:cNvSpPr/>
          <p:nvPr/>
        </p:nvSpPr>
        <p:spPr>
          <a:xfrm>
            <a:off x="7086600" y="3401568"/>
            <a:ext cx="4389120" cy="1371600"/>
          </a:xfrm>
          <a:prstGeom prst="rect">
            <a:avLst/>
          </a:prstGeom>
          <a:noFill/>
          <a:ln/>
        </p:spPr>
        <p:txBody>
          <a:bodyPr wrap="square" rtlCol="0" anchor="ctr"/>
          <a:lstStyle/>
          <a:p>
            <a:pPr indent="0" marL="0">
              <a:lnSpc>
                <a:spcPct val="150000"/>
              </a:lnSpc>
              <a:buNone/>
            </a:pPr>
            <a:r>
              <a:rPr lang="en-US" sz="1250" dirty="0">
                <a:solidFill>
                  <a:srgbClr val="B3B8CC"/>
                </a:solidFill>
                <a:latin typeface="Calibri" pitchFamily="34" charset="0"/>
                <a:ea typeface="Calibri" pitchFamily="34" charset="-122"/>
                <a:cs typeface="Calibri" pitchFamily="34" charset="-120"/>
              </a:rPr>
              <a:t>Our practice websites average a 3.8x improvement in conversion rate from the previous site. When a patient can read about their condition, see physician credentials, and book an appointment in under 60 seconds — they do.</a:t>
            </a:r>
            <a:endParaRPr lang="en-US" sz="1250" dirty="0"/>
          </a:p>
        </p:txBody>
      </p:sp>
      <p:sp>
        <p:nvSpPr>
          <p:cNvPr id="80" name="Text 78"/>
          <p:cNvSpPr/>
          <p:nvPr/>
        </p:nvSpPr>
        <p:spPr>
          <a:xfrm>
            <a:off x="708660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3.8x</a:t>
            </a:r>
            <a:endParaRPr lang="en-US" sz="3600" dirty="0"/>
          </a:p>
        </p:txBody>
      </p:sp>
      <p:sp>
        <p:nvSpPr>
          <p:cNvPr id="81" name="Text 79"/>
          <p:cNvSpPr/>
          <p:nvPr/>
        </p:nvSpPr>
        <p:spPr>
          <a:xfrm>
            <a:off x="708660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avg conversion rate improvement</a:t>
            </a:r>
            <a:endParaRPr lang="en-US" sz="1000" dirty="0"/>
          </a:p>
        </p:txBody>
      </p:sp>
      <p:sp>
        <p:nvSpPr>
          <p:cNvPr id="82" name="Text 80"/>
          <p:cNvSpPr/>
          <p:nvPr/>
        </p:nvSpPr>
        <p:spPr>
          <a:xfrm>
            <a:off x="941832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&lt;2s</a:t>
            </a:r>
            <a:endParaRPr lang="en-US" sz="3600" dirty="0"/>
          </a:p>
        </p:txBody>
      </p:sp>
      <p:sp>
        <p:nvSpPr>
          <p:cNvPr id="83" name="Text 81"/>
          <p:cNvSpPr/>
          <p:nvPr/>
        </p:nvSpPr>
        <p:spPr>
          <a:xfrm>
            <a:off x="941832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mobile load time target</a:t>
            </a:r>
            <a:endParaRPr lang="en-US" sz="1000" dirty="0"/>
          </a:p>
        </p:txBody>
      </p:sp>
      <p:sp>
        <p:nvSpPr>
          <p:cNvPr id="84" name="Shape 82"/>
          <p:cNvSpPr/>
          <p:nvPr/>
        </p:nvSpPr>
        <p:spPr>
          <a:xfrm>
            <a:off x="548640" y="6473952"/>
            <a:ext cx="2743200" cy="320040"/>
          </a:xfrm>
          <a:prstGeom prst="roundRect">
            <a:avLst>
              <a:gd name="adj" fmla="val 57143"/>
            </a:avLst>
          </a:prstGeom>
          <a:solidFill>
            <a:srgbClr val="E8604F"/>
          </a:solidFill>
          <a:ln/>
        </p:spPr>
      </p:sp>
      <p:sp>
        <p:nvSpPr>
          <p:cNvPr id="85" name="Text 83"/>
          <p:cNvSpPr/>
          <p:nvPr/>
        </p:nvSpPr>
        <p:spPr>
          <a:xfrm>
            <a:off x="548640" y="6473952"/>
            <a:ext cx="27432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 Practice Audit  →</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CC2936">
              <a:alpha val="12000"/>
            </a:srgbClr>
          </a:solidFill>
          <a:ln w="12700">
            <a:solidFill>
              <a:srgbClr val="CC2936">
                <a:alpha val="12000"/>
              </a:srgbClr>
            </a:solidFill>
            <a:prstDash val="solid"/>
          </a:ln>
        </p:spPr>
      </p:sp>
      <p:sp>
        <p:nvSpPr>
          <p:cNvPr id="57" name="Shape 55"/>
          <p:cNvSpPr/>
          <p:nvPr/>
        </p:nvSpPr>
        <p:spPr>
          <a:xfrm>
            <a:off x="-1371600" y="-914400"/>
            <a:ext cx="4114800" cy="4114800"/>
          </a:xfrm>
          <a:prstGeom prst="ellipse">
            <a:avLst/>
          </a:prstGeom>
          <a:solidFill>
            <a:srgbClr val="CC2936">
              <a:alpha val="12000"/>
            </a:srgbClr>
          </a:solidFill>
          <a:ln w="12700">
            <a:solidFill>
              <a:srgbClr val="CC2936">
                <a:alpha val="12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CC2936"/>
                </a:solidFill>
                <a:latin typeface="Calibri" pitchFamily="34" charset="0"/>
                <a:ea typeface="Calibri" pitchFamily="34" charset="-122"/>
                <a:cs typeface="Calibri" pitchFamily="34" charset="-120"/>
              </a:rPr>
              <a:t>PAIN POINT 06  ·  IT INFRASTRUCTURE</a:t>
            </a:r>
            <a:endParaRPr lang="en-US" sz="900" dirty="0"/>
          </a:p>
        </p:txBody>
      </p:sp>
      <p:sp>
        <p:nvSpPr>
          <p:cNvPr id="59" name="Text 57"/>
          <p:cNvSpPr/>
          <p:nvPr/>
        </p:nvSpPr>
        <p:spPr>
          <a:xfrm>
            <a:off x="548640" y="658368"/>
            <a:ext cx="7132320" cy="164592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Your IT is held together</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with duct tape and prayers.</a:t>
            </a:r>
            <a:endParaRPr lang="en-US" sz="3400" dirty="0"/>
          </a:p>
        </p:txBody>
      </p:sp>
      <p:sp>
        <p:nvSpPr>
          <p:cNvPr id="60" name="Shape 58"/>
          <p:cNvSpPr/>
          <p:nvPr/>
        </p:nvSpPr>
        <p:spPr>
          <a:xfrm>
            <a:off x="548640" y="2514600"/>
            <a:ext cx="6858000" cy="1371600"/>
          </a:xfrm>
          <a:prstGeom prst="roundRect">
            <a:avLst>
              <a:gd name="adj" fmla="val 9333"/>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1" name="Text 59"/>
          <p:cNvSpPr/>
          <p:nvPr/>
        </p:nvSpPr>
        <p:spPr>
          <a:xfrm>
            <a:off x="777240" y="2560320"/>
            <a:ext cx="548640" cy="731520"/>
          </a:xfrm>
          <a:prstGeom prst="rect">
            <a:avLst/>
          </a:prstGeom>
          <a:noFill/>
          <a:ln/>
        </p:spPr>
        <p:txBody>
          <a:bodyPr wrap="square" rtlCol="0" anchor="ctr"/>
          <a:lstStyle/>
          <a:p>
            <a:pPr indent="0" marL="0">
              <a:buNone/>
            </a:pPr>
            <a:r>
              <a:rPr lang="en-US" sz="4400" dirty="0">
                <a:solidFill>
                  <a:srgbClr val="CC2936"/>
                </a:solidFill>
                <a:latin typeface="Cambria" pitchFamily="34" charset="0"/>
                <a:ea typeface="Cambria" pitchFamily="34" charset="-122"/>
                <a:cs typeface="Cambria" pitchFamily="34" charset="-120"/>
              </a:rPr>
              <a:t>“</a:t>
            </a:r>
            <a:endParaRPr lang="en-US" sz="4400" dirty="0"/>
          </a:p>
        </p:txBody>
      </p:sp>
      <p:sp>
        <p:nvSpPr>
          <p:cNvPr id="62" name="Text 60"/>
          <p:cNvSpPr/>
          <p:nvPr/>
        </p:nvSpPr>
        <p:spPr>
          <a:xfrm>
            <a:off x="1280160" y="2679192"/>
            <a:ext cx="5943600" cy="1005840"/>
          </a:xfrm>
          <a:prstGeom prst="rect">
            <a:avLst/>
          </a:prstGeom>
          <a:noFill/>
          <a:ln/>
        </p:spPr>
        <p:txBody>
          <a:bodyPr wrap="square" rtlCol="0" anchor="ctr"/>
          <a:lstStyle/>
          <a:p>
            <a:pPr indent="0" marL="0">
              <a:lnSpc>
                <a:spcPct val="140000"/>
              </a:lnSpc>
              <a:buNone/>
            </a:pPr>
            <a:r>
              <a:rPr lang="en-US" sz="1400" i="1" dirty="0">
                <a:solidFill>
                  <a:srgbClr val="FFFFFF"/>
                </a:solidFill>
                <a:latin typeface="Cambria" pitchFamily="34" charset="0"/>
                <a:ea typeface="Cambria" pitchFamily="34" charset="-122"/>
                <a:cs typeface="Cambria" pitchFamily="34" charset="-120"/>
              </a:rPr>
              <a:t>Our server went down on a Tuesday morning and we couldn't access patient records for 4 hours. Nobody knew who to call. We lost half a day of appointments.</a:t>
            </a:r>
            <a:endParaRPr lang="en-US" sz="1400" dirty="0"/>
          </a:p>
        </p:txBody>
      </p:sp>
      <p:sp>
        <p:nvSpPr>
          <p:cNvPr id="63" name="Text 61"/>
          <p:cNvSpPr/>
          <p:nvPr/>
        </p:nvSpPr>
        <p:spPr>
          <a:xfrm>
            <a:off x="1280160" y="3630168"/>
            <a:ext cx="5943600" cy="228600"/>
          </a:xfrm>
          <a:prstGeom prst="rect">
            <a:avLst/>
          </a:prstGeom>
          <a:noFill/>
          <a:ln/>
        </p:spPr>
        <p:txBody>
          <a:bodyPr wrap="square" rtlCol="0" anchor="ctr"/>
          <a:lstStyle/>
          <a:p>
            <a:pPr indent="0" marL="0">
              <a:buNone/>
            </a:pPr>
            <a:r>
              <a:rPr lang="en-US" sz="1000" dirty="0">
                <a:solidFill>
                  <a:srgbClr val="666E8A"/>
                </a:solidFill>
                <a:latin typeface="Calibri" pitchFamily="34" charset="0"/>
                <a:ea typeface="Calibri" pitchFamily="34" charset="-122"/>
                <a:cs typeface="Calibri" pitchFamily="34" charset="-120"/>
              </a:rPr>
              <a:t>— Practice Administrator, Cardiology Group</a:t>
            </a:r>
            <a:endParaRPr lang="en-US" sz="1000" dirty="0"/>
          </a:p>
        </p:txBody>
      </p:sp>
      <p:sp>
        <p:nvSpPr>
          <p:cNvPr id="64" name="Shape 62"/>
          <p:cNvSpPr/>
          <p:nvPr/>
        </p:nvSpPr>
        <p:spPr>
          <a:xfrm>
            <a:off x="7863840" y="347472"/>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8065008" y="530352"/>
            <a:ext cx="274320" cy="274320"/>
          </a:xfrm>
          <a:prstGeom prst="ellipse">
            <a:avLst/>
          </a:prstGeom>
          <a:solidFill>
            <a:srgbClr val="CC2936"/>
          </a:solidFill>
          <a:ln w="12700">
            <a:solidFill>
              <a:srgbClr val="CC2936"/>
            </a:solidFill>
            <a:prstDash val="solid"/>
          </a:ln>
        </p:spPr>
      </p:sp>
      <p:sp>
        <p:nvSpPr>
          <p:cNvPr id="66" name="Text 64"/>
          <p:cNvSpPr/>
          <p:nvPr/>
        </p:nvSpPr>
        <p:spPr>
          <a:xfrm>
            <a:off x="8412480" y="493776"/>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Downtime costs $9,000 per hour</a:t>
            </a:r>
            <a:endParaRPr lang="en-US" sz="1200" dirty="0"/>
          </a:p>
        </p:txBody>
      </p:sp>
      <p:sp>
        <p:nvSpPr>
          <p:cNvPr id="67" name="Text 65"/>
          <p:cNvSpPr/>
          <p:nvPr/>
        </p:nvSpPr>
        <p:spPr>
          <a:xfrm>
            <a:off x="8065008" y="960120"/>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Industry estimates put healthcare IT downtime at $5,000 to $9,000 per hour in lost productivity, appointments, and staff time — before you count patient trust damage.</a:t>
            </a:r>
            <a:endParaRPr lang="en-US" sz="1100" dirty="0"/>
          </a:p>
        </p:txBody>
      </p:sp>
      <p:sp>
        <p:nvSpPr>
          <p:cNvPr id="68" name="Shape 66"/>
          <p:cNvSpPr/>
          <p:nvPr/>
        </p:nvSpPr>
        <p:spPr>
          <a:xfrm>
            <a:off x="7863840" y="2468880"/>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9" name="Shape 67"/>
          <p:cNvSpPr/>
          <p:nvPr/>
        </p:nvSpPr>
        <p:spPr>
          <a:xfrm>
            <a:off x="8065008" y="2651760"/>
            <a:ext cx="274320" cy="274320"/>
          </a:xfrm>
          <a:prstGeom prst="ellipse">
            <a:avLst/>
          </a:prstGeom>
          <a:solidFill>
            <a:srgbClr val="CC2936"/>
          </a:solidFill>
          <a:ln w="12700">
            <a:solidFill>
              <a:srgbClr val="CC2936"/>
            </a:solidFill>
            <a:prstDash val="solid"/>
          </a:ln>
        </p:spPr>
      </p:sp>
      <p:sp>
        <p:nvSpPr>
          <p:cNvPr id="70" name="Text 68"/>
          <p:cNvSpPr/>
          <p:nvPr/>
        </p:nvSpPr>
        <p:spPr>
          <a:xfrm>
            <a:off x="8412480" y="2615184"/>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Legacy systems create security holes</a:t>
            </a:r>
            <a:endParaRPr lang="en-US" sz="1200" dirty="0"/>
          </a:p>
        </p:txBody>
      </p:sp>
      <p:sp>
        <p:nvSpPr>
          <p:cNvPr id="71" name="Text 69"/>
          <p:cNvSpPr/>
          <p:nvPr/>
        </p:nvSpPr>
        <p:spPr>
          <a:xfrm>
            <a:off x="8065008" y="3081528"/>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Unpatched software, shared passwords, and consumer-grade routers in a clinical environment are HIPAA violations waiting to happen.</a:t>
            </a:r>
            <a:endParaRPr lang="en-US" sz="1100" dirty="0"/>
          </a:p>
        </p:txBody>
      </p:sp>
      <p:sp>
        <p:nvSpPr>
          <p:cNvPr id="72" name="Shape 70"/>
          <p:cNvSpPr/>
          <p:nvPr/>
        </p:nvSpPr>
        <p:spPr>
          <a:xfrm>
            <a:off x="7863840" y="4590288"/>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3" name="Shape 71"/>
          <p:cNvSpPr/>
          <p:nvPr/>
        </p:nvSpPr>
        <p:spPr>
          <a:xfrm>
            <a:off x="8065008" y="4773168"/>
            <a:ext cx="274320" cy="274320"/>
          </a:xfrm>
          <a:prstGeom prst="ellipse">
            <a:avLst/>
          </a:prstGeom>
          <a:solidFill>
            <a:srgbClr val="CC2936"/>
          </a:solidFill>
          <a:ln w="12700">
            <a:solidFill>
              <a:srgbClr val="CC2936"/>
            </a:solidFill>
            <a:prstDash val="solid"/>
          </a:ln>
        </p:spPr>
      </p:sp>
      <p:sp>
        <p:nvSpPr>
          <p:cNvPr id="74" name="Text 72"/>
          <p:cNvSpPr/>
          <p:nvPr/>
        </p:nvSpPr>
        <p:spPr>
          <a:xfrm>
            <a:off x="8412480" y="4736592"/>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Your IT vendor doesn't know healthcare</a:t>
            </a:r>
            <a:endParaRPr lang="en-US" sz="1200" dirty="0"/>
          </a:p>
        </p:txBody>
      </p:sp>
      <p:sp>
        <p:nvSpPr>
          <p:cNvPr id="75" name="Text 73"/>
          <p:cNvSpPr/>
          <p:nvPr/>
        </p:nvSpPr>
        <p:spPr>
          <a:xfrm>
            <a:off x="8065008" y="5202936"/>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The break-fix IT company you use is probably great at fixing laptops. They have no idea what a BAA is, let alone DICOM or HL7 integration requirements.</a:t>
            </a:r>
            <a:endParaRPr lang="en-US" sz="1100" dirty="0"/>
          </a:p>
        </p:txBody>
      </p:sp>
      <p:sp>
        <p:nvSpPr>
          <p:cNvPr id="76" name="Text 74"/>
          <p:cNvSpPr/>
          <p:nvPr/>
        </p:nvSpPr>
        <p:spPr>
          <a:xfrm>
            <a:off x="548640" y="4069080"/>
            <a:ext cx="3200400" cy="1097280"/>
          </a:xfrm>
          <a:prstGeom prst="rect">
            <a:avLst/>
          </a:prstGeom>
          <a:noFill/>
          <a:ln/>
        </p:spPr>
        <p:txBody>
          <a:bodyPr wrap="square" rtlCol="0" anchor="ctr"/>
          <a:lstStyle/>
          <a:p>
            <a:pPr indent="0" marL="0">
              <a:buNone/>
            </a:pPr>
            <a:r>
              <a:rPr lang="en-US" sz="6400" b="1" dirty="0">
                <a:solidFill>
                  <a:srgbClr val="CC2936"/>
                </a:solidFill>
                <a:latin typeface="Cambria" pitchFamily="34" charset="0"/>
                <a:ea typeface="Cambria" pitchFamily="34" charset="-122"/>
                <a:cs typeface="Cambria" pitchFamily="34" charset="-120"/>
              </a:rPr>
              <a:t>$9K</a:t>
            </a:r>
            <a:endParaRPr lang="en-US" sz="6400" dirty="0"/>
          </a:p>
        </p:txBody>
      </p:sp>
      <p:sp>
        <p:nvSpPr>
          <p:cNvPr id="77" name="Text 75"/>
          <p:cNvSpPr/>
          <p:nvPr/>
        </p:nvSpPr>
        <p:spPr>
          <a:xfrm>
            <a:off x="548640" y="5074920"/>
            <a:ext cx="5029200" cy="457200"/>
          </a:xfrm>
          <a:prstGeom prst="rect">
            <a:avLst/>
          </a:prstGeom>
          <a:noFill/>
          <a:ln/>
        </p:spPr>
        <p:txBody>
          <a:bodyPr wrap="square" rtlCol="0" anchor="ctr"/>
          <a:lstStyle/>
          <a:p>
            <a:pPr indent="0" marL="0">
              <a:buNone/>
            </a:pPr>
            <a:r>
              <a:rPr lang="en-US" sz="1200" dirty="0">
                <a:solidFill>
                  <a:srgbClr val="B3B8CC"/>
                </a:solidFill>
                <a:latin typeface="Calibri" pitchFamily="34" charset="0"/>
                <a:ea typeface="Calibri" pitchFamily="34" charset="-122"/>
                <a:cs typeface="Calibri" pitchFamily="34" charset="-120"/>
              </a:rPr>
              <a:t>average cost of IT downtime per hour in healthcare</a:t>
            </a:r>
            <a:endParaRPr lang="en-US" sz="1200" dirty="0"/>
          </a:p>
        </p:txBody>
      </p:sp>
      <p:sp>
        <p:nvSpPr>
          <p:cNvPr id="78" name="Text 76"/>
          <p:cNvSpPr/>
          <p:nvPr/>
        </p:nvSpPr>
        <p:spPr>
          <a:xfrm>
            <a:off x="548640" y="6492240"/>
            <a:ext cx="8229600" cy="256032"/>
          </a:xfrm>
          <a:prstGeom prst="rect">
            <a:avLst/>
          </a:prstGeom>
          <a:noFill/>
          <a:ln/>
        </p:spPr>
        <p:txBody>
          <a:bodyPr wrap="square" rtlCol="0" anchor="ctr"/>
          <a:lstStyle/>
          <a:p>
            <a:pPr indent="0" marL="0">
              <a:buNone/>
            </a:pPr>
            <a:r>
              <a:rPr lang="en-US" sz="1000" i="1" dirty="0">
                <a:solidFill>
                  <a:srgbClr val="666E8A"/>
                </a:solidFill>
                <a:latin typeface="Calibri" pitchFamily="34" charset="0"/>
                <a:ea typeface="Calibri" pitchFamily="34" charset="-122"/>
                <a:cs typeface="Calibri" pitchFamily="34" charset="-120"/>
              </a:rPr>
              <a:t>Sound familiar?  →  See how Ensemble solves this on the next slide.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1D9E75">
              <a:alpha val="12000"/>
            </a:srgbClr>
          </a:solidFill>
          <a:ln w="12700">
            <a:solidFill>
              <a:srgbClr val="1D9E75">
                <a:alpha val="12000"/>
              </a:srgbClr>
            </a:solidFill>
            <a:prstDash val="solid"/>
          </a:ln>
        </p:spPr>
      </p:sp>
      <p:sp>
        <p:nvSpPr>
          <p:cNvPr id="57" name="Shape 55"/>
          <p:cNvSpPr/>
          <p:nvPr/>
        </p:nvSpPr>
        <p:spPr>
          <a:xfrm>
            <a:off x="8229600" y="2743200"/>
            <a:ext cx="4572000" cy="4572000"/>
          </a:xfrm>
          <a:prstGeom prst="ellipse">
            <a:avLst/>
          </a:prstGeom>
          <a:solidFill>
            <a:srgbClr val="1D9E75">
              <a:alpha val="13000"/>
            </a:srgbClr>
          </a:solidFill>
          <a:ln w="12700">
            <a:solidFill>
              <a:srgbClr val="1D9E75">
                <a:alpha val="13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1D9E75"/>
                </a:solidFill>
                <a:latin typeface="Calibri" pitchFamily="34" charset="0"/>
                <a:ea typeface="Calibri" pitchFamily="34" charset="-122"/>
                <a:cs typeface="Calibri" pitchFamily="34" charset="-120"/>
              </a:rPr>
              <a:t>ENSEMBLE SOLUTION  ·  IT INFRASTRUCTURE</a:t>
            </a:r>
            <a:endParaRPr lang="en-US" sz="900" dirty="0"/>
          </a:p>
        </p:txBody>
      </p:sp>
      <p:sp>
        <p:nvSpPr>
          <p:cNvPr id="59" name="Text 57"/>
          <p:cNvSpPr/>
          <p:nvPr/>
        </p:nvSpPr>
        <p:spPr>
          <a:xfrm>
            <a:off x="548640" y="658368"/>
            <a:ext cx="7772400" cy="146304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Clinical-grade IT that</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your staff never has to think about.</a:t>
            </a:r>
            <a:endParaRPr lang="en-US" sz="3400" dirty="0"/>
          </a:p>
        </p:txBody>
      </p:sp>
      <p:sp>
        <p:nvSpPr>
          <p:cNvPr id="60" name="Text 58"/>
          <p:cNvSpPr/>
          <p:nvPr/>
        </p:nvSpPr>
        <p:spPr>
          <a:xfrm>
            <a:off x="548640" y="2286000"/>
            <a:ext cx="6035040" cy="1005840"/>
          </a:xfrm>
          <a:prstGeom prst="rect">
            <a:avLst/>
          </a:prstGeom>
          <a:noFill/>
          <a:ln/>
        </p:spPr>
        <p:txBody>
          <a:bodyPr wrap="square" rtlCol="0" anchor="ctr"/>
          <a:lstStyle/>
          <a:p>
            <a:pPr indent="0" marL="0">
              <a:lnSpc>
                <a:spcPct val="150000"/>
              </a:lnSpc>
              <a:buNone/>
            </a:pPr>
            <a:r>
              <a:rPr lang="en-US" sz="1400" dirty="0">
                <a:solidFill>
                  <a:srgbClr val="B3B8CC"/>
                </a:solidFill>
                <a:latin typeface="Calibri" pitchFamily="34" charset="0"/>
                <a:ea typeface="Calibri" pitchFamily="34" charset="-122"/>
                <a:cs typeface="Calibri" pitchFamily="34" charset="-120"/>
              </a:rPr>
              <a:t>Secure, compliant, redundant IT infrastructure designed specifically for clinical environments — from physical network setup to cloud data environments — with a team that understands HIPAA, DICOM, and EHR integration from day one.</a:t>
            </a:r>
            <a:endParaRPr lang="en-US" sz="1400" dirty="0"/>
          </a:p>
        </p:txBody>
      </p:sp>
      <p:sp>
        <p:nvSpPr>
          <p:cNvPr id="61" name="Shape 59"/>
          <p:cNvSpPr/>
          <p:nvPr/>
        </p:nvSpPr>
        <p:spPr>
          <a:xfrm>
            <a:off x="548640" y="3474720"/>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2" name="Shape 60"/>
          <p:cNvSpPr/>
          <p:nvPr/>
        </p:nvSpPr>
        <p:spPr>
          <a:xfrm>
            <a:off x="749808" y="3721608"/>
            <a:ext cx="164592" cy="164592"/>
          </a:xfrm>
          <a:prstGeom prst="ellipse">
            <a:avLst/>
          </a:prstGeom>
          <a:solidFill>
            <a:srgbClr val="1D9E75"/>
          </a:solidFill>
          <a:ln w="12700">
            <a:solidFill>
              <a:srgbClr val="1D9E75"/>
            </a:solidFill>
            <a:prstDash val="solid"/>
          </a:ln>
        </p:spPr>
      </p:sp>
      <p:sp>
        <p:nvSpPr>
          <p:cNvPr id="63" name="Text 61"/>
          <p:cNvSpPr/>
          <p:nvPr/>
        </p:nvSpPr>
        <p:spPr>
          <a:xfrm>
            <a:off x="1024128" y="356616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Full network infrastructure design — VLAN segmentation for clinical vs. admin vs. guest</a:t>
            </a:r>
            <a:endParaRPr lang="en-US" sz="1250" dirty="0"/>
          </a:p>
        </p:txBody>
      </p:sp>
      <p:sp>
        <p:nvSpPr>
          <p:cNvPr id="64" name="Shape 62"/>
          <p:cNvSpPr/>
          <p:nvPr/>
        </p:nvSpPr>
        <p:spPr>
          <a:xfrm>
            <a:off x="548640" y="4261104"/>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749808" y="4507992"/>
            <a:ext cx="164592" cy="164592"/>
          </a:xfrm>
          <a:prstGeom prst="ellipse">
            <a:avLst/>
          </a:prstGeom>
          <a:solidFill>
            <a:srgbClr val="1D9E75"/>
          </a:solidFill>
          <a:ln w="12700">
            <a:solidFill>
              <a:srgbClr val="1D9E75"/>
            </a:solidFill>
            <a:prstDash val="solid"/>
          </a:ln>
        </p:spPr>
      </p:sp>
      <p:sp>
        <p:nvSpPr>
          <p:cNvPr id="66" name="Text 64"/>
          <p:cNvSpPr/>
          <p:nvPr/>
        </p:nvSpPr>
        <p:spPr>
          <a:xfrm>
            <a:off x="1024128" y="420624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HIPAA security risk assessment — required annually, usually never done</a:t>
            </a:r>
            <a:endParaRPr lang="en-US" sz="1250" dirty="0"/>
          </a:p>
        </p:txBody>
      </p:sp>
      <p:sp>
        <p:nvSpPr>
          <p:cNvPr id="67" name="Shape 65"/>
          <p:cNvSpPr/>
          <p:nvPr/>
        </p:nvSpPr>
        <p:spPr>
          <a:xfrm>
            <a:off x="548640" y="5047488"/>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8" name="Shape 66"/>
          <p:cNvSpPr/>
          <p:nvPr/>
        </p:nvSpPr>
        <p:spPr>
          <a:xfrm>
            <a:off x="749808" y="5294376"/>
            <a:ext cx="164592" cy="164592"/>
          </a:xfrm>
          <a:prstGeom prst="ellipse">
            <a:avLst/>
          </a:prstGeom>
          <a:solidFill>
            <a:srgbClr val="1D9E75"/>
          </a:solidFill>
          <a:ln w="12700">
            <a:solidFill>
              <a:srgbClr val="1D9E75"/>
            </a:solidFill>
            <a:prstDash val="solid"/>
          </a:ln>
        </p:spPr>
      </p:sp>
      <p:sp>
        <p:nvSpPr>
          <p:cNvPr id="69" name="Text 67"/>
          <p:cNvSpPr/>
          <p:nvPr/>
        </p:nvSpPr>
        <p:spPr>
          <a:xfrm>
            <a:off x="1024128" y="484632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Managed endpoints — patching, monitoring, and remote remediation 24/7</a:t>
            </a:r>
            <a:endParaRPr lang="en-US" sz="1250" dirty="0"/>
          </a:p>
        </p:txBody>
      </p:sp>
      <p:sp>
        <p:nvSpPr>
          <p:cNvPr id="70" name="Shape 68"/>
          <p:cNvSpPr/>
          <p:nvPr/>
        </p:nvSpPr>
        <p:spPr>
          <a:xfrm>
            <a:off x="548640" y="5833872"/>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1" name="Shape 69"/>
          <p:cNvSpPr/>
          <p:nvPr/>
        </p:nvSpPr>
        <p:spPr>
          <a:xfrm>
            <a:off x="749808" y="6080760"/>
            <a:ext cx="164592" cy="164592"/>
          </a:xfrm>
          <a:prstGeom prst="ellipse">
            <a:avLst/>
          </a:prstGeom>
          <a:solidFill>
            <a:srgbClr val="1D9E75"/>
          </a:solidFill>
          <a:ln w="12700">
            <a:solidFill>
              <a:srgbClr val="1D9E75"/>
            </a:solidFill>
            <a:prstDash val="solid"/>
          </a:ln>
        </p:spPr>
      </p:sp>
      <p:sp>
        <p:nvSpPr>
          <p:cNvPr id="72" name="Text 70"/>
          <p:cNvSpPr/>
          <p:nvPr/>
        </p:nvSpPr>
        <p:spPr>
          <a:xfrm>
            <a:off x="1024128" y="548640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DICOM imaging workflow and PACS connectivity for specialty practices</a:t>
            </a:r>
            <a:endParaRPr lang="en-US" sz="1250" dirty="0"/>
          </a:p>
        </p:txBody>
      </p:sp>
      <p:sp>
        <p:nvSpPr>
          <p:cNvPr id="73" name="Shape 71"/>
          <p:cNvSpPr/>
          <p:nvPr/>
        </p:nvSpPr>
        <p:spPr>
          <a:xfrm>
            <a:off x="548640" y="6620256"/>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4" name="Shape 72"/>
          <p:cNvSpPr/>
          <p:nvPr/>
        </p:nvSpPr>
        <p:spPr>
          <a:xfrm>
            <a:off x="749808" y="6867144"/>
            <a:ext cx="164592" cy="164592"/>
          </a:xfrm>
          <a:prstGeom prst="ellipse">
            <a:avLst/>
          </a:prstGeom>
          <a:solidFill>
            <a:srgbClr val="1D9E75"/>
          </a:solidFill>
          <a:ln w="12700">
            <a:solidFill>
              <a:srgbClr val="1D9E75"/>
            </a:solidFill>
            <a:prstDash val="solid"/>
          </a:ln>
        </p:spPr>
      </p:sp>
      <p:sp>
        <p:nvSpPr>
          <p:cNvPr id="75" name="Text 73"/>
          <p:cNvSpPr/>
          <p:nvPr/>
        </p:nvSpPr>
        <p:spPr>
          <a:xfrm>
            <a:off x="1024128" y="612648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EHR integration support — connectivity, APIs, and data flow optimization</a:t>
            </a:r>
            <a:endParaRPr lang="en-US" sz="1250" dirty="0"/>
          </a:p>
        </p:txBody>
      </p:sp>
      <p:sp>
        <p:nvSpPr>
          <p:cNvPr id="76" name="Shape 74"/>
          <p:cNvSpPr/>
          <p:nvPr/>
        </p:nvSpPr>
        <p:spPr>
          <a:xfrm>
            <a:off x="6858000" y="2011680"/>
            <a:ext cx="4846320" cy="4389120"/>
          </a:xfrm>
          <a:prstGeom prst="roundRect">
            <a:avLst>
              <a:gd name="adj" fmla="val 2917"/>
            </a:avLst>
          </a:prstGeom>
          <a:solidFill>
            <a:srgbClr val="161D32"/>
          </a:solidFill>
          <a:ln w="15240">
            <a:solidFill>
              <a:srgbClr val="1D9E75">
                <a:alpha val="50000"/>
              </a:srgbClr>
            </a:solidFill>
            <a:prstDash val="solid"/>
          </a:ln>
          <a:effectLst>
            <a:outerShdw sx="100000" sy="100000" kx="0" ky="0" algn="bl" rotWithShape="0" blurRad="127000" dist="38100" dir="2700000">
              <a:srgbClr val="000000">
                <a:alpha val="22000"/>
              </a:srgbClr>
            </a:outerShdw>
          </a:effectLst>
        </p:spPr>
      </p:sp>
      <p:sp>
        <p:nvSpPr>
          <p:cNvPr id="77" name="Text 75"/>
          <p:cNvSpPr/>
          <p:nvPr/>
        </p:nvSpPr>
        <p:spPr>
          <a:xfrm>
            <a:off x="7086600" y="2212848"/>
            <a:ext cx="4389120" cy="274320"/>
          </a:xfrm>
          <a:prstGeom prst="rect">
            <a:avLst/>
          </a:prstGeom>
          <a:noFill/>
          <a:ln/>
        </p:spPr>
        <p:txBody>
          <a:bodyPr wrap="square" rtlCol="0" anchor="ctr"/>
          <a:lstStyle/>
          <a:p>
            <a:pPr indent="0" marL="0">
              <a:buNone/>
            </a:pPr>
            <a:r>
              <a:rPr lang="en-US" sz="900" b="1" spc="200" kern="0" dirty="0">
                <a:solidFill>
                  <a:srgbClr val="1D9E75"/>
                </a:solidFill>
                <a:latin typeface="Calibri" pitchFamily="34" charset="0"/>
                <a:ea typeface="Calibri" pitchFamily="34" charset="-122"/>
                <a:cs typeface="Calibri" pitchFamily="34" charset="-120"/>
              </a:rPr>
              <a:t>THE RESULT</a:t>
            </a:r>
            <a:endParaRPr lang="en-US" sz="900" dirty="0"/>
          </a:p>
        </p:txBody>
      </p:sp>
      <p:sp>
        <p:nvSpPr>
          <p:cNvPr id="78" name="Text 76"/>
          <p:cNvSpPr/>
          <p:nvPr/>
        </p:nvSpPr>
        <p:spPr>
          <a:xfrm>
            <a:off x="7086600" y="2542032"/>
            <a:ext cx="4389120" cy="777240"/>
          </a:xfrm>
          <a:prstGeom prst="rect">
            <a:avLst/>
          </a:prstGeom>
          <a:noFill/>
          <a:ln/>
        </p:spPr>
        <p:txBody>
          <a:bodyPr wrap="square"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No more emergency calls on Tuesday mornings.</a:t>
            </a:r>
            <a:endParaRPr lang="en-US" sz="2000" dirty="0"/>
          </a:p>
        </p:txBody>
      </p:sp>
      <p:sp>
        <p:nvSpPr>
          <p:cNvPr id="79" name="Text 77"/>
          <p:cNvSpPr/>
          <p:nvPr/>
        </p:nvSpPr>
        <p:spPr>
          <a:xfrm>
            <a:off x="7086600" y="3401568"/>
            <a:ext cx="4389120" cy="1371600"/>
          </a:xfrm>
          <a:prstGeom prst="rect">
            <a:avLst/>
          </a:prstGeom>
          <a:noFill/>
          <a:ln/>
        </p:spPr>
        <p:txBody>
          <a:bodyPr wrap="square" rtlCol="0" anchor="ctr"/>
          <a:lstStyle/>
          <a:p>
            <a:pPr indent="0" marL="0">
              <a:lnSpc>
                <a:spcPct val="150000"/>
              </a:lnSpc>
              <a:buNone/>
            </a:pPr>
            <a:r>
              <a:rPr lang="en-US" sz="1250" dirty="0">
                <a:solidFill>
                  <a:srgbClr val="B3B8CC"/>
                </a:solidFill>
                <a:latin typeface="Calibri" pitchFamily="34" charset="0"/>
                <a:ea typeface="Calibri" pitchFamily="34" charset="-122"/>
                <a:cs typeface="Calibri" pitchFamily="34" charset="-120"/>
              </a:rPr>
              <a:t>Proactive monitoring catches 90% of issues before they cause downtime. Our practices run on infrastructure designed for clinical workloads — with the security documentation to satisfy any OCR audit.</a:t>
            </a:r>
            <a:endParaRPr lang="en-US" sz="1250" dirty="0"/>
          </a:p>
        </p:txBody>
      </p:sp>
      <p:sp>
        <p:nvSpPr>
          <p:cNvPr id="80" name="Text 78"/>
          <p:cNvSpPr/>
          <p:nvPr/>
        </p:nvSpPr>
        <p:spPr>
          <a:xfrm>
            <a:off x="708660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99.9%</a:t>
            </a:r>
            <a:endParaRPr lang="en-US" sz="3600" dirty="0"/>
          </a:p>
        </p:txBody>
      </p:sp>
      <p:sp>
        <p:nvSpPr>
          <p:cNvPr id="81" name="Text 79"/>
          <p:cNvSpPr/>
          <p:nvPr/>
        </p:nvSpPr>
        <p:spPr>
          <a:xfrm>
            <a:off x="708660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uptime target for managed clients</a:t>
            </a:r>
            <a:endParaRPr lang="en-US" sz="1000" dirty="0"/>
          </a:p>
        </p:txBody>
      </p:sp>
      <p:sp>
        <p:nvSpPr>
          <p:cNvPr id="82" name="Text 80"/>
          <p:cNvSpPr/>
          <p:nvPr/>
        </p:nvSpPr>
        <p:spPr>
          <a:xfrm>
            <a:off x="941832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24/7</a:t>
            </a:r>
            <a:endParaRPr lang="en-US" sz="3600" dirty="0"/>
          </a:p>
        </p:txBody>
      </p:sp>
      <p:sp>
        <p:nvSpPr>
          <p:cNvPr id="83" name="Text 81"/>
          <p:cNvSpPr/>
          <p:nvPr/>
        </p:nvSpPr>
        <p:spPr>
          <a:xfrm>
            <a:off x="941832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monitoring and alerting</a:t>
            </a:r>
            <a:endParaRPr lang="en-US" sz="1000" dirty="0"/>
          </a:p>
        </p:txBody>
      </p:sp>
      <p:sp>
        <p:nvSpPr>
          <p:cNvPr id="84" name="Shape 82"/>
          <p:cNvSpPr/>
          <p:nvPr/>
        </p:nvSpPr>
        <p:spPr>
          <a:xfrm>
            <a:off x="548640" y="6473952"/>
            <a:ext cx="2743200" cy="320040"/>
          </a:xfrm>
          <a:prstGeom prst="roundRect">
            <a:avLst>
              <a:gd name="adj" fmla="val 57143"/>
            </a:avLst>
          </a:prstGeom>
          <a:solidFill>
            <a:srgbClr val="E8604F"/>
          </a:solidFill>
          <a:ln/>
        </p:spPr>
      </p:sp>
      <p:sp>
        <p:nvSpPr>
          <p:cNvPr id="85" name="Text 83"/>
          <p:cNvSpPr/>
          <p:nvPr/>
        </p:nvSpPr>
        <p:spPr>
          <a:xfrm>
            <a:off x="548640" y="6473952"/>
            <a:ext cx="27432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 Practice Audit  →</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CC2936">
              <a:alpha val="12000"/>
            </a:srgbClr>
          </a:solidFill>
          <a:ln w="12700">
            <a:solidFill>
              <a:srgbClr val="CC2936">
                <a:alpha val="12000"/>
              </a:srgbClr>
            </a:solidFill>
            <a:prstDash val="solid"/>
          </a:ln>
        </p:spPr>
      </p:sp>
      <p:sp>
        <p:nvSpPr>
          <p:cNvPr id="57" name="Shape 55"/>
          <p:cNvSpPr/>
          <p:nvPr/>
        </p:nvSpPr>
        <p:spPr>
          <a:xfrm>
            <a:off x="-1371600" y="-914400"/>
            <a:ext cx="4114800" cy="4114800"/>
          </a:xfrm>
          <a:prstGeom prst="ellipse">
            <a:avLst/>
          </a:prstGeom>
          <a:solidFill>
            <a:srgbClr val="CC2936">
              <a:alpha val="12000"/>
            </a:srgbClr>
          </a:solidFill>
          <a:ln w="12700">
            <a:solidFill>
              <a:srgbClr val="CC2936">
                <a:alpha val="12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CC2936"/>
                </a:solidFill>
                <a:latin typeface="Calibri" pitchFamily="34" charset="0"/>
                <a:ea typeface="Calibri" pitchFamily="34" charset="-122"/>
                <a:cs typeface="Calibri" pitchFamily="34" charset="-120"/>
              </a:rPr>
              <a:t>PAIN POINT 07  ·  WORKFLOW &amp; AUTOMATION</a:t>
            </a:r>
            <a:endParaRPr lang="en-US" sz="900" dirty="0"/>
          </a:p>
        </p:txBody>
      </p:sp>
      <p:sp>
        <p:nvSpPr>
          <p:cNvPr id="59" name="Text 57"/>
          <p:cNvSpPr/>
          <p:nvPr/>
        </p:nvSpPr>
        <p:spPr>
          <a:xfrm>
            <a:off x="548640" y="658368"/>
            <a:ext cx="7132320" cy="164592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Your staff is drowning</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in tasks a computer should handle.</a:t>
            </a:r>
            <a:endParaRPr lang="en-US" sz="3400" dirty="0"/>
          </a:p>
        </p:txBody>
      </p:sp>
      <p:sp>
        <p:nvSpPr>
          <p:cNvPr id="60" name="Shape 58"/>
          <p:cNvSpPr/>
          <p:nvPr/>
        </p:nvSpPr>
        <p:spPr>
          <a:xfrm>
            <a:off x="548640" y="2514600"/>
            <a:ext cx="6858000" cy="1371600"/>
          </a:xfrm>
          <a:prstGeom prst="roundRect">
            <a:avLst>
              <a:gd name="adj" fmla="val 9333"/>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1" name="Text 59"/>
          <p:cNvSpPr/>
          <p:nvPr/>
        </p:nvSpPr>
        <p:spPr>
          <a:xfrm>
            <a:off x="777240" y="2560320"/>
            <a:ext cx="548640" cy="731520"/>
          </a:xfrm>
          <a:prstGeom prst="rect">
            <a:avLst/>
          </a:prstGeom>
          <a:noFill/>
          <a:ln/>
        </p:spPr>
        <p:txBody>
          <a:bodyPr wrap="square" rtlCol="0" anchor="ctr"/>
          <a:lstStyle/>
          <a:p>
            <a:pPr indent="0" marL="0">
              <a:buNone/>
            </a:pPr>
            <a:r>
              <a:rPr lang="en-US" sz="4400" dirty="0">
                <a:solidFill>
                  <a:srgbClr val="CC2936"/>
                </a:solidFill>
                <a:latin typeface="Cambria" pitchFamily="34" charset="0"/>
                <a:ea typeface="Cambria" pitchFamily="34" charset="-122"/>
                <a:cs typeface="Cambria" pitchFamily="34" charset="-120"/>
              </a:rPr>
              <a:t>“</a:t>
            </a:r>
            <a:endParaRPr lang="en-US" sz="4400" dirty="0"/>
          </a:p>
        </p:txBody>
      </p:sp>
      <p:sp>
        <p:nvSpPr>
          <p:cNvPr id="62" name="Text 60"/>
          <p:cNvSpPr/>
          <p:nvPr/>
        </p:nvSpPr>
        <p:spPr>
          <a:xfrm>
            <a:off x="1280160" y="2679192"/>
            <a:ext cx="5943600" cy="1005840"/>
          </a:xfrm>
          <a:prstGeom prst="rect">
            <a:avLst/>
          </a:prstGeom>
          <a:noFill/>
          <a:ln/>
        </p:spPr>
        <p:txBody>
          <a:bodyPr wrap="square" rtlCol="0" anchor="ctr"/>
          <a:lstStyle/>
          <a:p>
            <a:pPr indent="0" marL="0">
              <a:lnSpc>
                <a:spcPct val="140000"/>
              </a:lnSpc>
              <a:buNone/>
            </a:pPr>
            <a:r>
              <a:rPr lang="en-US" sz="1400" i="1" dirty="0">
                <a:solidFill>
                  <a:srgbClr val="FFFFFF"/>
                </a:solidFill>
                <a:latin typeface="Cambria" pitchFamily="34" charset="0"/>
                <a:ea typeface="Cambria" pitchFamily="34" charset="-122"/>
                <a:cs typeface="Cambria" pitchFamily="34" charset="-120"/>
              </a:rPr>
              <a:t>My front desk team spends 3 hours a day on appointment reminders, insurance verification calls, and sending follow-up forms manually. I can't afford to hire another person just for that.</a:t>
            </a:r>
            <a:endParaRPr lang="en-US" sz="1400" dirty="0"/>
          </a:p>
        </p:txBody>
      </p:sp>
      <p:sp>
        <p:nvSpPr>
          <p:cNvPr id="63" name="Text 61"/>
          <p:cNvSpPr/>
          <p:nvPr/>
        </p:nvSpPr>
        <p:spPr>
          <a:xfrm>
            <a:off x="1280160" y="3630168"/>
            <a:ext cx="5943600" cy="228600"/>
          </a:xfrm>
          <a:prstGeom prst="rect">
            <a:avLst/>
          </a:prstGeom>
          <a:noFill/>
          <a:ln/>
        </p:spPr>
        <p:txBody>
          <a:bodyPr wrap="square" rtlCol="0" anchor="ctr"/>
          <a:lstStyle/>
          <a:p>
            <a:pPr indent="0" marL="0">
              <a:buNone/>
            </a:pPr>
            <a:r>
              <a:rPr lang="en-US" sz="1000" dirty="0">
                <a:solidFill>
                  <a:srgbClr val="666E8A"/>
                </a:solidFill>
                <a:latin typeface="Calibri" pitchFamily="34" charset="0"/>
                <a:ea typeface="Calibri" pitchFamily="34" charset="-122"/>
                <a:cs typeface="Calibri" pitchFamily="34" charset="-120"/>
              </a:rPr>
              <a:t>— Practice Owner, Primary Care Group</a:t>
            </a:r>
            <a:endParaRPr lang="en-US" sz="1000" dirty="0"/>
          </a:p>
        </p:txBody>
      </p:sp>
      <p:sp>
        <p:nvSpPr>
          <p:cNvPr id="64" name="Shape 62"/>
          <p:cNvSpPr/>
          <p:nvPr/>
        </p:nvSpPr>
        <p:spPr>
          <a:xfrm>
            <a:off x="7863840" y="347472"/>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8065008" y="530352"/>
            <a:ext cx="274320" cy="274320"/>
          </a:xfrm>
          <a:prstGeom prst="ellipse">
            <a:avLst/>
          </a:prstGeom>
          <a:solidFill>
            <a:srgbClr val="CC2936"/>
          </a:solidFill>
          <a:ln w="12700">
            <a:solidFill>
              <a:srgbClr val="CC2936"/>
            </a:solidFill>
            <a:prstDash val="solid"/>
          </a:ln>
        </p:spPr>
      </p:sp>
      <p:sp>
        <p:nvSpPr>
          <p:cNvPr id="66" name="Text 64"/>
          <p:cNvSpPr/>
          <p:nvPr/>
        </p:nvSpPr>
        <p:spPr>
          <a:xfrm>
            <a:off x="8412480" y="493776"/>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Manual tasks create burnout</a:t>
            </a:r>
            <a:endParaRPr lang="en-US" sz="1200" dirty="0"/>
          </a:p>
        </p:txBody>
      </p:sp>
      <p:sp>
        <p:nvSpPr>
          <p:cNvPr id="67" name="Text 65"/>
          <p:cNvSpPr/>
          <p:nvPr/>
        </p:nvSpPr>
        <p:spPr>
          <a:xfrm>
            <a:off x="8065008" y="960120"/>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Administrative burden is the top driver of healthcare staff turnover. Your best people are leaving because they spend all day on work that should be automated.</a:t>
            </a:r>
            <a:endParaRPr lang="en-US" sz="1100" dirty="0"/>
          </a:p>
        </p:txBody>
      </p:sp>
      <p:sp>
        <p:nvSpPr>
          <p:cNvPr id="68" name="Shape 66"/>
          <p:cNvSpPr/>
          <p:nvPr/>
        </p:nvSpPr>
        <p:spPr>
          <a:xfrm>
            <a:off x="7863840" y="2468880"/>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9" name="Shape 67"/>
          <p:cNvSpPr/>
          <p:nvPr/>
        </p:nvSpPr>
        <p:spPr>
          <a:xfrm>
            <a:off x="8065008" y="2651760"/>
            <a:ext cx="274320" cy="274320"/>
          </a:xfrm>
          <a:prstGeom prst="ellipse">
            <a:avLst/>
          </a:prstGeom>
          <a:solidFill>
            <a:srgbClr val="CC2936"/>
          </a:solidFill>
          <a:ln w="12700">
            <a:solidFill>
              <a:srgbClr val="CC2936"/>
            </a:solidFill>
            <a:prstDash val="solid"/>
          </a:ln>
        </p:spPr>
      </p:sp>
      <p:sp>
        <p:nvSpPr>
          <p:cNvPr id="70" name="Text 68"/>
          <p:cNvSpPr/>
          <p:nvPr/>
        </p:nvSpPr>
        <p:spPr>
          <a:xfrm>
            <a:off x="8412480" y="2615184"/>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Human error in scheduling is costly</a:t>
            </a:r>
            <a:endParaRPr lang="en-US" sz="1200" dirty="0"/>
          </a:p>
        </p:txBody>
      </p:sp>
      <p:sp>
        <p:nvSpPr>
          <p:cNvPr id="71" name="Text 69"/>
          <p:cNvSpPr/>
          <p:nvPr/>
        </p:nvSpPr>
        <p:spPr>
          <a:xfrm>
            <a:off x="8065008" y="3081528"/>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Double bookings, missed reminders, and no-shows from poor follow-up cost the average practice $150,000+ per year in lost appointments.</a:t>
            </a:r>
            <a:endParaRPr lang="en-US" sz="1100" dirty="0"/>
          </a:p>
        </p:txBody>
      </p:sp>
      <p:sp>
        <p:nvSpPr>
          <p:cNvPr id="72" name="Shape 70"/>
          <p:cNvSpPr/>
          <p:nvPr/>
        </p:nvSpPr>
        <p:spPr>
          <a:xfrm>
            <a:off x="7863840" y="4590288"/>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3" name="Shape 71"/>
          <p:cNvSpPr/>
          <p:nvPr/>
        </p:nvSpPr>
        <p:spPr>
          <a:xfrm>
            <a:off x="8065008" y="4773168"/>
            <a:ext cx="274320" cy="274320"/>
          </a:xfrm>
          <a:prstGeom prst="ellipse">
            <a:avLst/>
          </a:prstGeom>
          <a:solidFill>
            <a:srgbClr val="CC2936"/>
          </a:solidFill>
          <a:ln w="12700">
            <a:solidFill>
              <a:srgbClr val="CC2936"/>
            </a:solidFill>
            <a:prstDash val="solid"/>
          </a:ln>
        </p:spPr>
      </p:sp>
      <p:sp>
        <p:nvSpPr>
          <p:cNvPr id="74" name="Text 72"/>
          <p:cNvSpPr/>
          <p:nvPr/>
        </p:nvSpPr>
        <p:spPr>
          <a:xfrm>
            <a:off x="8412480" y="4736592"/>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Prior auth is eating your revenue cycle</a:t>
            </a:r>
            <a:endParaRPr lang="en-US" sz="1200" dirty="0"/>
          </a:p>
        </p:txBody>
      </p:sp>
      <p:sp>
        <p:nvSpPr>
          <p:cNvPr id="75" name="Text 73"/>
          <p:cNvSpPr/>
          <p:nvPr/>
        </p:nvSpPr>
        <p:spPr>
          <a:xfrm>
            <a:off x="8065008" y="5202936"/>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Practices spend an average of 16 hours per week on prior authorization. That's two full-time employees doing a task that AI can handle in seconds.</a:t>
            </a:r>
            <a:endParaRPr lang="en-US" sz="1100" dirty="0"/>
          </a:p>
        </p:txBody>
      </p:sp>
      <p:sp>
        <p:nvSpPr>
          <p:cNvPr id="76" name="Text 74"/>
          <p:cNvSpPr/>
          <p:nvPr/>
        </p:nvSpPr>
        <p:spPr>
          <a:xfrm>
            <a:off x="548640" y="4069080"/>
            <a:ext cx="3200400" cy="1097280"/>
          </a:xfrm>
          <a:prstGeom prst="rect">
            <a:avLst/>
          </a:prstGeom>
          <a:noFill/>
          <a:ln/>
        </p:spPr>
        <p:txBody>
          <a:bodyPr wrap="square" rtlCol="0" anchor="ctr"/>
          <a:lstStyle/>
          <a:p>
            <a:pPr indent="0" marL="0">
              <a:buNone/>
            </a:pPr>
            <a:r>
              <a:rPr lang="en-US" sz="6400" b="1" dirty="0">
                <a:solidFill>
                  <a:srgbClr val="CC2936"/>
                </a:solidFill>
                <a:latin typeface="Cambria" pitchFamily="34" charset="0"/>
                <a:ea typeface="Cambria" pitchFamily="34" charset="-122"/>
                <a:cs typeface="Cambria" pitchFamily="34" charset="-120"/>
              </a:rPr>
              <a:t>16hrs</a:t>
            </a:r>
            <a:endParaRPr lang="en-US" sz="6400" dirty="0"/>
          </a:p>
        </p:txBody>
      </p:sp>
      <p:sp>
        <p:nvSpPr>
          <p:cNvPr id="77" name="Text 75"/>
          <p:cNvSpPr/>
          <p:nvPr/>
        </p:nvSpPr>
        <p:spPr>
          <a:xfrm>
            <a:off x="548640" y="5074920"/>
            <a:ext cx="5029200" cy="457200"/>
          </a:xfrm>
          <a:prstGeom prst="rect">
            <a:avLst/>
          </a:prstGeom>
          <a:noFill/>
          <a:ln/>
        </p:spPr>
        <p:txBody>
          <a:bodyPr wrap="square" rtlCol="0" anchor="ctr"/>
          <a:lstStyle/>
          <a:p>
            <a:pPr indent="0" marL="0">
              <a:buNone/>
            </a:pPr>
            <a:r>
              <a:rPr lang="en-US" sz="1200" dirty="0">
                <a:solidFill>
                  <a:srgbClr val="B3B8CC"/>
                </a:solidFill>
                <a:latin typeface="Calibri" pitchFamily="34" charset="0"/>
                <a:ea typeface="Calibri" pitchFamily="34" charset="-122"/>
                <a:cs typeface="Calibri" pitchFamily="34" charset="-120"/>
              </a:rPr>
              <a:t>per week lost to prior authorization alone — per practice</a:t>
            </a:r>
            <a:endParaRPr lang="en-US" sz="1200" dirty="0"/>
          </a:p>
        </p:txBody>
      </p:sp>
      <p:sp>
        <p:nvSpPr>
          <p:cNvPr id="78" name="Text 76"/>
          <p:cNvSpPr/>
          <p:nvPr/>
        </p:nvSpPr>
        <p:spPr>
          <a:xfrm>
            <a:off x="548640" y="6492240"/>
            <a:ext cx="8229600" cy="256032"/>
          </a:xfrm>
          <a:prstGeom prst="rect">
            <a:avLst/>
          </a:prstGeom>
          <a:noFill/>
          <a:ln/>
        </p:spPr>
        <p:txBody>
          <a:bodyPr wrap="square" rtlCol="0" anchor="ctr"/>
          <a:lstStyle/>
          <a:p>
            <a:pPr indent="0" marL="0">
              <a:buNone/>
            </a:pPr>
            <a:r>
              <a:rPr lang="en-US" sz="1000" i="1" dirty="0">
                <a:solidFill>
                  <a:srgbClr val="666E8A"/>
                </a:solidFill>
                <a:latin typeface="Calibri" pitchFamily="34" charset="0"/>
                <a:ea typeface="Calibri" pitchFamily="34" charset="-122"/>
                <a:cs typeface="Calibri" pitchFamily="34" charset="-120"/>
              </a:rPr>
              <a:t>Sound familiar?  →  See how Ensemble solves this on the next slide.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1D9E75">
              <a:alpha val="12000"/>
            </a:srgbClr>
          </a:solidFill>
          <a:ln w="12700">
            <a:solidFill>
              <a:srgbClr val="1D9E75">
                <a:alpha val="12000"/>
              </a:srgbClr>
            </a:solidFill>
            <a:prstDash val="solid"/>
          </a:ln>
        </p:spPr>
      </p:sp>
      <p:sp>
        <p:nvSpPr>
          <p:cNvPr id="57" name="Shape 55"/>
          <p:cNvSpPr/>
          <p:nvPr/>
        </p:nvSpPr>
        <p:spPr>
          <a:xfrm>
            <a:off x="8229600" y="2743200"/>
            <a:ext cx="4572000" cy="4572000"/>
          </a:xfrm>
          <a:prstGeom prst="ellipse">
            <a:avLst/>
          </a:prstGeom>
          <a:solidFill>
            <a:srgbClr val="1D9E75">
              <a:alpha val="13000"/>
            </a:srgbClr>
          </a:solidFill>
          <a:ln w="12700">
            <a:solidFill>
              <a:srgbClr val="1D9E75">
                <a:alpha val="13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1D9E75"/>
                </a:solidFill>
                <a:latin typeface="Calibri" pitchFamily="34" charset="0"/>
                <a:ea typeface="Calibri" pitchFamily="34" charset="-122"/>
                <a:cs typeface="Calibri" pitchFamily="34" charset="-120"/>
              </a:rPr>
              <a:t>ENSEMBLE SOLUTION  ·  WORKFLOW &amp; AUTOMATION</a:t>
            </a:r>
            <a:endParaRPr lang="en-US" sz="900" dirty="0"/>
          </a:p>
        </p:txBody>
      </p:sp>
      <p:sp>
        <p:nvSpPr>
          <p:cNvPr id="59" name="Text 57"/>
          <p:cNvSpPr/>
          <p:nvPr/>
        </p:nvSpPr>
        <p:spPr>
          <a:xfrm>
            <a:off x="548640" y="658368"/>
            <a:ext cx="7772400" cy="146304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Automate the work your</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best staff shouldn't be doing.</a:t>
            </a:r>
            <a:endParaRPr lang="en-US" sz="3400" dirty="0"/>
          </a:p>
        </p:txBody>
      </p:sp>
      <p:sp>
        <p:nvSpPr>
          <p:cNvPr id="60" name="Text 58"/>
          <p:cNvSpPr/>
          <p:nvPr/>
        </p:nvSpPr>
        <p:spPr>
          <a:xfrm>
            <a:off x="548640" y="2286000"/>
            <a:ext cx="6035040" cy="1005840"/>
          </a:xfrm>
          <a:prstGeom prst="rect">
            <a:avLst/>
          </a:prstGeom>
          <a:noFill/>
          <a:ln/>
        </p:spPr>
        <p:txBody>
          <a:bodyPr wrap="square" rtlCol="0" anchor="ctr"/>
          <a:lstStyle/>
          <a:p>
            <a:pPr indent="0" marL="0">
              <a:lnSpc>
                <a:spcPct val="150000"/>
              </a:lnSpc>
              <a:buNone/>
            </a:pPr>
            <a:r>
              <a:rPr lang="en-US" sz="1400" dirty="0">
                <a:solidFill>
                  <a:srgbClr val="B3B8CC"/>
                </a:solidFill>
                <a:latin typeface="Calibri" pitchFamily="34" charset="0"/>
                <a:ea typeface="Calibri" pitchFamily="34" charset="-122"/>
                <a:cs typeface="Calibri" pitchFamily="34" charset="-120"/>
              </a:rPr>
              <a:t>AI-powered workflow automation built around how your practice actually operates — from appointment reminders and intake forms to prior auth pre-screening and insurance eligibility checks. Your team focuses on patients. The system handles the rest.</a:t>
            </a:r>
            <a:endParaRPr lang="en-US" sz="1400" dirty="0"/>
          </a:p>
        </p:txBody>
      </p:sp>
      <p:sp>
        <p:nvSpPr>
          <p:cNvPr id="61" name="Shape 59"/>
          <p:cNvSpPr/>
          <p:nvPr/>
        </p:nvSpPr>
        <p:spPr>
          <a:xfrm>
            <a:off x="548640" y="3474720"/>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2" name="Shape 60"/>
          <p:cNvSpPr/>
          <p:nvPr/>
        </p:nvSpPr>
        <p:spPr>
          <a:xfrm>
            <a:off x="749808" y="3721608"/>
            <a:ext cx="164592" cy="164592"/>
          </a:xfrm>
          <a:prstGeom prst="ellipse">
            <a:avLst/>
          </a:prstGeom>
          <a:solidFill>
            <a:srgbClr val="1D9E75"/>
          </a:solidFill>
          <a:ln w="12700">
            <a:solidFill>
              <a:srgbClr val="1D9E75"/>
            </a:solidFill>
            <a:prstDash val="solid"/>
          </a:ln>
        </p:spPr>
      </p:sp>
      <p:sp>
        <p:nvSpPr>
          <p:cNvPr id="63" name="Text 61"/>
          <p:cNvSpPr/>
          <p:nvPr/>
        </p:nvSpPr>
        <p:spPr>
          <a:xfrm>
            <a:off x="1024128" y="356616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Automated appointment reminders via SMS, email, and voice — reduce no-shows by 40%</a:t>
            </a:r>
            <a:endParaRPr lang="en-US" sz="1250" dirty="0"/>
          </a:p>
        </p:txBody>
      </p:sp>
      <p:sp>
        <p:nvSpPr>
          <p:cNvPr id="64" name="Shape 62"/>
          <p:cNvSpPr/>
          <p:nvPr/>
        </p:nvSpPr>
        <p:spPr>
          <a:xfrm>
            <a:off x="548640" y="4261104"/>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749808" y="4507992"/>
            <a:ext cx="164592" cy="164592"/>
          </a:xfrm>
          <a:prstGeom prst="ellipse">
            <a:avLst/>
          </a:prstGeom>
          <a:solidFill>
            <a:srgbClr val="1D9E75"/>
          </a:solidFill>
          <a:ln w="12700">
            <a:solidFill>
              <a:srgbClr val="1D9E75"/>
            </a:solidFill>
            <a:prstDash val="solid"/>
          </a:ln>
        </p:spPr>
      </p:sp>
      <p:sp>
        <p:nvSpPr>
          <p:cNvPr id="66" name="Text 64"/>
          <p:cNvSpPr/>
          <p:nvPr/>
        </p:nvSpPr>
        <p:spPr>
          <a:xfrm>
            <a:off x="1024128" y="420624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Digital patient intake — forms completed before the appointment, not in the waiting room</a:t>
            </a:r>
            <a:endParaRPr lang="en-US" sz="1250" dirty="0"/>
          </a:p>
        </p:txBody>
      </p:sp>
      <p:sp>
        <p:nvSpPr>
          <p:cNvPr id="67" name="Shape 65"/>
          <p:cNvSpPr/>
          <p:nvPr/>
        </p:nvSpPr>
        <p:spPr>
          <a:xfrm>
            <a:off x="548640" y="5047488"/>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8" name="Shape 66"/>
          <p:cNvSpPr/>
          <p:nvPr/>
        </p:nvSpPr>
        <p:spPr>
          <a:xfrm>
            <a:off x="749808" y="5294376"/>
            <a:ext cx="164592" cy="164592"/>
          </a:xfrm>
          <a:prstGeom prst="ellipse">
            <a:avLst/>
          </a:prstGeom>
          <a:solidFill>
            <a:srgbClr val="1D9E75"/>
          </a:solidFill>
          <a:ln w="12700">
            <a:solidFill>
              <a:srgbClr val="1D9E75"/>
            </a:solidFill>
            <a:prstDash val="solid"/>
          </a:ln>
        </p:spPr>
      </p:sp>
      <p:sp>
        <p:nvSpPr>
          <p:cNvPr id="69" name="Text 67"/>
          <p:cNvSpPr/>
          <p:nvPr/>
        </p:nvSpPr>
        <p:spPr>
          <a:xfrm>
            <a:off x="1024128" y="484632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Prior auth pre-screening — AI checks eligibility and flags issues before submission</a:t>
            </a:r>
            <a:endParaRPr lang="en-US" sz="1250" dirty="0"/>
          </a:p>
        </p:txBody>
      </p:sp>
      <p:sp>
        <p:nvSpPr>
          <p:cNvPr id="70" name="Shape 68"/>
          <p:cNvSpPr/>
          <p:nvPr/>
        </p:nvSpPr>
        <p:spPr>
          <a:xfrm>
            <a:off x="548640" y="5833872"/>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1" name="Shape 69"/>
          <p:cNvSpPr/>
          <p:nvPr/>
        </p:nvSpPr>
        <p:spPr>
          <a:xfrm>
            <a:off x="749808" y="6080760"/>
            <a:ext cx="164592" cy="164592"/>
          </a:xfrm>
          <a:prstGeom prst="ellipse">
            <a:avLst/>
          </a:prstGeom>
          <a:solidFill>
            <a:srgbClr val="1D9E75"/>
          </a:solidFill>
          <a:ln w="12700">
            <a:solidFill>
              <a:srgbClr val="1D9E75"/>
            </a:solidFill>
            <a:prstDash val="solid"/>
          </a:ln>
        </p:spPr>
      </p:sp>
      <p:sp>
        <p:nvSpPr>
          <p:cNvPr id="72" name="Text 70"/>
          <p:cNvSpPr/>
          <p:nvPr/>
        </p:nvSpPr>
        <p:spPr>
          <a:xfrm>
            <a:off x="1024128" y="548640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Insurance verification automation — real-time eligibility before every appointment</a:t>
            </a:r>
            <a:endParaRPr lang="en-US" sz="1250" dirty="0"/>
          </a:p>
        </p:txBody>
      </p:sp>
      <p:sp>
        <p:nvSpPr>
          <p:cNvPr id="73" name="Shape 71"/>
          <p:cNvSpPr/>
          <p:nvPr/>
        </p:nvSpPr>
        <p:spPr>
          <a:xfrm>
            <a:off x="548640" y="6620256"/>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4" name="Shape 72"/>
          <p:cNvSpPr/>
          <p:nvPr/>
        </p:nvSpPr>
        <p:spPr>
          <a:xfrm>
            <a:off x="749808" y="6867144"/>
            <a:ext cx="164592" cy="164592"/>
          </a:xfrm>
          <a:prstGeom prst="ellipse">
            <a:avLst/>
          </a:prstGeom>
          <a:solidFill>
            <a:srgbClr val="1D9E75"/>
          </a:solidFill>
          <a:ln w="12700">
            <a:solidFill>
              <a:srgbClr val="1D9E75"/>
            </a:solidFill>
            <a:prstDash val="solid"/>
          </a:ln>
        </p:spPr>
      </p:sp>
      <p:sp>
        <p:nvSpPr>
          <p:cNvPr id="75" name="Text 73"/>
          <p:cNvSpPr/>
          <p:nvPr/>
        </p:nvSpPr>
        <p:spPr>
          <a:xfrm>
            <a:off x="1024128" y="612648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Custom workflow builder — designed around your actual process, not a template</a:t>
            </a:r>
            <a:endParaRPr lang="en-US" sz="1250" dirty="0"/>
          </a:p>
        </p:txBody>
      </p:sp>
      <p:sp>
        <p:nvSpPr>
          <p:cNvPr id="76" name="Shape 74"/>
          <p:cNvSpPr/>
          <p:nvPr/>
        </p:nvSpPr>
        <p:spPr>
          <a:xfrm>
            <a:off x="6858000" y="2011680"/>
            <a:ext cx="4846320" cy="4389120"/>
          </a:xfrm>
          <a:prstGeom prst="roundRect">
            <a:avLst>
              <a:gd name="adj" fmla="val 2917"/>
            </a:avLst>
          </a:prstGeom>
          <a:solidFill>
            <a:srgbClr val="161D32"/>
          </a:solidFill>
          <a:ln w="15240">
            <a:solidFill>
              <a:srgbClr val="1D9E75">
                <a:alpha val="50000"/>
              </a:srgbClr>
            </a:solidFill>
            <a:prstDash val="solid"/>
          </a:ln>
          <a:effectLst>
            <a:outerShdw sx="100000" sy="100000" kx="0" ky="0" algn="bl" rotWithShape="0" blurRad="127000" dist="38100" dir="2700000">
              <a:srgbClr val="000000">
                <a:alpha val="22000"/>
              </a:srgbClr>
            </a:outerShdw>
          </a:effectLst>
        </p:spPr>
      </p:sp>
      <p:sp>
        <p:nvSpPr>
          <p:cNvPr id="77" name="Text 75"/>
          <p:cNvSpPr/>
          <p:nvPr/>
        </p:nvSpPr>
        <p:spPr>
          <a:xfrm>
            <a:off x="7086600" y="2212848"/>
            <a:ext cx="4389120" cy="274320"/>
          </a:xfrm>
          <a:prstGeom prst="rect">
            <a:avLst/>
          </a:prstGeom>
          <a:noFill/>
          <a:ln/>
        </p:spPr>
        <p:txBody>
          <a:bodyPr wrap="square" rtlCol="0" anchor="ctr"/>
          <a:lstStyle/>
          <a:p>
            <a:pPr indent="0" marL="0">
              <a:buNone/>
            </a:pPr>
            <a:r>
              <a:rPr lang="en-US" sz="900" b="1" spc="200" kern="0" dirty="0">
                <a:solidFill>
                  <a:srgbClr val="1D9E75"/>
                </a:solidFill>
                <a:latin typeface="Calibri" pitchFamily="34" charset="0"/>
                <a:ea typeface="Calibri" pitchFamily="34" charset="-122"/>
                <a:cs typeface="Calibri" pitchFamily="34" charset="-120"/>
              </a:rPr>
              <a:t>THE RESULT</a:t>
            </a:r>
            <a:endParaRPr lang="en-US" sz="900" dirty="0"/>
          </a:p>
        </p:txBody>
      </p:sp>
      <p:sp>
        <p:nvSpPr>
          <p:cNvPr id="78" name="Text 76"/>
          <p:cNvSpPr/>
          <p:nvPr/>
        </p:nvSpPr>
        <p:spPr>
          <a:xfrm>
            <a:off x="7086600" y="2542032"/>
            <a:ext cx="4389120" cy="777240"/>
          </a:xfrm>
          <a:prstGeom prst="rect">
            <a:avLst/>
          </a:prstGeom>
          <a:noFill/>
          <a:ln/>
        </p:spPr>
        <p:txBody>
          <a:bodyPr wrap="square"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Save 20+ staff hours per week. Starting in week one.</a:t>
            </a:r>
            <a:endParaRPr lang="en-US" sz="2000" dirty="0"/>
          </a:p>
        </p:txBody>
      </p:sp>
      <p:sp>
        <p:nvSpPr>
          <p:cNvPr id="79" name="Text 77"/>
          <p:cNvSpPr/>
          <p:nvPr/>
        </p:nvSpPr>
        <p:spPr>
          <a:xfrm>
            <a:off x="7086600" y="3401568"/>
            <a:ext cx="4389120" cy="1371600"/>
          </a:xfrm>
          <a:prstGeom prst="rect">
            <a:avLst/>
          </a:prstGeom>
          <a:noFill/>
          <a:ln/>
        </p:spPr>
        <p:txBody>
          <a:bodyPr wrap="square" rtlCol="0" anchor="ctr"/>
          <a:lstStyle/>
          <a:p>
            <a:pPr indent="0" marL="0">
              <a:lnSpc>
                <a:spcPct val="150000"/>
              </a:lnSpc>
              <a:buNone/>
            </a:pPr>
            <a:r>
              <a:rPr lang="en-US" sz="1250" dirty="0">
                <a:solidFill>
                  <a:srgbClr val="B3B8CC"/>
                </a:solidFill>
                <a:latin typeface="Calibri" pitchFamily="34" charset="0"/>
                <a:ea typeface="Calibri" pitchFamily="34" charset="-122"/>
                <a:cs typeface="Calibri" pitchFamily="34" charset="-120"/>
              </a:rPr>
              <a:t>When we implement workflow automation for a practice, the average time reclaimed from manual administrative tasks is 20 to 30 hours per week. That's a full-time employee's worth of capacity — redirected to patient care.</a:t>
            </a:r>
            <a:endParaRPr lang="en-US" sz="1250" dirty="0"/>
          </a:p>
        </p:txBody>
      </p:sp>
      <p:sp>
        <p:nvSpPr>
          <p:cNvPr id="80" name="Text 78"/>
          <p:cNvSpPr/>
          <p:nvPr/>
        </p:nvSpPr>
        <p:spPr>
          <a:xfrm>
            <a:off x="708660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20+hrs</a:t>
            </a:r>
            <a:endParaRPr lang="en-US" sz="3600" dirty="0"/>
          </a:p>
        </p:txBody>
      </p:sp>
      <p:sp>
        <p:nvSpPr>
          <p:cNvPr id="81" name="Text 79"/>
          <p:cNvSpPr/>
          <p:nvPr/>
        </p:nvSpPr>
        <p:spPr>
          <a:xfrm>
            <a:off x="708660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saved per week per practice</a:t>
            </a:r>
            <a:endParaRPr lang="en-US" sz="1000" dirty="0"/>
          </a:p>
        </p:txBody>
      </p:sp>
      <p:sp>
        <p:nvSpPr>
          <p:cNvPr id="82" name="Text 80"/>
          <p:cNvSpPr/>
          <p:nvPr/>
        </p:nvSpPr>
        <p:spPr>
          <a:xfrm>
            <a:off x="941832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40%</a:t>
            </a:r>
            <a:endParaRPr lang="en-US" sz="3600" dirty="0"/>
          </a:p>
        </p:txBody>
      </p:sp>
      <p:sp>
        <p:nvSpPr>
          <p:cNvPr id="83" name="Text 81"/>
          <p:cNvSpPr/>
          <p:nvPr/>
        </p:nvSpPr>
        <p:spPr>
          <a:xfrm>
            <a:off x="941832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reduction in no-shows</a:t>
            </a:r>
            <a:endParaRPr lang="en-US" sz="1000" dirty="0"/>
          </a:p>
        </p:txBody>
      </p:sp>
      <p:sp>
        <p:nvSpPr>
          <p:cNvPr id="84" name="Shape 82"/>
          <p:cNvSpPr/>
          <p:nvPr/>
        </p:nvSpPr>
        <p:spPr>
          <a:xfrm>
            <a:off x="548640" y="6473952"/>
            <a:ext cx="2743200" cy="320040"/>
          </a:xfrm>
          <a:prstGeom prst="roundRect">
            <a:avLst>
              <a:gd name="adj" fmla="val 57143"/>
            </a:avLst>
          </a:prstGeom>
          <a:solidFill>
            <a:srgbClr val="E8604F"/>
          </a:solidFill>
          <a:ln/>
        </p:spPr>
      </p:sp>
      <p:sp>
        <p:nvSpPr>
          <p:cNvPr id="85" name="Text 83"/>
          <p:cNvSpPr/>
          <p:nvPr/>
        </p:nvSpPr>
        <p:spPr>
          <a:xfrm>
            <a:off x="548640" y="6473952"/>
            <a:ext cx="27432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 Practice Audit  →</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CC2936">
              <a:alpha val="12000"/>
            </a:srgbClr>
          </a:solidFill>
          <a:ln w="12700">
            <a:solidFill>
              <a:srgbClr val="CC2936">
                <a:alpha val="12000"/>
              </a:srgbClr>
            </a:solidFill>
            <a:prstDash val="solid"/>
          </a:ln>
        </p:spPr>
      </p:sp>
      <p:sp>
        <p:nvSpPr>
          <p:cNvPr id="57" name="Shape 55"/>
          <p:cNvSpPr/>
          <p:nvPr/>
        </p:nvSpPr>
        <p:spPr>
          <a:xfrm>
            <a:off x="-1371600" y="-914400"/>
            <a:ext cx="4114800" cy="4114800"/>
          </a:xfrm>
          <a:prstGeom prst="ellipse">
            <a:avLst/>
          </a:prstGeom>
          <a:solidFill>
            <a:srgbClr val="CC2936">
              <a:alpha val="12000"/>
            </a:srgbClr>
          </a:solidFill>
          <a:ln w="12700">
            <a:solidFill>
              <a:srgbClr val="CC2936">
                <a:alpha val="12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CC2936"/>
                </a:solidFill>
                <a:latin typeface="Calibri" pitchFamily="34" charset="0"/>
                <a:ea typeface="Calibri" pitchFamily="34" charset="-122"/>
                <a:cs typeface="Calibri" pitchFamily="34" charset="-120"/>
              </a:rPr>
              <a:t>PAIN POINT 08  ·  VENDOR FRAGMENTATION</a:t>
            </a:r>
            <a:endParaRPr lang="en-US" sz="900" dirty="0"/>
          </a:p>
        </p:txBody>
      </p:sp>
      <p:sp>
        <p:nvSpPr>
          <p:cNvPr id="59" name="Text 57"/>
          <p:cNvSpPr/>
          <p:nvPr/>
        </p:nvSpPr>
        <p:spPr>
          <a:xfrm>
            <a:off x="548640" y="658368"/>
            <a:ext cx="7132320" cy="164592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You manage 8 vendors.</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None of them talk to each other.</a:t>
            </a:r>
            <a:endParaRPr lang="en-US" sz="3400" dirty="0"/>
          </a:p>
        </p:txBody>
      </p:sp>
      <p:sp>
        <p:nvSpPr>
          <p:cNvPr id="60" name="Shape 58"/>
          <p:cNvSpPr/>
          <p:nvPr/>
        </p:nvSpPr>
        <p:spPr>
          <a:xfrm>
            <a:off x="548640" y="2514600"/>
            <a:ext cx="6858000" cy="1371600"/>
          </a:xfrm>
          <a:prstGeom prst="roundRect">
            <a:avLst>
              <a:gd name="adj" fmla="val 9333"/>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1" name="Text 59"/>
          <p:cNvSpPr/>
          <p:nvPr/>
        </p:nvSpPr>
        <p:spPr>
          <a:xfrm>
            <a:off x="777240" y="2560320"/>
            <a:ext cx="548640" cy="731520"/>
          </a:xfrm>
          <a:prstGeom prst="rect">
            <a:avLst/>
          </a:prstGeom>
          <a:noFill/>
          <a:ln/>
        </p:spPr>
        <p:txBody>
          <a:bodyPr wrap="square" rtlCol="0" anchor="ctr"/>
          <a:lstStyle/>
          <a:p>
            <a:pPr indent="0" marL="0">
              <a:buNone/>
            </a:pPr>
            <a:r>
              <a:rPr lang="en-US" sz="4400" dirty="0">
                <a:solidFill>
                  <a:srgbClr val="CC2936"/>
                </a:solidFill>
                <a:latin typeface="Cambria" pitchFamily="34" charset="0"/>
                <a:ea typeface="Cambria" pitchFamily="34" charset="-122"/>
                <a:cs typeface="Cambria" pitchFamily="34" charset="-120"/>
              </a:rPr>
              <a:t>“</a:t>
            </a:r>
            <a:endParaRPr lang="en-US" sz="4400" dirty="0"/>
          </a:p>
        </p:txBody>
      </p:sp>
      <p:sp>
        <p:nvSpPr>
          <p:cNvPr id="62" name="Text 60"/>
          <p:cNvSpPr/>
          <p:nvPr/>
        </p:nvSpPr>
        <p:spPr>
          <a:xfrm>
            <a:off x="1280160" y="2679192"/>
            <a:ext cx="5943600" cy="1005840"/>
          </a:xfrm>
          <a:prstGeom prst="rect">
            <a:avLst/>
          </a:prstGeom>
          <a:noFill/>
          <a:ln/>
        </p:spPr>
        <p:txBody>
          <a:bodyPr wrap="square" rtlCol="0" anchor="ctr"/>
          <a:lstStyle/>
          <a:p>
            <a:pPr indent="0" marL="0">
              <a:lnSpc>
                <a:spcPct val="140000"/>
              </a:lnSpc>
              <a:buNone/>
            </a:pPr>
            <a:r>
              <a:rPr lang="en-US" sz="1400" i="1" dirty="0">
                <a:solidFill>
                  <a:srgbClr val="FFFFFF"/>
                </a:solidFill>
                <a:latin typeface="Cambria" pitchFamily="34" charset="0"/>
                <a:ea typeface="Cambria" pitchFamily="34" charset="-122"/>
                <a:cs typeface="Cambria" pitchFamily="34" charset="-120"/>
              </a:rPr>
              <a:t>I have a separate company for my website, my SEO, my ads, my IT, my social media, and my phone system. When something breaks, everyone points at someone else.</a:t>
            </a:r>
            <a:endParaRPr lang="en-US" sz="1400" dirty="0"/>
          </a:p>
        </p:txBody>
      </p:sp>
      <p:sp>
        <p:nvSpPr>
          <p:cNvPr id="63" name="Text 61"/>
          <p:cNvSpPr/>
          <p:nvPr/>
        </p:nvSpPr>
        <p:spPr>
          <a:xfrm>
            <a:off x="1280160" y="3630168"/>
            <a:ext cx="5943600" cy="228600"/>
          </a:xfrm>
          <a:prstGeom prst="rect">
            <a:avLst/>
          </a:prstGeom>
          <a:noFill/>
          <a:ln/>
        </p:spPr>
        <p:txBody>
          <a:bodyPr wrap="square" rtlCol="0" anchor="ctr"/>
          <a:lstStyle/>
          <a:p>
            <a:pPr indent="0" marL="0">
              <a:buNone/>
            </a:pPr>
            <a:r>
              <a:rPr lang="en-US" sz="1000" dirty="0">
                <a:solidFill>
                  <a:srgbClr val="666E8A"/>
                </a:solidFill>
                <a:latin typeface="Calibri" pitchFamily="34" charset="0"/>
                <a:ea typeface="Calibri" pitchFamily="34" charset="-122"/>
                <a:cs typeface="Calibri" pitchFamily="34" charset="-120"/>
              </a:rPr>
              <a:t>— Practice Administrator, ENT Group</a:t>
            </a:r>
            <a:endParaRPr lang="en-US" sz="1000" dirty="0"/>
          </a:p>
        </p:txBody>
      </p:sp>
      <p:sp>
        <p:nvSpPr>
          <p:cNvPr id="64" name="Shape 62"/>
          <p:cNvSpPr/>
          <p:nvPr/>
        </p:nvSpPr>
        <p:spPr>
          <a:xfrm>
            <a:off x="7863840" y="347472"/>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8065008" y="530352"/>
            <a:ext cx="274320" cy="274320"/>
          </a:xfrm>
          <a:prstGeom prst="ellipse">
            <a:avLst/>
          </a:prstGeom>
          <a:solidFill>
            <a:srgbClr val="CC2936"/>
          </a:solidFill>
          <a:ln w="12700">
            <a:solidFill>
              <a:srgbClr val="CC2936"/>
            </a:solidFill>
            <a:prstDash val="solid"/>
          </a:ln>
        </p:spPr>
      </p:sp>
      <p:sp>
        <p:nvSpPr>
          <p:cNvPr id="66" name="Text 64"/>
          <p:cNvSpPr/>
          <p:nvPr/>
        </p:nvSpPr>
        <p:spPr>
          <a:xfrm>
            <a:off x="8412480" y="493776"/>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 single point of accountability</a:t>
            </a:r>
            <a:endParaRPr lang="en-US" sz="1200" dirty="0"/>
          </a:p>
        </p:txBody>
      </p:sp>
      <p:sp>
        <p:nvSpPr>
          <p:cNvPr id="67" name="Text 65"/>
          <p:cNvSpPr/>
          <p:nvPr/>
        </p:nvSpPr>
        <p:spPr>
          <a:xfrm>
            <a:off x="8065008" y="960120"/>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When results aren't coming, every vendor blames the others. The website company blames the SEO. The SEO blames the ads. You're in the middle with no answers.</a:t>
            </a:r>
            <a:endParaRPr lang="en-US" sz="1100" dirty="0"/>
          </a:p>
        </p:txBody>
      </p:sp>
      <p:sp>
        <p:nvSpPr>
          <p:cNvPr id="68" name="Shape 66"/>
          <p:cNvSpPr/>
          <p:nvPr/>
        </p:nvSpPr>
        <p:spPr>
          <a:xfrm>
            <a:off x="7863840" y="2468880"/>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9" name="Shape 67"/>
          <p:cNvSpPr/>
          <p:nvPr/>
        </p:nvSpPr>
        <p:spPr>
          <a:xfrm>
            <a:off x="8065008" y="2651760"/>
            <a:ext cx="274320" cy="274320"/>
          </a:xfrm>
          <a:prstGeom prst="ellipse">
            <a:avLst/>
          </a:prstGeom>
          <a:solidFill>
            <a:srgbClr val="CC2936"/>
          </a:solidFill>
          <a:ln w="12700">
            <a:solidFill>
              <a:srgbClr val="CC2936"/>
            </a:solidFill>
            <a:prstDash val="solid"/>
          </a:ln>
        </p:spPr>
      </p:sp>
      <p:sp>
        <p:nvSpPr>
          <p:cNvPr id="70" name="Text 68"/>
          <p:cNvSpPr/>
          <p:nvPr/>
        </p:nvSpPr>
        <p:spPr>
          <a:xfrm>
            <a:off x="8412480" y="2615184"/>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doesn't flow between systems</a:t>
            </a:r>
            <a:endParaRPr lang="en-US" sz="1200" dirty="0"/>
          </a:p>
        </p:txBody>
      </p:sp>
      <p:sp>
        <p:nvSpPr>
          <p:cNvPr id="71" name="Text 69"/>
          <p:cNvSpPr/>
          <p:nvPr/>
        </p:nvSpPr>
        <p:spPr>
          <a:xfrm>
            <a:off x="8065008" y="3081528"/>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Your marketing vendor doesn't know what procedures are booked. Your IT vendor doesn't know what the website needs. Gaps between vendors create gaps in your pipeline.</a:t>
            </a:r>
            <a:endParaRPr lang="en-US" sz="1100" dirty="0"/>
          </a:p>
        </p:txBody>
      </p:sp>
      <p:sp>
        <p:nvSpPr>
          <p:cNvPr id="72" name="Shape 70"/>
          <p:cNvSpPr/>
          <p:nvPr/>
        </p:nvSpPr>
        <p:spPr>
          <a:xfrm>
            <a:off x="7863840" y="4590288"/>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3" name="Shape 71"/>
          <p:cNvSpPr/>
          <p:nvPr/>
        </p:nvSpPr>
        <p:spPr>
          <a:xfrm>
            <a:off x="8065008" y="4773168"/>
            <a:ext cx="274320" cy="274320"/>
          </a:xfrm>
          <a:prstGeom prst="ellipse">
            <a:avLst/>
          </a:prstGeom>
          <a:solidFill>
            <a:srgbClr val="CC2936"/>
          </a:solidFill>
          <a:ln w="12700">
            <a:solidFill>
              <a:srgbClr val="CC2936"/>
            </a:solidFill>
            <a:prstDash val="solid"/>
          </a:ln>
        </p:spPr>
      </p:sp>
      <p:sp>
        <p:nvSpPr>
          <p:cNvPr id="74" name="Text 72"/>
          <p:cNvSpPr/>
          <p:nvPr/>
        </p:nvSpPr>
        <p:spPr>
          <a:xfrm>
            <a:off x="8412480" y="4736592"/>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Your time is consumed by management</a:t>
            </a:r>
            <a:endParaRPr lang="en-US" sz="1200" dirty="0"/>
          </a:p>
        </p:txBody>
      </p:sp>
      <p:sp>
        <p:nvSpPr>
          <p:cNvPr id="75" name="Text 73"/>
          <p:cNvSpPr/>
          <p:nvPr/>
        </p:nvSpPr>
        <p:spPr>
          <a:xfrm>
            <a:off x="8065008" y="5202936"/>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Coordinating 6 to 8 vendors is itself a part-time job. Every meeting is a status update. Nothing gets decided. Nothing improves fast enough.</a:t>
            </a:r>
            <a:endParaRPr lang="en-US" sz="1100" dirty="0"/>
          </a:p>
        </p:txBody>
      </p:sp>
      <p:sp>
        <p:nvSpPr>
          <p:cNvPr id="76" name="Text 74"/>
          <p:cNvSpPr/>
          <p:nvPr/>
        </p:nvSpPr>
        <p:spPr>
          <a:xfrm>
            <a:off x="548640" y="4069080"/>
            <a:ext cx="3200400" cy="1097280"/>
          </a:xfrm>
          <a:prstGeom prst="rect">
            <a:avLst/>
          </a:prstGeom>
          <a:noFill/>
          <a:ln/>
        </p:spPr>
        <p:txBody>
          <a:bodyPr wrap="square" rtlCol="0" anchor="ctr"/>
          <a:lstStyle/>
          <a:p>
            <a:pPr indent="0" marL="0">
              <a:buNone/>
            </a:pPr>
            <a:r>
              <a:rPr lang="en-US" sz="6400" b="1" dirty="0">
                <a:solidFill>
                  <a:srgbClr val="CC2936"/>
                </a:solidFill>
                <a:latin typeface="Cambria" pitchFamily="34" charset="0"/>
                <a:ea typeface="Cambria" pitchFamily="34" charset="-122"/>
                <a:cs typeface="Cambria" pitchFamily="34" charset="-120"/>
              </a:rPr>
              <a:t>6-8</a:t>
            </a:r>
            <a:endParaRPr lang="en-US" sz="6400" dirty="0"/>
          </a:p>
        </p:txBody>
      </p:sp>
      <p:sp>
        <p:nvSpPr>
          <p:cNvPr id="77" name="Text 75"/>
          <p:cNvSpPr/>
          <p:nvPr/>
        </p:nvSpPr>
        <p:spPr>
          <a:xfrm>
            <a:off x="548640" y="5074920"/>
            <a:ext cx="5029200" cy="457200"/>
          </a:xfrm>
          <a:prstGeom prst="rect">
            <a:avLst/>
          </a:prstGeom>
          <a:noFill/>
          <a:ln/>
        </p:spPr>
        <p:txBody>
          <a:bodyPr wrap="square" rtlCol="0" anchor="ctr"/>
          <a:lstStyle/>
          <a:p>
            <a:pPr indent="0" marL="0">
              <a:buNone/>
            </a:pPr>
            <a:r>
              <a:rPr lang="en-US" sz="1200" dirty="0">
                <a:solidFill>
                  <a:srgbClr val="B3B8CC"/>
                </a:solidFill>
                <a:latin typeface="Calibri" pitchFamily="34" charset="0"/>
                <a:ea typeface="Calibri" pitchFamily="34" charset="-122"/>
                <a:cs typeface="Calibri" pitchFamily="34" charset="-120"/>
              </a:rPr>
              <a:t>vendors managed by the average independent practice</a:t>
            </a:r>
            <a:endParaRPr lang="en-US" sz="1200" dirty="0"/>
          </a:p>
        </p:txBody>
      </p:sp>
      <p:sp>
        <p:nvSpPr>
          <p:cNvPr id="78" name="Text 76"/>
          <p:cNvSpPr/>
          <p:nvPr/>
        </p:nvSpPr>
        <p:spPr>
          <a:xfrm>
            <a:off x="548640" y="6492240"/>
            <a:ext cx="8229600" cy="256032"/>
          </a:xfrm>
          <a:prstGeom prst="rect">
            <a:avLst/>
          </a:prstGeom>
          <a:noFill/>
          <a:ln/>
        </p:spPr>
        <p:txBody>
          <a:bodyPr wrap="square" rtlCol="0" anchor="ctr"/>
          <a:lstStyle/>
          <a:p>
            <a:pPr indent="0" marL="0">
              <a:buNone/>
            </a:pPr>
            <a:r>
              <a:rPr lang="en-US" sz="1000" i="1" dirty="0">
                <a:solidFill>
                  <a:srgbClr val="666E8A"/>
                </a:solidFill>
                <a:latin typeface="Calibri" pitchFamily="34" charset="0"/>
                <a:ea typeface="Calibri" pitchFamily="34" charset="-122"/>
                <a:cs typeface="Calibri" pitchFamily="34" charset="-120"/>
              </a:rPr>
              <a:t>Sound familiar?  →  See how Ensemble solves this on the next slide.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1D9E75">
              <a:alpha val="12000"/>
            </a:srgbClr>
          </a:solidFill>
          <a:ln w="12700">
            <a:solidFill>
              <a:srgbClr val="1D9E75">
                <a:alpha val="12000"/>
              </a:srgbClr>
            </a:solidFill>
            <a:prstDash val="solid"/>
          </a:ln>
        </p:spPr>
      </p:sp>
      <p:sp>
        <p:nvSpPr>
          <p:cNvPr id="57" name="Shape 55"/>
          <p:cNvSpPr/>
          <p:nvPr/>
        </p:nvSpPr>
        <p:spPr>
          <a:xfrm>
            <a:off x="8229600" y="2743200"/>
            <a:ext cx="4572000" cy="4572000"/>
          </a:xfrm>
          <a:prstGeom prst="ellipse">
            <a:avLst/>
          </a:prstGeom>
          <a:solidFill>
            <a:srgbClr val="1D9E75">
              <a:alpha val="13000"/>
            </a:srgbClr>
          </a:solidFill>
          <a:ln w="12700">
            <a:solidFill>
              <a:srgbClr val="1D9E75">
                <a:alpha val="13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1D9E75"/>
                </a:solidFill>
                <a:latin typeface="Calibri" pitchFamily="34" charset="0"/>
                <a:ea typeface="Calibri" pitchFamily="34" charset="-122"/>
                <a:cs typeface="Calibri" pitchFamily="34" charset="-120"/>
              </a:rPr>
              <a:t>ENSEMBLE SOLUTION  ·  VENDOR FRAGMENTATION</a:t>
            </a:r>
            <a:endParaRPr lang="en-US" sz="900" dirty="0"/>
          </a:p>
        </p:txBody>
      </p:sp>
      <p:sp>
        <p:nvSpPr>
          <p:cNvPr id="59" name="Text 57"/>
          <p:cNvSpPr/>
          <p:nvPr/>
        </p:nvSpPr>
        <p:spPr>
          <a:xfrm>
            <a:off x="548640" y="658368"/>
            <a:ext cx="7772400" cy="146304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One call. One team.</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Every problem solved.</a:t>
            </a:r>
            <a:endParaRPr lang="en-US" sz="3400" dirty="0"/>
          </a:p>
        </p:txBody>
      </p:sp>
      <p:sp>
        <p:nvSpPr>
          <p:cNvPr id="60" name="Text 58"/>
          <p:cNvSpPr/>
          <p:nvPr/>
        </p:nvSpPr>
        <p:spPr>
          <a:xfrm>
            <a:off x="548640" y="2286000"/>
            <a:ext cx="6035040" cy="1005840"/>
          </a:xfrm>
          <a:prstGeom prst="rect">
            <a:avLst/>
          </a:prstGeom>
          <a:noFill/>
          <a:ln/>
        </p:spPr>
        <p:txBody>
          <a:bodyPr wrap="square" rtlCol="0" anchor="ctr"/>
          <a:lstStyle/>
          <a:p>
            <a:pPr indent="0" marL="0">
              <a:lnSpc>
                <a:spcPct val="150000"/>
              </a:lnSpc>
              <a:buNone/>
            </a:pPr>
            <a:r>
              <a:rPr lang="en-US" sz="1400" dirty="0">
                <a:solidFill>
                  <a:srgbClr val="B3B8CC"/>
                </a:solidFill>
                <a:latin typeface="Calibri" pitchFamily="34" charset="0"/>
                <a:ea typeface="Calibri" pitchFamily="34" charset="-122"/>
                <a:cs typeface="Calibri" pitchFamily="34" charset="-120"/>
              </a:rPr>
              <a:t>Marketing, IT, software development, and creative production — all under one roof, one contract, and one point of contact who owns every outcome. No more vendor blame games.</a:t>
            </a:r>
            <a:endParaRPr lang="en-US" sz="1400" dirty="0"/>
          </a:p>
        </p:txBody>
      </p:sp>
      <p:sp>
        <p:nvSpPr>
          <p:cNvPr id="61" name="Shape 59"/>
          <p:cNvSpPr/>
          <p:nvPr/>
        </p:nvSpPr>
        <p:spPr>
          <a:xfrm>
            <a:off x="548640" y="3474720"/>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2" name="Shape 60"/>
          <p:cNvSpPr/>
          <p:nvPr/>
        </p:nvSpPr>
        <p:spPr>
          <a:xfrm>
            <a:off x="749808" y="3721608"/>
            <a:ext cx="164592" cy="164592"/>
          </a:xfrm>
          <a:prstGeom prst="ellipse">
            <a:avLst/>
          </a:prstGeom>
          <a:solidFill>
            <a:srgbClr val="1D9E75"/>
          </a:solidFill>
          <a:ln w="12700">
            <a:solidFill>
              <a:srgbClr val="1D9E75"/>
            </a:solidFill>
            <a:prstDash val="solid"/>
          </a:ln>
        </p:spPr>
      </p:sp>
      <p:sp>
        <p:nvSpPr>
          <p:cNvPr id="63" name="Text 61"/>
          <p:cNvSpPr/>
          <p:nvPr/>
        </p:nvSpPr>
        <p:spPr>
          <a:xfrm>
            <a:off x="1024128" y="356616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Single account manager across all service lines — one person who knows your practice</a:t>
            </a:r>
            <a:endParaRPr lang="en-US" sz="1250" dirty="0"/>
          </a:p>
        </p:txBody>
      </p:sp>
      <p:sp>
        <p:nvSpPr>
          <p:cNvPr id="64" name="Shape 62"/>
          <p:cNvSpPr/>
          <p:nvPr/>
        </p:nvSpPr>
        <p:spPr>
          <a:xfrm>
            <a:off x="548640" y="4261104"/>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749808" y="4507992"/>
            <a:ext cx="164592" cy="164592"/>
          </a:xfrm>
          <a:prstGeom prst="ellipse">
            <a:avLst/>
          </a:prstGeom>
          <a:solidFill>
            <a:srgbClr val="1D9E75"/>
          </a:solidFill>
          <a:ln w="12700">
            <a:solidFill>
              <a:srgbClr val="1D9E75"/>
            </a:solidFill>
            <a:prstDash val="solid"/>
          </a:ln>
        </p:spPr>
      </p:sp>
      <p:sp>
        <p:nvSpPr>
          <p:cNvPr id="66" name="Text 64"/>
          <p:cNvSpPr/>
          <p:nvPr/>
        </p:nvSpPr>
        <p:spPr>
          <a:xfrm>
            <a:off x="1024128" y="420624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Shared data layer — marketing, IT, and clinical software talk to each other</a:t>
            </a:r>
            <a:endParaRPr lang="en-US" sz="1250" dirty="0"/>
          </a:p>
        </p:txBody>
      </p:sp>
      <p:sp>
        <p:nvSpPr>
          <p:cNvPr id="67" name="Shape 65"/>
          <p:cNvSpPr/>
          <p:nvPr/>
        </p:nvSpPr>
        <p:spPr>
          <a:xfrm>
            <a:off x="548640" y="5047488"/>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8" name="Shape 66"/>
          <p:cNvSpPr/>
          <p:nvPr/>
        </p:nvSpPr>
        <p:spPr>
          <a:xfrm>
            <a:off x="749808" y="5294376"/>
            <a:ext cx="164592" cy="164592"/>
          </a:xfrm>
          <a:prstGeom prst="ellipse">
            <a:avLst/>
          </a:prstGeom>
          <a:solidFill>
            <a:srgbClr val="1D9E75"/>
          </a:solidFill>
          <a:ln w="12700">
            <a:solidFill>
              <a:srgbClr val="1D9E75"/>
            </a:solidFill>
            <a:prstDash val="solid"/>
          </a:ln>
        </p:spPr>
      </p:sp>
      <p:sp>
        <p:nvSpPr>
          <p:cNvPr id="69" name="Text 67"/>
          <p:cNvSpPr/>
          <p:nvPr/>
        </p:nvSpPr>
        <p:spPr>
          <a:xfrm>
            <a:off x="1024128" y="484632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Integrated reporting — one dashboard showing every metric that matters</a:t>
            </a:r>
            <a:endParaRPr lang="en-US" sz="1250" dirty="0"/>
          </a:p>
        </p:txBody>
      </p:sp>
      <p:sp>
        <p:nvSpPr>
          <p:cNvPr id="70" name="Shape 68"/>
          <p:cNvSpPr/>
          <p:nvPr/>
        </p:nvSpPr>
        <p:spPr>
          <a:xfrm>
            <a:off x="548640" y="5833872"/>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1" name="Shape 69"/>
          <p:cNvSpPr/>
          <p:nvPr/>
        </p:nvSpPr>
        <p:spPr>
          <a:xfrm>
            <a:off x="749808" y="6080760"/>
            <a:ext cx="164592" cy="164592"/>
          </a:xfrm>
          <a:prstGeom prst="ellipse">
            <a:avLst/>
          </a:prstGeom>
          <a:solidFill>
            <a:srgbClr val="1D9E75"/>
          </a:solidFill>
          <a:ln w="12700">
            <a:solidFill>
              <a:srgbClr val="1D9E75"/>
            </a:solidFill>
            <a:prstDash val="solid"/>
          </a:ln>
        </p:spPr>
      </p:sp>
      <p:sp>
        <p:nvSpPr>
          <p:cNvPr id="72" name="Text 70"/>
          <p:cNvSpPr/>
          <p:nvPr/>
        </p:nvSpPr>
        <p:spPr>
          <a:xfrm>
            <a:off x="1024128" y="548640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One SLA covering every deliverable — website, ads, infrastructure, and software</a:t>
            </a:r>
            <a:endParaRPr lang="en-US" sz="1250" dirty="0"/>
          </a:p>
        </p:txBody>
      </p:sp>
      <p:sp>
        <p:nvSpPr>
          <p:cNvPr id="73" name="Shape 71"/>
          <p:cNvSpPr/>
          <p:nvPr/>
        </p:nvSpPr>
        <p:spPr>
          <a:xfrm>
            <a:off x="548640" y="6620256"/>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4" name="Shape 72"/>
          <p:cNvSpPr/>
          <p:nvPr/>
        </p:nvSpPr>
        <p:spPr>
          <a:xfrm>
            <a:off x="749808" y="6867144"/>
            <a:ext cx="164592" cy="164592"/>
          </a:xfrm>
          <a:prstGeom prst="ellipse">
            <a:avLst/>
          </a:prstGeom>
          <a:solidFill>
            <a:srgbClr val="1D9E75"/>
          </a:solidFill>
          <a:ln w="12700">
            <a:solidFill>
              <a:srgbClr val="1D9E75"/>
            </a:solidFill>
            <a:prstDash val="solid"/>
          </a:ln>
        </p:spPr>
      </p:sp>
      <p:sp>
        <p:nvSpPr>
          <p:cNvPr id="75" name="Text 73"/>
          <p:cNvSpPr/>
          <p:nvPr/>
        </p:nvSpPr>
        <p:spPr>
          <a:xfrm>
            <a:off x="1024128" y="612648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Monthly strategy review — not siloed status calls with 6 different vendors</a:t>
            </a:r>
            <a:endParaRPr lang="en-US" sz="1250" dirty="0"/>
          </a:p>
        </p:txBody>
      </p:sp>
      <p:sp>
        <p:nvSpPr>
          <p:cNvPr id="76" name="Shape 74"/>
          <p:cNvSpPr/>
          <p:nvPr/>
        </p:nvSpPr>
        <p:spPr>
          <a:xfrm>
            <a:off x="6858000" y="2011680"/>
            <a:ext cx="4846320" cy="4389120"/>
          </a:xfrm>
          <a:prstGeom prst="roundRect">
            <a:avLst>
              <a:gd name="adj" fmla="val 2917"/>
            </a:avLst>
          </a:prstGeom>
          <a:solidFill>
            <a:srgbClr val="161D32"/>
          </a:solidFill>
          <a:ln w="15240">
            <a:solidFill>
              <a:srgbClr val="1D9E75">
                <a:alpha val="50000"/>
              </a:srgbClr>
            </a:solidFill>
            <a:prstDash val="solid"/>
          </a:ln>
          <a:effectLst>
            <a:outerShdw sx="100000" sy="100000" kx="0" ky="0" algn="bl" rotWithShape="0" blurRad="127000" dist="38100" dir="2700000">
              <a:srgbClr val="000000">
                <a:alpha val="22000"/>
              </a:srgbClr>
            </a:outerShdw>
          </a:effectLst>
        </p:spPr>
      </p:sp>
      <p:sp>
        <p:nvSpPr>
          <p:cNvPr id="77" name="Text 75"/>
          <p:cNvSpPr/>
          <p:nvPr/>
        </p:nvSpPr>
        <p:spPr>
          <a:xfrm>
            <a:off x="7086600" y="2212848"/>
            <a:ext cx="4389120" cy="274320"/>
          </a:xfrm>
          <a:prstGeom prst="rect">
            <a:avLst/>
          </a:prstGeom>
          <a:noFill/>
          <a:ln/>
        </p:spPr>
        <p:txBody>
          <a:bodyPr wrap="square" rtlCol="0" anchor="ctr"/>
          <a:lstStyle/>
          <a:p>
            <a:pPr indent="0" marL="0">
              <a:buNone/>
            </a:pPr>
            <a:r>
              <a:rPr lang="en-US" sz="900" b="1" spc="200" kern="0" dirty="0">
                <a:solidFill>
                  <a:srgbClr val="1D9E75"/>
                </a:solidFill>
                <a:latin typeface="Calibri" pitchFamily="34" charset="0"/>
                <a:ea typeface="Calibri" pitchFamily="34" charset="-122"/>
                <a:cs typeface="Calibri" pitchFamily="34" charset="-120"/>
              </a:rPr>
              <a:t>THE RESULT</a:t>
            </a:r>
            <a:endParaRPr lang="en-US" sz="900" dirty="0"/>
          </a:p>
        </p:txBody>
      </p:sp>
      <p:sp>
        <p:nvSpPr>
          <p:cNvPr id="78" name="Text 76"/>
          <p:cNvSpPr/>
          <p:nvPr/>
        </p:nvSpPr>
        <p:spPr>
          <a:xfrm>
            <a:off x="7086600" y="2542032"/>
            <a:ext cx="4389120" cy="777240"/>
          </a:xfrm>
          <a:prstGeom prst="rect">
            <a:avLst/>
          </a:prstGeom>
          <a:noFill/>
          <a:ln/>
        </p:spPr>
        <p:txBody>
          <a:bodyPr wrap="square"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From 8 vendors to 1 partner. Accountability included.</a:t>
            </a:r>
            <a:endParaRPr lang="en-US" sz="2000" dirty="0"/>
          </a:p>
        </p:txBody>
      </p:sp>
      <p:sp>
        <p:nvSpPr>
          <p:cNvPr id="79" name="Text 77"/>
          <p:cNvSpPr/>
          <p:nvPr/>
        </p:nvSpPr>
        <p:spPr>
          <a:xfrm>
            <a:off x="7086600" y="3401568"/>
            <a:ext cx="4389120" cy="1371600"/>
          </a:xfrm>
          <a:prstGeom prst="rect">
            <a:avLst/>
          </a:prstGeom>
          <a:noFill/>
          <a:ln/>
        </p:spPr>
        <p:txBody>
          <a:bodyPr wrap="square" rtlCol="0" anchor="ctr"/>
          <a:lstStyle/>
          <a:p>
            <a:pPr indent="0" marL="0">
              <a:lnSpc>
                <a:spcPct val="150000"/>
              </a:lnSpc>
              <a:buNone/>
            </a:pPr>
            <a:r>
              <a:rPr lang="en-US" sz="1250" dirty="0">
                <a:solidFill>
                  <a:srgbClr val="B3B8CC"/>
                </a:solidFill>
                <a:latin typeface="Calibri" pitchFamily="34" charset="0"/>
                <a:ea typeface="Calibri" pitchFamily="34" charset="-122"/>
                <a:cs typeface="Calibri" pitchFamily="34" charset="-120"/>
              </a:rPr>
              <a:t>Our clients replace an average of 4 to 6 separate vendors when they move to Ensemble. The cost is typically the same or less. The outcomes are better because the systems are integrated and the accountability is clear.</a:t>
            </a:r>
            <a:endParaRPr lang="en-US" sz="1250" dirty="0"/>
          </a:p>
        </p:txBody>
      </p:sp>
      <p:sp>
        <p:nvSpPr>
          <p:cNvPr id="80" name="Text 78"/>
          <p:cNvSpPr/>
          <p:nvPr/>
        </p:nvSpPr>
        <p:spPr>
          <a:xfrm>
            <a:off x="708660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1</a:t>
            </a:r>
            <a:endParaRPr lang="en-US" sz="3600" dirty="0"/>
          </a:p>
        </p:txBody>
      </p:sp>
      <p:sp>
        <p:nvSpPr>
          <p:cNvPr id="81" name="Text 79"/>
          <p:cNvSpPr/>
          <p:nvPr/>
        </p:nvSpPr>
        <p:spPr>
          <a:xfrm>
            <a:off x="708660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point of contact for everything</a:t>
            </a:r>
            <a:endParaRPr lang="en-US" sz="1000" dirty="0"/>
          </a:p>
        </p:txBody>
      </p:sp>
      <p:sp>
        <p:nvSpPr>
          <p:cNvPr id="82" name="Text 80"/>
          <p:cNvSpPr/>
          <p:nvPr/>
        </p:nvSpPr>
        <p:spPr>
          <a:xfrm>
            <a:off x="941832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4-6</a:t>
            </a:r>
            <a:endParaRPr lang="en-US" sz="3600" dirty="0"/>
          </a:p>
        </p:txBody>
      </p:sp>
      <p:sp>
        <p:nvSpPr>
          <p:cNvPr id="83" name="Text 81"/>
          <p:cNvSpPr/>
          <p:nvPr/>
        </p:nvSpPr>
        <p:spPr>
          <a:xfrm>
            <a:off x="941832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vendors typically replaced</a:t>
            </a:r>
            <a:endParaRPr lang="en-US" sz="1000" dirty="0"/>
          </a:p>
        </p:txBody>
      </p:sp>
      <p:sp>
        <p:nvSpPr>
          <p:cNvPr id="84" name="Shape 82"/>
          <p:cNvSpPr/>
          <p:nvPr/>
        </p:nvSpPr>
        <p:spPr>
          <a:xfrm>
            <a:off x="548640" y="6473952"/>
            <a:ext cx="2743200" cy="320040"/>
          </a:xfrm>
          <a:prstGeom prst="roundRect">
            <a:avLst>
              <a:gd name="adj" fmla="val 57143"/>
            </a:avLst>
          </a:prstGeom>
          <a:solidFill>
            <a:srgbClr val="E8604F"/>
          </a:solidFill>
          <a:ln/>
        </p:spPr>
      </p:sp>
      <p:sp>
        <p:nvSpPr>
          <p:cNvPr id="85" name="Text 83"/>
          <p:cNvSpPr/>
          <p:nvPr/>
        </p:nvSpPr>
        <p:spPr>
          <a:xfrm>
            <a:off x="548640" y="6473952"/>
            <a:ext cx="27432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 Practice Audit  →</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CC2936">
              <a:alpha val="12000"/>
            </a:srgbClr>
          </a:solidFill>
          <a:ln w="12700">
            <a:solidFill>
              <a:srgbClr val="CC2936">
                <a:alpha val="12000"/>
              </a:srgbClr>
            </a:solidFill>
            <a:prstDash val="solid"/>
          </a:ln>
        </p:spPr>
      </p:sp>
      <p:sp>
        <p:nvSpPr>
          <p:cNvPr id="57" name="Shape 55"/>
          <p:cNvSpPr/>
          <p:nvPr/>
        </p:nvSpPr>
        <p:spPr>
          <a:xfrm>
            <a:off x="-1371600" y="-914400"/>
            <a:ext cx="4114800" cy="4114800"/>
          </a:xfrm>
          <a:prstGeom prst="ellipse">
            <a:avLst/>
          </a:prstGeom>
          <a:solidFill>
            <a:srgbClr val="CC2936">
              <a:alpha val="12000"/>
            </a:srgbClr>
          </a:solidFill>
          <a:ln w="12700">
            <a:solidFill>
              <a:srgbClr val="CC2936">
                <a:alpha val="12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CC2936"/>
                </a:solidFill>
                <a:latin typeface="Calibri" pitchFamily="34" charset="0"/>
                <a:ea typeface="Calibri" pitchFamily="34" charset="-122"/>
                <a:cs typeface="Calibri" pitchFamily="34" charset="-120"/>
              </a:rPr>
              <a:t>PAIN POINT 09  ·  CUSTOM CRM &amp; SOFTWARE</a:t>
            </a:r>
            <a:endParaRPr lang="en-US" sz="900" dirty="0"/>
          </a:p>
        </p:txBody>
      </p:sp>
      <p:sp>
        <p:nvSpPr>
          <p:cNvPr id="59" name="Text 57"/>
          <p:cNvSpPr/>
          <p:nvPr/>
        </p:nvSpPr>
        <p:spPr>
          <a:xfrm>
            <a:off x="548640" y="658368"/>
            <a:ext cx="7132320" cy="164592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Your practice runs on</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workarounds and spreadsheets.</a:t>
            </a:r>
            <a:endParaRPr lang="en-US" sz="3400" dirty="0"/>
          </a:p>
        </p:txBody>
      </p:sp>
      <p:sp>
        <p:nvSpPr>
          <p:cNvPr id="60" name="Shape 58"/>
          <p:cNvSpPr/>
          <p:nvPr/>
        </p:nvSpPr>
        <p:spPr>
          <a:xfrm>
            <a:off x="548640" y="2514600"/>
            <a:ext cx="6858000" cy="1371600"/>
          </a:xfrm>
          <a:prstGeom prst="roundRect">
            <a:avLst>
              <a:gd name="adj" fmla="val 9333"/>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1" name="Text 59"/>
          <p:cNvSpPr/>
          <p:nvPr/>
        </p:nvSpPr>
        <p:spPr>
          <a:xfrm>
            <a:off x="777240" y="2560320"/>
            <a:ext cx="548640" cy="731520"/>
          </a:xfrm>
          <a:prstGeom prst="rect">
            <a:avLst/>
          </a:prstGeom>
          <a:noFill/>
          <a:ln/>
        </p:spPr>
        <p:txBody>
          <a:bodyPr wrap="square" rtlCol="0" anchor="ctr"/>
          <a:lstStyle/>
          <a:p>
            <a:pPr indent="0" marL="0">
              <a:buNone/>
            </a:pPr>
            <a:r>
              <a:rPr lang="en-US" sz="4400" dirty="0">
                <a:solidFill>
                  <a:srgbClr val="CC2936"/>
                </a:solidFill>
                <a:latin typeface="Cambria" pitchFamily="34" charset="0"/>
                <a:ea typeface="Cambria" pitchFamily="34" charset="-122"/>
                <a:cs typeface="Cambria" pitchFamily="34" charset="-120"/>
              </a:rPr>
              <a:t>“</a:t>
            </a:r>
            <a:endParaRPr lang="en-US" sz="4400" dirty="0"/>
          </a:p>
        </p:txBody>
      </p:sp>
      <p:sp>
        <p:nvSpPr>
          <p:cNvPr id="62" name="Text 60"/>
          <p:cNvSpPr/>
          <p:nvPr/>
        </p:nvSpPr>
        <p:spPr>
          <a:xfrm>
            <a:off x="1280160" y="2679192"/>
            <a:ext cx="5943600" cy="1005840"/>
          </a:xfrm>
          <a:prstGeom prst="rect">
            <a:avLst/>
          </a:prstGeom>
          <a:noFill/>
          <a:ln/>
        </p:spPr>
        <p:txBody>
          <a:bodyPr wrap="square" rtlCol="0" anchor="ctr"/>
          <a:lstStyle/>
          <a:p>
            <a:pPr indent="0" marL="0">
              <a:lnSpc>
                <a:spcPct val="140000"/>
              </a:lnSpc>
              <a:buNone/>
            </a:pPr>
            <a:r>
              <a:rPr lang="en-US" sz="1400" i="1" dirty="0">
                <a:solidFill>
                  <a:srgbClr val="FFFFFF"/>
                </a:solidFill>
                <a:latin typeface="Cambria" pitchFamily="34" charset="0"/>
                <a:ea typeface="Cambria" pitchFamily="34" charset="-122"/>
                <a:cs typeface="Cambria" pitchFamily="34" charset="-120"/>
              </a:rPr>
              <a:t>We use 4 different systems and none of them talk to each other. My staff has a spreadsheet that tracks what falls through the cracks between them. I'm embarrassed to even say that.</a:t>
            </a:r>
            <a:endParaRPr lang="en-US" sz="1400" dirty="0"/>
          </a:p>
        </p:txBody>
      </p:sp>
      <p:sp>
        <p:nvSpPr>
          <p:cNvPr id="63" name="Text 61"/>
          <p:cNvSpPr/>
          <p:nvPr/>
        </p:nvSpPr>
        <p:spPr>
          <a:xfrm>
            <a:off x="1280160" y="3630168"/>
            <a:ext cx="5943600" cy="228600"/>
          </a:xfrm>
          <a:prstGeom prst="rect">
            <a:avLst/>
          </a:prstGeom>
          <a:noFill/>
          <a:ln/>
        </p:spPr>
        <p:txBody>
          <a:bodyPr wrap="square" rtlCol="0" anchor="ctr"/>
          <a:lstStyle/>
          <a:p>
            <a:pPr indent="0" marL="0">
              <a:buNone/>
            </a:pPr>
            <a:r>
              <a:rPr lang="en-US" sz="1000" dirty="0">
                <a:solidFill>
                  <a:srgbClr val="666E8A"/>
                </a:solidFill>
                <a:latin typeface="Calibri" pitchFamily="34" charset="0"/>
                <a:ea typeface="Calibri" pitchFamily="34" charset="-122"/>
                <a:cs typeface="Calibri" pitchFamily="34" charset="-120"/>
              </a:rPr>
              <a:t>— Physician Owner, Multi-Location Practice</a:t>
            </a:r>
            <a:endParaRPr lang="en-US" sz="1000" dirty="0"/>
          </a:p>
        </p:txBody>
      </p:sp>
      <p:sp>
        <p:nvSpPr>
          <p:cNvPr id="64" name="Shape 62"/>
          <p:cNvSpPr/>
          <p:nvPr/>
        </p:nvSpPr>
        <p:spPr>
          <a:xfrm>
            <a:off x="7863840" y="347472"/>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8065008" y="530352"/>
            <a:ext cx="274320" cy="274320"/>
          </a:xfrm>
          <a:prstGeom prst="ellipse">
            <a:avLst/>
          </a:prstGeom>
          <a:solidFill>
            <a:srgbClr val="CC2936"/>
          </a:solidFill>
          <a:ln w="12700">
            <a:solidFill>
              <a:srgbClr val="CC2936"/>
            </a:solidFill>
            <a:prstDash val="solid"/>
          </a:ln>
        </p:spPr>
      </p:sp>
      <p:sp>
        <p:nvSpPr>
          <p:cNvPr id="66" name="Text 64"/>
          <p:cNvSpPr/>
          <p:nvPr/>
        </p:nvSpPr>
        <p:spPr>
          <a:xfrm>
            <a:off x="8412480" y="493776"/>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EHRs weren't built for your workflow</a:t>
            </a:r>
            <a:endParaRPr lang="en-US" sz="1200" dirty="0"/>
          </a:p>
        </p:txBody>
      </p:sp>
      <p:sp>
        <p:nvSpPr>
          <p:cNvPr id="67" name="Text 65"/>
          <p:cNvSpPr/>
          <p:nvPr/>
        </p:nvSpPr>
        <p:spPr>
          <a:xfrm>
            <a:off x="8065008" y="960120"/>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EHR systems are designed for billing compliance, not operational efficiency. They can't track referral pipelines, patient follow-up status, or marketing attribution.</a:t>
            </a:r>
            <a:endParaRPr lang="en-US" sz="1100" dirty="0"/>
          </a:p>
        </p:txBody>
      </p:sp>
      <p:sp>
        <p:nvSpPr>
          <p:cNvPr id="68" name="Shape 66"/>
          <p:cNvSpPr/>
          <p:nvPr/>
        </p:nvSpPr>
        <p:spPr>
          <a:xfrm>
            <a:off x="7863840" y="2468880"/>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9" name="Shape 67"/>
          <p:cNvSpPr/>
          <p:nvPr/>
        </p:nvSpPr>
        <p:spPr>
          <a:xfrm>
            <a:off x="8065008" y="2651760"/>
            <a:ext cx="274320" cy="274320"/>
          </a:xfrm>
          <a:prstGeom prst="ellipse">
            <a:avLst/>
          </a:prstGeom>
          <a:solidFill>
            <a:srgbClr val="CC2936"/>
          </a:solidFill>
          <a:ln w="12700">
            <a:solidFill>
              <a:srgbClr val="CC2936"/>
            </a:solidFill>
            <a:prstDash val="solid"/>
          </a:ln>
        </p:spPr>
      </p:sp>
      <p:sp>
        <p:nvSpPr>
          <p:cNvPr id="70" name="Text 68"/>
          <p:cNvSpPr/>
          <p:nvPr/>
        </p:nvSpPr>
        <p:spPr>
          <a:xfrm>
            <a:off x="8412480" y="2615184"/>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Off-the-shelf CRMs don't fit healthcare</a:t>
            </a:r>
            <a:endParaRPr lang="en-US" sz="1200" dirty="0"/>
          </a:p>
        </p:txBody>
      </p:sp>
      <p:sp>
        <p:nvSpPr>
          <p:cNvPr id="71" name="Text 69"/>
          <p:cNvSpPr/>
          <p:nvPr/>
        </p:nvSpPr>
        <p:spPr>
          <a:xfrm>
            <a:off x="8065008" y="3081528"/>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Salesforce, HubSpot, and generic CRMs can't handle PHI, don't understand clinical workflows, and require your staff to adapt to the software instead of the other way around.</a:t>
            </a:r>
            <a:endParaRPr lang="en-US" sz="1100" dirty="0"/>
          </a:p>
        </p:txBody>
      </p:sp>
      <p:sp>
        <p:nvSpPr>
          <p:cNvPr id="72" name="Shape 70"/>
          <p:cNvSpPr/>
          <p:nvPr/>
        </p:nvSpPr>
        <p:spPr>
          <a:xfrm>
            <a:off x="7863840" y="4590288"/>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3" name="Shape 71"/>
          <p:cNvSpPr/>
          <p:nvPr/>
        </p:nvSpPr>
        <p:spPr>
          <a:xfrm>
            <a:off x="8065008" y="4773168"/>
            <a:ext cx="274320" cy="274320"/>
          </a:xfrm>
          <a:prstGeom prst="ellipse">
            <a:avLst/>
          </a:prstGeom>
          <a:solidFill>
            <a:srgbClr val="CC2936"/>
          </a:solidFill>
          <a:ln w="12700">
            <a:solidFill>
              <a:srgbClr val="CC2936"/>
            </a:solidFill>
            <a:prstDash val="solid"/>
          </a:ln>
        </p:spPr>
      </p:sp>
      <p:sp>
        <p:nvSpPr>
          <p:cNvPr id="74" name="Text 72"/>
          <p:cNvSpPr/>
          <p:nvPr/>
        </p:nvSpPr>
        <p:spPr>
          <a:xfrm>
            <a:off x="8412480" y="4736592"/>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spreadsheet is your biggest liability</a:t>
            </a:r>
            <a:endParaRPr lang="en-US" sz="1200" dirty="0"/>
          </a:p>
        </p:txBody>
      </p:sp>
      <p:sp>
        <p:nvSpPr>
          <p:cNvPr id="75" name="Text 73"/>
          <p:cNvSpPr/>
          <p:nvPr/>
        </p:nvSpPr>
        <p:spPr>
          <a:xfrm>
            <a:off x="8065008" y="5202936"/>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Every spreadsheet tracking patient data is an unencrypted PHI risk. Every manual data entry step is a human error waiting to happen.</a:t>
            </a:r>
            <a:endParaRPr lang="en-US" sz="1100" dirty="0"/>
          </a:p>
        </p:txBody>
      </p:sp>
      <p:sp>
        <p:nvSpPr>
          <p:cNvPr id="76" name="Text 74"/>
          <p:cNvSpPr/>
          <p:nvPr/>
        </p:nvSpPr>
        <p:spPr>
          <a:xfrm>
            <a:off x="548640" y="4069080"/>
            <a:ext cx="3200400" cy="1097280"/>
          </a:xfrm>
          <a:prstGeom prst="rect">
            <a:avLst/>
          </a:prstGeom>
          <a:noFill/>
          <a:ln/>
        </p:spPr>
        <p:txBody>
          <a:bodyPr wrap="square" rtlCol="0" anchor="ctr"/>
          <a:lstStyle/>
          <a:p>
            <a:pPr indent="0" marL="0">
              <a:buNone/>
            </a:pPr>
            <a:r>
              <a:rPr lang="en-US" sz="6400" b="1" dirty="0">
                <a:solidFill>
                  <a:srgbClr val="CC2936"/>
                </a:solidFill>
                <a:latin typeface="Cambria" pitchFamily="34" charset="0"/>
                <a:ea typeface="Cambria" pitchFamily="34" charset="-122"/>
                <a:cs typeface="Cambria" pitchFamily="34" charset="-120"/>
              </a:rPr>
              <a:t>4+</a:t>
            </a:r>
            <a:endParaRPr lang="en-US" sz="6400" dirty="0"/>
          </a:p>
        </p:txBody>
      </p:sp>
      <p:sp>
        <p:nvSpPr>
          <p:cNvPr id="77" name="Text 75"/>
          <p:cNvSpPr/>
          <p:nvPr/>
        </p:nvSpPr>
        <p:spPr>
          <a:xfrm>
            <a:off x="548640" y="5074920"/>
            <a:ext cx="5029200" cy="457200"/>
          </a:xfrm>
          <a:prstGeom prst="rect">
            <a:avLst/>
          </a:prstGeom>
          <a:noFill/>
          <a:ln/>
        </p:spPr>
        <p:txBody>
          <a:bodyPr wrap="square" rtlCol="0" anchor="ctr"/>
          <a:lstStyle/>
          <a:p>
            <a:pPr indent="0" marL="0">
              <a:buNone/>
            </a:pPr>
            <a:r>
              <a:rPr lang="en-US" sz="1200" dirty="0">
                <a:solidFill>
                  <a:srgbClr val="B3B8CC"/>
                </a:solidFill>
                <a:latin typeface="Calibri" pitchFamily="34" charset="0"/>
                <a:ea typeface="Calibri" pitchFamily="34" charset="-122"/>
                <a:cs typeface="Calibri" pitchFamily="34" charset="-120"/>
              </a:rPr>
              <a:t>disconnected systems in the average independent practice</a:t>
            </a:r>
            <a:endParaRPr lang="en-US" sz="1200" dirty="0"/>
          </a:p>
        </p:txBody>
      </p:sp>
      <p:sp>
        <p:nvSpPr>
          <p:cNvPr id="78" name="Text 76"/>
          <p:cNvSpPr/>
          <p:nvPr/>
        </p:nvSpPr>
        <p:spPr>
          <a:xfrm>
            <a:off x="548640" y="6492240"/>
            <a:ext cx="8229600" cy="256032"/>
          </a:xfrm>
          <a:prstGeom prst="rect">
            <a:avLst/>
          </a:prstGeom>
          <a:noFill/>
          <a:ln/>
        </p:spPr>
        <p:txBody>
          <a:bodyPr wrap="square" rtlCol="0" anchor="ctr"/>
          <a:lstStyle/>
          <a:p>
            <a:pPr indent="0" marL="0">
              <a:buNone/>
            </a:pPr>
            <a:r>
              <a:rPr lang="en-US" sz="1000" i="1" dirty="0">
                <a:solidFill>
                  <a:srgbClr val="666E8A"/>
                </a:solidFill>
                <a:latin typeface="Calibri" pitchFamily="34" charset="0"/>
                <a:ea typeface="Calibri" pitchFamily="34" charset="-122"/>
                <a:cs typeface="Calibri" pitchFamily="34" charset="-120"/>
              </a:rPr>
              <a:t>Sound familiar?  →  See how Ensemble solves this on the next slide.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1D9E75">
              <a:alpha val="12000"/>
            </a:srgbClr>
          </a:solidFill>
          <a:ln w="12700">
            <a:solidFill>
              <a:srgbClr val="1D9E75">
                <a:alpha val="12000"/>
              </a:srgbClr>
            </a:solidFill>
            <a:prstDash val="solid"/>
          </a:ln>
        </p:spPr>
      </p:sp>
      <p:sp>
        <p:nvSpPr>
          <p:cNvPr id="57" name="Shape 55"/>
          <p:cNvSpPr/>
          <p:nvPr/>
        </p:nvSpPr>
        <p:spPr>
          <a:xfrm>
            <a:off x="8229600" y="2743200"/>
            <a:ext cx="4572000" cy="4572000"/>
          </a:xfrm>
          <a:prstGeom prst="ellipse">
            <a:avLst/>
          </a:prstGeom>
          <a:solidFill>
            <a:srgbClr val="1D9E75">
              <a:alpha val="13000"/>
            </a:srgbClr>
          </a:solidFill>
          <a:ln w="12700">
            <a:solidFill>
              <a:srgbClr val="1D9E75">
                <a:alpha val="13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1D9E75"/>
                </a:solidFill>
                <a:latin typeface="Calibri" pitchFamily="34" charset="0"/>
                <a:ea typeface="Calibri" pitchFamily="34" charset="-122"/>
                <a:cs typeface="Calibri" pitchFamily="34" charset="-120"/>
              </a:rPr>
              <a:t>ENSEMBLE SOLUTION  ·  CUSTOM CRM &amp; SOFTWARE</a:t>
            </a:r>
            <a:endParaRPr lang="en-US" sz="900" dirty="0"/>
          </a:p>
        </p:txBody>
      </p:sp>
      <p:sp>
        <p:nvSpPr>
          <p:cNvPr id="59" name="Text 57"/>
          <p:cNvSpPr/>
          <p:nvPr/>
        </p:nvSpPr>
        <p:spPr>
          <a:xfrm>
            <a:off x="548640" y="658368"/>
            <a:ext cx="7772400" cy="146304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Software built around</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your workflow. Not the other way around.</a:t>
            </a:r>
            <a:endParaRPr lang="en-US" sz="3400" dirty="0"/>
          </a:p>
        </p:txBody>
      </p:sp>
      <p:sp>
        <p:nvSpPr>
          <p:cNvPr id="60" name="Text 58"/>
          <p:cNvSpPr/>
          <p:nvPr/>
        </p:nvSpPr>
        <p:spPr>
          <a:xfrm>
            <a:off x="548640" y="2286000"/>
            <a:ext cx="6035040" cy="1005840"/>
          </a:xfrm>
          <a:prstGeom prst="rect">
            <a:avLst/>
          </a:prstGeom>
          <a:noFill/>
          <a:ln/>
        </p:spPr>
        <p:txBody>
          <a:bodyPr wrap="square" rtlCol="0" anchor="ctr"/>
          <a:lstStyle/>
          <a:p>
            <a:pPr indent="0" marL="0">
              <a:lnSpc>
                <a:spcPct val="150000"/>
              </a:lnSpc>
              <a:buNone/>
            </a:pPr>
            <a:r>
              <a:rPr lang="en-US" sz="1400" dirty="0">
                <a:solidFill>
                  <a:srgbClr val="B3B8CC"/>
                </a:solidFill>
                <a:latin typeface="Calibri" pitchFamily="34" charset="0"/>
                <a:ea typeface="Calibri" pitchFamily="34" charset="-122"/>
                <a:cs typeface="Calibri" pitchFamily="34" charset="-120"/>
              </a:rPr>
              <a:t>Custom CRM and clinical software built specifically for how your practice operates — referral tracking, patient follow-up pipelines, prior auth status, marketing attribution, and staff task management — all in one HIPAA-compliant portal.</a:t>
            </a:r>
            <a:endParaRPr lang="en-US" sz="1400" dirty="0"/>
          </a:p>
        </p:txBody>
      </p:sp>
      <p:sp>
        <p:nvSpPr>
          <p:cNvPr id="61" name="Shape 59"/>
          <p:cNvSpPr/>
          <p:nvPr/>
        </p:nvSpPr>
        <p:spPr>
          <a:xfrm>
            <a:off x="548640" y="3474720"/>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2" name="Shape 60"/>
          <p:cNvSpPr/>
          <p:nvPr/>
        </p:nvSpPr>
        <p:spPr>
          <a:xfrm>
            <a:off x="749808" y="3721608"/>
            <a:ext cx="164592" cy="164592"/>
          </a:xfrm>
          <a:prstGeom prst="ellipse">
            <a:avLst/>
          </a:prstGeom>
          <a:solidFill>
            <a:srgbClr val="1D9E75"/>
          </a:solidFill>
          <a:ln w="12700">
            <a:solidFill>
              <a:srgbClr val="1D9E75"/>
            </a:solidFill>
            <a:prstDash val="solid"/>
          </a:ln>
        </p:spPr>
      </p:sp>
      <p:sp>
        <p:nvSpPr>
          <p:cNvPr id="63" name="Text 61"/>
          <p:cNvSpPr/>
          <p:nvPr/>
        </p:nvSpPr>
        <p:spPr>
          <a:xfrm>
            <a:off x="1024128" y="356616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Custom CRM designed around your actual referral and patient journey workflow</a:t>
            </a:r>
            <a:endParaRPr lang="en-US" sz="1250" dirty="0"/>
          </a:p>
        </p:txBody>
      </p:sp>
      <p:sp>
        <p:nvSpPr>
          <p:cNvPr id="64" name="Shape 62"/>
          <p:cNvSpPr/>
          <p:nvPr/>
        </p:nvSpPr>
        <p:spPr>
          <a:xfrm>
            <a:off x="548640" y="4261104"/>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749808" y="4507992"/>
            <a:ext cx="164592" cy="164592"/>
          </a:xfrm>
          <a:prstGeom prst="ellipse">
            <a:avLst/>
          </a:prstGeom>
          <a:solidFill>
            <a:srgbClr val="1D9E75"/>
          </a:solidFill>
          <a:ln w="12700">
            <a:solidFill>
              <a:srgbClr val="1D9E75"/>
            </a:solidFill>
            <a:prstDash val="solid"/>
          </a:ln>
        </p:spPr>
      </p:sp>
      <p:sp>
        <p:nvSpPr>
          <p:cNvPr id="66" name="Text 64"/>
          <p:cNvSpPr/>
          <p:nvPr/>
        </p:nvSpPr>
        <p:spPr>
          <a:xfrm>
            <a:off x="1024128" y="420624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Referral source tracking — know exactly where every new patient came from</a:t>
            </a:r>
            <a:endParaRPr lang="en-US" sz="1250" dirty="0"/>
          </a:p>
        </p:txBody>
      </p:sp>
      <p:sp>
        <p:nvSpPr>
          <p:cNvPr id="67" name="Shape 65"/>
          <p:cNvSpPr/>
          <p:nvPr/>
        </p:nvSpPr>
        <p:spPr>
          <a:xfrm>
            <a:off x="548640" y="5047488"/>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8" name="Shape 66"/>
          <p:cNvSpPr/>
          <p:nvPr/>
        </p:nvSpPr>
        <p:spPr>
          <a:xfrm>
            <a:off x="749808" y="5294376"/>
            <a:ext cx="164592" cy="164592"/>
          </a:xfrm>
          <a:prstGeom prst="ellipse">
            <a:avLst/>
          </a:prstGeom>
          <a:solidFill>
            <a:srgbClr val="1D9E75"/>
          </a:solidFill>
          <a:ln w="12700">
            <a:solidFill>
              <a:srgbClr val="1D9E75"/>
            </a:solidFill>
            <a:prstDash val="solid"/>
          </a:ln>
        </p:spPr>
      </p:sp>
      <p:sp>
        <p:nvSpPr>
          <p:cNvPr id="69" name="Text 67"/>
          <p:cNvSpPr/>
          <p:nvPr/>
        </p:nvSpPr>
        <p:spPr>
          <a:xfrm>
            <a:off x="1024128" y="484632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Prior auth pipeline — status tracking from submission to approval in one view</a:t>
            </a:r>
            <a:endParaRPr lang="en-US" sz="1250" dirty="0"/>
          </a:p>
        </p:txBody>
      </p:sp>
      <p:sp>
        <p:nvSpPr>
          <p:cNvPr id="70" name="Shape 68"/>
          <p:cNvSpPr/>
          <p:nvPr/>
        </p:nvSpPr>
        <p:spPr>
          <a:xfrm>
            <a:off x="548640" y="5833872"/>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1" name="Shape 69"/>
          <p:cNvSpPr/>
          <p:nvPr/>
        </p:nvSpPr>
        <p:spPr>
          <a:xfrm>
            <a:off x="749808" y="6080760"/>
            <a:ext cx="164592" cy="164592"/>
          </a:xfrm>
          <a:prstGeom prst="ellipse">
            <a:avLst/>
          </a:prstGeom>
          <a:solidFill>
            <a:srgbClr val="1D9E75"/>
          </a:solidFill>
          <a:ln w="12700">
            <a:solidFill>
              <a:srgbClr val="1D9E75"/>
            </a:solidFill>
            <a:prstDash val="solid"/>
          </a:ln>
        </p:spPr>
      </p:sp>
      <p:sp>
        <p:nvSpPr>
          <p:cNvPr id="72" name="Text 70"/>
          <p:cNvSpPr/>
          <p:nvPr/>
        </p:nvSpPr>
        <p:spPr>
          <a:xfrm>
            <a:off x="1024128" y="548640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Patient follow-up automation — no more manual call lists for chronic care gaps</a:t>
            </a:r>
            <a:endParaRPr lang="en-US" sz="1250" dirty="0"/>
          </a:p>
        </p:txBody>
      </p:sp>
      <p:sp>
        <p:nvSpPr>
          <p:cNvPr id="73" name="Shape 71"/>
          <p:cNvSpPr/>
          <p:nvPr/>
        </p:nvSpPr>
        <p:spPr>
          <a:xfrm>
            <a:off x="548640" y="6620256"/>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4" name="Shape 72"/>
          <p:cNvSpPr/>
          <p:nvPr/>
        </p:nvSpPr>
        <p:spPr>
          <a:xfrm>
            <a:off x="749808" y="6867144"/>
            <a:ext cx="164592" cy="164592"/>
          </a:xfrm>
          <a:prstGeom prst="ellipse">
            <a:avLst/>
          </a:prstGeom>
          <a:solidFill>
            <a:srgbClr val="1D9E75"/>
          </a:solidFill>
          <a:ln w="12700">
            <a:solidFill>
              <a:srgbClr val="1D9E75"/>
            </a:solidFill>
            <a:prstDash val="solid"/>
          </a:ln>
        </p:spPr>
      </p:sp>
      <p:sp>
        <p:nvSpPr>
          <p:cNvPr id="75" name="Text 73"/>
          <p:cNvSpPr/>
          <p:nvPr/>
        </p:nvSpPr>
        <p:spPr>
          <a:xfrm>
            <a:off x="1024128" y="612648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Full integration with your EHR, billing system, and marketing stack</a:t>
            </a:r>
            <a:endParaRPr lang="en-US" sz="1250" dirty="0"/>
          </a:p>
        </p:txBody>
      </p:sp>
      <p:sp>
        <p:nvSpPr>
          <p:cNvPr id="76" name="Shape 74"/>
          <p:cNvSpPr/>
          <p:nvPr/>
        </p:nvSpPr>
        <p:spPr>
          <a:xfrm>
            <a:off x="6858000" y="2011680"/>
            <a:ext cx="4846320" cy="4389120"/>
          </a:xfrm>
          <a:prstGeom prst="roundRect">
            <a:avLst>
              <a:gd name="adj" fmla="val 2917"/>
            </a:avLst>
          </a:prstGeom>
          <a:solidFill>
            <a:srgbClr val="161D32"/>
          </a:solidFill>
          <a:ln w="15240">
            <a:solidFill>
              <a:srgbClr val="1D9E75">
                <a:alpha val="50000"/>
              </a:srgbClr>
            </a:solidFill>
            <a:prstDash val="solid"/>
          </a:ln>
          <a:effectLst>
            <a:outerShdw sx="100000" sy="100000" kx="0" ky="0" algn="bl" rotWithShape="0" blurRad="127000" dist="38100" dir="2700000">
              <a:srgbClr val="000000">
                <a:alpha val="22000"/>
              </a:srgbClr>
            </a:outerShdw>
          </a:effectLst>
        </p:spPr>
      </p:sp>
      <p:sp>
        <p:nvSpPr>
          <p:cNvPr id="77" name="Text 75"/>
          <p:cNvSpPr/>
          <p:nvPr/>
        </p:nvSpPr>
        <p:spPr>
          <a:xfrm>
            <a:off x="7086600" y="2212848"/>
            <a:ext cx="4389120" cy="274320"/>
          </a:xfrm>
          <a:prstGeom prst="rect">
            <a:avLst/>
          </a:prstGeom>
          <a:noFill/>
          <a:ln/>
        </p:spPr>
        <p:txBody>
          <a:bodyPr wrap="square" rtlCol="0" anchor="ctr"/>
          <a:lstStyle/>
          <a:p>
            <a:pPr indent="0" marL="0">
              <a:buNone/>
            </a:pPr>
            <a:r>
              <a:rPr lang="en-US" sz="900" b="1" spc="200" kern="0" dirty="0">
                <a:solidFill>
                  <a:srgbClr val="1D9E75"/>
                </a:solidFill>
                <a:latin typeface="Calibri" pitchFamily="34" charset="0"/>
                <a:ea typeface="Calibri" pitchFamily="34" charset="-122"/>
                <a:cs typeface="Calibri" pitchFamily="34" charset="-120"/>
              </a:rPr>
              <a:t>THE RESULT</a:t>
            </a:r>
            <a:endParaRPr lang="en-US" sz="900" dirty="0"/>
          </a:p>
        </p:txBody>
      </p:sp>
      <p:sp>
        <p:nvSpPr>
          <p:cNvPr id="78" name="Text 76"/>
          <p:cNvSpPr/>
          <p:nvPr/>
        </p:nvSpPr>
        <p:spPr>
          <a:xfrm>
            <a:off x="7086600" y="2542032"/>
            <a:ext cx="4389120" cy="777240"/>
          </a:xfrm>
          <a:prstGeom prst="rect">
            <a:avLst/>
          </a:prstGeom>
          <a:noFill/>
          <a:ln/>
        </p:spPr>
        <p:txBody>
          <a:bodyPr wrap="square"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Delete the spreadsheet. For good.</a:t>
            </a:r>
            <a:endParaRPr lang="en-US" sz="2000" dirty="0"/>
          </a:p>
        </p:txBody>
      </p:sp>
      <p:sp>
        <p:nvSpPr>
          <p:cNvPr id="79" name="Text 77"/>
          <p:cNvSpPr/>
          <p:nvPr/>
        </p:nvSpPr>
        <p:spPr>
          <a:xfrm>
            <a:off x="7086600" y="3401568"/>
            <a:ext cx="4389120" cy="1371600"/>
          </a:xfrm>
          <a:prstGeom prst="rect">
            <a:avLst/>
          </a:prstGeom>
          <a:noFill/>
          <a:ln/>
        </p:spPr>
        <p:txBody>
          <a:bodyPr wrap="square" rtlCol="0" anchor="ctr"/>
          <a:lstStyle/>
          <a:p>
            <a:pPr indent="0" marL="0">
              <a:lnSpc>
                <a:spcPct val="150000"/>
              </a:lnSpc>
              <a:buNone/>
            </a:pPr>
            <a:r>
              <a:rPr lang="en-US" sz="1250" dirty="0">
                <a:solidFill>
                  <a:srgbClr val="B3B8CC"/>
                </a:solidFill>
                <a:latin typeface="Calibri" pitchFamily="34" charset="0"/>
                <a:ea typeface="Calibri" pitchFamily="34" charset="-122"/>
                <a:cs typeface="Calibri" pitchFamily="34" charset="-120"/>
              </a:rPr>
              <a:t>When we replace the patchwork of disconnected systems with a custom-built workflow tool, practices typically recover 8 to 12 hours of staff time per week and reduce data errors by 70% within the first 60 days.</a:t>
            </a:r>
            <a:endParaRPr lang="en-US" sz="1250" dirty="0"/>
          </a:p>
        </p:txBody>
      </p:sp>
      <p:sp>
        <p:nvSpPr>
          <p:cNvPr id="80" name="Text 78"/>
          <p:cNvSpPr/>
          <p:nvPr/>
        </p:nvSpPr>
        <p:spPr>
          <a:xfrm>
            <a:off x="708660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70%</a:t>
            </a:r>
            <a:endParaRPr lang="en-US" sz="3600" dirty="0"/>
          </a:p>
        </p:txBody>
      </p:sp>
      <p:sp>
        <p:nvSpPr>
          <p:cNvPr id="81" name="Text 79"/>
          <p:cNvSpPr/>
          <p:nvPr/>
        </p:nvSpPr>
        <p:spPr>
          <a:xfrm>
            <a:off x="708660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reduction in data entry errors</a:t>
            </a:r>
            <a:endParaRPr lang="en-US" sz="1000" dirty="0"/>
          </a:p>
        </p:txBody>
      </p:sp>
      <p:sp>
        <p:nvSpPr>
          <p:cNvPr id="82" name="Text 80"/>
          <p:cNvSpPr/>
          <p:nvPr/>
        </p:nvSpPr>
        <p:spPr>
          <a:xfrm>
            <a:off x="941832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8-12hrs</a:t>
            </a:r>
            <a:endParaRPr lang="en-US" sz="3600" dirty="0"/>
          </a:p>
        </p:txBody>
      </p:sp>
      <p:sp>
        <p:nvSpPr>
          <p:cNvPr id="83" name="Text 81"/>
          <p:cNvSpPr/>
          <p:nvPr/>
        </p:nvSpPr>
        <p:spPr>
          <a:xfrm>
            <a:off x="941832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staff time recovered per week</a:t>
            </a:r>
            <a:endParaRPr lang="en-US" sz="1000" dirty="0"/>
          </a:p>
        </p:txBody>
      </p:sp>
      <p:sp>
        <p:nvSpPr>
          <p:cNvPr id="84" name="Shape 82"/>
          <p:cNvSpPr/>
          <p:nvPr/>
        </p:nvSpPr>
        <p:spPr>
          <a:xfrm>
            <a:off x="548640" y="6473952"/>
            <a:ext cx="2743200" cy="320040"/>
          </a:xfrm>
          <a:prstGeom prst="roundRect">
            <a:avLst>
              <a:gd name="adj" fmla="val 57143"/>
            </a:avLst>
          </a:prstGeom>
          <a:solidFill>
            <a:srgbClr val="E8604F"/>
          </a:solidFill>
          <a:ln/>
        </p:spPr>
      </p:sp>
      <p:sp>
        <p:nvSpPr>
          <p:cNvPr id="85" name="Text 83"/>
          <p:cNvSpPr/>
          <p:nvPr/>
        </p:nvSpPr>
        <p:spPr>
          <a:xfrm>
            <a:off x="548640" y="6473952"/>
            <a:ext cx="27432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 Practice Audit  →</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CC2936">
              <a:alpha val="12000"/>
            </a:srgbClr>
          </a:solidFill>
          <a:ln w="12700">
            <a:solidFill>
              <a:srgbClr val="CC2936">
                <a:alpha val="12000"/>
              </a:srgbClr>
            </a:solidFill>
            <a:prstDash val="solid"/>
          </a:ln>
        </p:spPr>
      </p:sp>
      <p:sp>
        <p:nvSpPr>
          <p:cNvPr id="57" name="Shape 55"/>
          <p:cNvSpPr/>
          <p:nvPr/>
        </p:nvSpPr>
        <p:spPr>
          <a:xfrm>
            <a:off x="-1371600" y="-914400"/>
            <a:ext cx="4114800" cy="4114800"/>
          </a:xfrm>
          <a:prstGeom prst="ellipse">
            <a:avLst/>
          </a:prstGeom>
          <a:solidFill>
            <a:srgbClr val="CC2936">
              <a:alpha val="12000"/>
            </a:srgbClr>
          </a:solidFill>
          <a:ln w="12700">
            <a:solidFill>
              <a:srgbClr val="CC2936">
                <a:alpha val="12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CC2936"/>
                </a:solidFill>
                <a:latin typeface="Calibri" pitchFamily="34" charset="0"/>
                <a:ea typeface="Calibri" pitchFamily="34" charset="-122"/>
                <a:cs typeface="Calibri" pitchFamily="34" charset="-120"/>
              </a:rPr>
              <a:t>PAIN POINT 10  ·  PRACTICE GROWTH &amp; COMPETITION</a:t>
            </a:r>
            <a:endParaRPr lang="en-US" sz="900" dirty="0"/>
          </a:p>
        </p:txBody>
      </p:sp>
      <p:sp>
        <p:nvSpPr>
          <p:cNvPr id="59" name="Text 57"/>
          <p:cNvSpPr/>
          <p:nvPr/>
        </p:nvSpPr>
        <p:spPr>
          <a:xfrm>
            <a:off x="548640" y="658368"/>
            <a:ext cx="7132320" cy="164592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Hospital systems are taking</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your patients. Quietly.</a:t>
            </a:r>
            <a:endParaRPr lang="en-US" sz="3400" dirty="0"/>
          </a:p>
        </p:txBody>
      </p:sp>
      <p:sp>
        <p:nvSpPr>
          <p:cNvPr id="60" name="Shape 58"/>
          <p:cNvSpPr/>
          <p:nvPr/>
        </p:nvSpPr>
        <p:spPr>
          <a:xfrm>
            <a:off x="548640" y="2514600"/>
            <a:ext cx="6858000" cy="1371600"/>
          </a:xfrm>
          <a:prstGeom prst="roundRect">
            <a:avLst>
              <a:gd name="adj" fmla="val 9333"/>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1" name="Text 59"/>
          <p:cNvSpPr/>
          <p:nvPr/>
        </p:nvSpPr>
        <p:spPr>
          <a:xfrm>
            <a:off x="777240" y="2560320"/>
            <a:ext cx="548640" cy="731520"/>
          </a:xfrm>
          <a:prstGeom prst="rect">
            <a:avLst/>
          </a:prstGeom>
          <a:noFill/>
          <a:ln/>
        </p:spPr>
        <p:txBody>
          <a:bodyPr wrap="square" rtlCol="0" anchor="ctr"/>
          <a:lstStyle/>
          <a:p>
            <a:pPr indent="0" marL="0">
              <a:buNone/>
            </a:pPr>
            <a:r>
              <a:rPr lang="en-US" sz="4400" dirty="0">
                <a:solidFill>
                  <a:srgbClr val="CC2936"/>
                </a:solidFill>
                <a:latin typeface="Cambria" pitchFamily="34" charset="0"/>
                <a:ea typeface="Cambria" pitchFamily="34" charset="-122"/>
                <a:cs typeface="Cambria" pitchFamily="34" charset="-120"/>
              </a:rPr>
              <a:t>“</a:t>
            </a:r>
            <a:endParaRPr lang="en-US" sz="4400" dirty="0"/>
          </a:p>
        </p:txBody>
      </p:sp>
      <p:sp>
        <p:nvSpPr>
          <p:cNvPr id="62" name="Text 60"/>
          <p:cNvSpPr/>
          <p:nvPr/>
        </p:nvSpPr>
        <p:spPr>
          <a:xfrm>
            <a:off x="1280160" y="2679192"/>
            <a:ext cx="5943600" cy="1005840"/>
          </a:xfrm>
          <a:prstGeom prst="rect">
            <a:avLst/>
          </a:prstGeom>
          <a:noFill/>
          <a:ln/>
        </p:spPr>
        <p:txBody>
          <a:bodyPr wrap="square" rtlCol="0" anchor="ctr"/>
          <a:lstStyle/>
          <a:p>
            <a:pPr indent="0" marL="0">
              <a:lnSpc>
                <a:spcPct val="140000"/>
              </a:lnSpc>
              <a:buNone/>
            </a:pPr>
            <a:r>
              <a:rPr lang="en-US" sz="1400" i="1" dirty="0">
                <a:solidFill>
                  <a:srgbClr val="FFFFFF"/>
                </a:solidFill>
                <a:latin typeface="Cambria" pitchFamily="34" charset="0"/>
                <a:ea typeface="Cambria" pitchFamily="34" charset="-122"/>
                <a:cs typeface="Cambria" pitchFamily="34" charset="-120"/>
              </a:rPr>
              <a:t>Three years ago we had no competition. Now there's a hospital-affiliated group 2 miles away with a $2 million marketing budget. We can't compete with that. Or can we?</a:t>
            </a:r>
            <a:endParaRPr lang="en-US" sz="1400" dirty="0"/>
          </a:p>
        </p:txBody>
      </p:sp>
      <p:sp>
        <p:nvSpPr>
          <p:cNvPr id="63" name="Text 61"/>
          <p:cNvSpPr/>
          <p:nvPr/>
        </p:nvSpPr>
        <p:spPr>
          <a:xfrm>
            <a:off x="1280160" y="3630168"/>
            <a:ext cx="5943600" cy="228600"/>
          </a:xfrm>
          <a:prstGeom prst="rect">
            <a:avLst/>
          </a:prstGeom>
          <a:noFill/>
          <a:ln/>
        </p:spPr>
        <p:txBody>
          <a:bodyPr wrap="square" rtlCol="0" anchor="ctr"/>
          <a:lstStyle/>
          <a:p>
            <a:pPr indent="0" marL="0">
              <a:buNone/>
            </a:pPr>
            <a:r>
              <a:rPr lang="en-US" sz="1000" dirty="0">
                <a:solidFill>
                  <a:srgbClr val="666E8A"/>
                </a:solidFill>
                <a:latin typeface="Calibri" pitchFamily="34" charset="0"/>
                <a:ea typeface="Calibri" pitchFamily="34" charset="-122"/>
                <a:cs typeface="Calibri" pitchFamily="34" charset="-120"/>
              </a:rPr>
              <a:t>— Independent Physician, Gastroenterology Practice</a:t>
            </a:r>
            <a:endParaRPr lang="en-US" sz="1000" dirty="0"/>
          </a:p>
        </p:txBody>
      </p:sp>
      <p:sp>
        <p:nvSpPr>
          <p:cNvPr id="64" name="Shape 62"/>
          <p:cNvSpPr/>
          <p:nvPr/>
        </p:nvSpPr>
        <p:spPr>
          <a:xfrm>
            <a:off x="7863840" y="347472"/>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8065008" y="530352"/>
            <a:ext cx="274320" cy="274320"/>
          </a:xfrm>
          <a:prstGeom prst="ellipse">
            <a:avLst/>
          </a:prstGeom>
          <a:solidFill>
            <a:srgbClr val="CC2936"/>
          </a:solidFill>
          <a:ln w="12700">
            <a:solidFill>
              <a:srgbClr val="CC2936"/>
            </a:solidFill>
            <a:prstDash val="solid"/>
          </a:ln>
        </p:spPr>
      </p:sp>
      <p:sp>
        <p:nvSpPr>
          <p:cNvPr id="66" name="Text 64"/>
          <p:cNvSpPr/>
          <p:nvPr/>
        </p:nvSpPr>
        <p:spPr>
          <a:xfrm>
            <a:off x="8412480" y="493776"/>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Health systems outspend you 100 to 1</a:t>
            </a:r>
            <a:endParaRPr lang="en-US" sz="1200" dirty="0"/>
          </a:p>
        </p:txBody>
      </p:sp>
      <p:sp>
        <p:nvSpPr>
          <p:cNvPr id="67" name="Text 65"/>
          <p:cNvSpPr/>
          <p:nvPr/>
        </p:nvSpPr>
        <p:spPr>
          <a:xfrm>
            <a:off x="8065008" y="960120"/>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The average health system marketing budget is $2 to 10 million. The average independent practice budget is $20,000 to $80,000. But that's not the full story.</a:t>
            </a:r>
            <a:endParaRPr lang="en-US" sz="1100" dirty="0"/>
          </a:p>
        </p:txBody>
      </p:sp>
      <p:sp>
        <p:nvSpPr>
          <p:cNvPr id="68" name="Shape 66"/>
          <p:cNvSpPr/>
          <p:nvPr/>
        </p:nvSpPr>
        <p:spPr>
          <a:xfrm>
            <a:off x="7863840" y="2468880"/>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9" name="Shape 67"/>
          <p:cNvSpPr/>
          <p:nvPr/>
        </p:nvSpPr>
        <p:spPr>
          <a:xfrm>
            <a:off x="8065008" y="2651760"/>
            <a:ext cx="274320" cy="274320"/>
          </a:xfrm>
          <a:prstGeom prst="ellipse">
            <a:avLst/>
          </a:prstGeom>
          <a:solidFill>
            <a:srgbClr val="CC2936"/>
          </a:solidFill>
          <a:ln w="12700">
            <a:solidFill>
              <a:srgbClr val="CC2936"/>
            </a:solidFill>
            <a:prstDash val="solid"/>
          </a:ln>
        </p:spPr>
      </p:sp>
      <p:sp>
        <p:nvSpPr>
          <p:cNvPr id="70" name="Text 68"/>
          <p:cNvSpPr/>
          <p:nvPr/>
        </p:nvSpPr>
        <p:spPr>
          <a:xfrm>
            <a:off x="8412480" y="2615184"/>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Patients don't always prefer systems</a:t>
            </a:r>
            <a:endParaRPr lang="en-US" sz="1200" dirty="0"/>
          </a:p>
        </p:txBody>
      </p:sp>
      <p:sp>
        <p:nvSpPr>
          <p:cNvPr id="71" name="Text 69"/>
          <p:cNvSpPr/>
          <p:nvPr/>
        </p:nvSpPr>
        <p:spPr>
          <a:xfrm>
            <a:off x="8065008" y="3081528"/>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52% of patients prefer independent physicians for personalized care. But they can only choose you if they can find you and trust what they see online.</a:t>
            </a:r>
            <a:endParaRPr lang="en-US" sz="1100" dirty="0"/>
          </a:p>
        </p:txBody>
      </p:sp>
      <p:sp>
        <p:nvSpPr>
          <p:cNvPr id="72" name="Shape 70"/>
          <p:cNvSpPr/>
          <p:nvPr/>
        </p:nvSpPr>
        <p:spPr>
          <a:xfrm>
            <a:off x="7863840" y="4590288"/>
            <a:ext cx="3977640" cy="1920240"/>
          </a:xfrm>
          <a:prstGeom prst="roundRect">
            <a:avLst>
              <a:gd name="adj" fmla="val 6667"/>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3" name="Shape 71"/>
          <p:cNvSpPr/>
          <p:nvPr/>
        </p:nvSpPr>
        <p:spPr>
          <a:xfrm>
            <a:off x="8065008" y="4773168"/>
            <a:ext cx="274320" cy="274320"/>
          </a:xfrm>
          <a:prstGeom prst="ellipse">
            <a:avLst/>
          </a:prstGeom>
          <a:solidFill>
            <a:srgbClr val="CC2936"/>
          </a:solidFill>
          <a:ln w="12700">
            <a:solidFill>
              <a:srgbClr val="CC2936"/>
            </a:solidFill>
            <a:prstDash val="solid"/>
          </a:ln>
        </p:spPr>
      </p:sp>
      <p:sp>
        <p:nvSpPr>
          <p:cNvPr id="74" name="Text 72"/>
          <p:cNvSpPr/>
          <p:nvPr/>
        </p:nvSpPr>
        <p:spPr>
          <a:xfrm>
            <a:off x="8412480" y="4736592"/>
            <a:ext cx="32918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Technology is the equalizer</a:t>
            </a:r>
            <a:endParaRPr lang="en-US" sz="1200" dirty="0"/>
          </a:p>
        </p:txBody>
      </p:sp>
      <p:sp>
        <p:nvSpPr>
          <p:cNvPr id="75" name="Text 73"/>
          <p:cNvSpPr/>
          <p:nvPr/>
        </p:nvSpPr>
        <p:spPr>
          <a:xfrm>
            <a:off x="8065008" y="5202936"/>
            <a:ext cx="3657600" cy="914400"/>
          </a:xfrm>
          <a:prstGeom prst="rect">
            <a:avLst/>
          </a:prstGeom>
          <a:noFill/>
          <a:ln/>
        </p:spPr>
        <p:txBody>
          <a:bodyPr wrap="square" rtlCol="0" anchor="ctr"/>
          <a:lstStyle/>
          <a:p>
            <a:pPr indent="0" marL="0">
              <a:lnSpc>
                <a:spcPct val="135000"/>
              </a:lnSpc>
              <a:buNone/>
            </a:pPr>
            <a:r>
              <a:rPr lang="en-US" sz="1100" dirty="0">
                <a:solidFill>
                  <a:srgbClr val="B3B8CC"/>
                </a:solidFill>
                <a:latin typeface="Calibri" pitchFamily="34" charset="0"/>
                <a:ea typeface="Calibri" pitchFamily="34" charset="-122"/>
                <a:cs typeface="Calibri" pitchFamily="34" charset="-120"/>
              </a:rPr>
              <a:t>Independent practices that invest in digital infrastructure, AI, and automation close the gap dramatically. The ones that don't fall further behind every year.</a:t>
            </a:r>
            <a:endParaRPr lang="en-US" sz="1100" dirty="0"/>
          </a:p>
        </p:txBody>
      </p:sp>
      <p:sp>
        <p:nvSpPr>
          <p:cNvPr id="76" name="Text 74"/>
          <p:cNvSpPr/>
          <p:nvPr/>
        </p:nvSpPr>
        <p:spPr>
          <a:xfrm>
            <a:off x="548640" y="4069080"/>
            <a:ext cx="3200400" cy="1097280"/>
          </a:xfrm>
          <a:prstGeom prst="rect">
            <a:avLst/>
          </a:prstGeom>
          <a:noFill/>
          <a:ln/>
        </p:spPr>
        <p:txBody>
          <a:bodyPr wrap="square" rtlCol="0" anchor="ctr"/>
          <a:lstStyle/>
          <a:p>
            <a:pPr indent="0" marL="0">
              <a:buNone/>
            </a:pPr>
            <a:r>
              <a:rPr lang="en-US" sz="6400" b="1" dirty="0">
                <a:solidFill>
                  <a:srgbClr val="CC2936"/>
                </a:solidFill>
                <a:latin typeface="Cambria" pitchFamily="34" charset="0"/>
                <a:ea typeface="Cambria" pitchFamily="34" charset="-122"/>
                <a:cs typeface="Cambria" pitchFamily="34" charset="-120"/>
              </a:rPr>
              <a:t>52%</a:t>
            </a:r>
            <a:endParaRPr lang="en-US" sz="6400" dirty="0"/>
          </a:p>
        </p:txBody>
      </p:sp>
      <p:sp>
        <p:nvSpPr>
          <p:cNvPr id="77" name="Text 75"/>
          <p:cNvSpPr/>
          <p:nvPr/>
        </p:nvSpPr>
        <p:spPr>
          <a:xfrm>
            <a:off x="548640" y="5074920"/>
            <a:ext cx="5029200" cy="457200"/>
          </a:xfrm>
          <a:prstGeom prst="rect">
            <a:avLst/>
          </a:prstGeom>
          <a:noFill/>
          <a:ln/>
        </p:spPr>
        <p:txBody>
          <a:bodyPr wrap="square" rtlCol="0" anchor="ctr"/>
          <a:lstStyle/>
          <a:p>
            <a:pPr indent="0" marL="0">
              <a:buNone/>
            </a:pPr>
            <a:r>
              <a:rPr lang="en-US" sz="1200" dirty="0">
                <a:solidFill>
                  <a:srgbClr val="B3B8CC"/>
                </a:solidFill>
                <a:latin typeface="Calibri" pitchFamily="34" charset="0"/>
                <a:ea typeface="Calibri" pitchFamily="34" charset="-122"/>
                <a:cs typeface="Calibri" pitchFamily="34" charset="-120"/>
              </a:rPr>
              <a:t>of patients prefer independent physicians — but only if they can find them</a:t>
            </a:r>
            <a:endParaRPr lang="en-US" sz="1200" dirty="0"/>
          </a:p>
        </p:txBody>
      </p:sp>
      <p:sp>
        <p:nvSpPr>
          <p:cNvPr id="78" name="Text 76"/>
          <p:cNvSpPr/>
          <p:nvPr/>
        </p:nvSpPr>
        <p:spPr>
          <a:xfrm>
            <a:off x="548640" y="6492240"/>
            <a:ext cx="8229600" cy="256032"/>
          </a:xfrm>
          <a:prstGeom prst="rect">
            <a:avLst/>
          </a:prstGeom>
          <a:noFill/>
          <a:ln/>
        </p:spPr>
        <p:txBody>
          <a:bodyPr wrap="square" rtlCol="0" anchor="ctr"/>
          <a:lstStyle/>
          <a:p>
            <a:pPr indent="0" marL="0">
              <a:buNone/>
            </a:pPr>
            <a:r>
              <a:rPr lang="en-US" sz="1000" i="1" dirty="0">
                <a:solidFill>
                  <a:srgbClr val="666E8A"/>
                </a:solidFill>
                <a:latin typeface="Calibri" pitchFamily="34" charset="0"/>
                <a:ea typeface="Calibri" pitchFamily="34" charset="-122"/>
                <a:cs typeface="Calibri" pitchFamily="34" charset="-120"/>
              </a:rPr>
              <a:t>Sound familiar?  →  See how Ensemble solves this on the next slide.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1D9E75">
              <a:alpha val="12000"/>
            </a:srgbClr>
          </a:solidFill>
          <a:ln w="12700">
            <a:solidFill>
              <a:srgbClr val="1D9E75">
                <a:alpha val="12000"/>
              </a:srgbClr>
            </a:solidFill>
            <a:prstDash val="solid"/>
          </a:ln>
        </p:spPr>
      </p:sp>
      <p:sp>
        <p:nvSpPr>
          <p:cNvPr id="57" name="Shape 55"/>
          <p:cNvSpPr/>
          <p:nvPr/>
        </p:nvSpPr>
        <p:spPr>
          <a:xfrm>
            <a:off x="8229600" y="2743200"/>
            <a:ext cx="4572000" cy="4572000"/>
          </a:xfrm>
          <a:prstGeom prst="ellipse">
            <a:avLst/>
          </a:prstGeom>
          <a:solidFill>
            <a:srgbClr val="1D9E75">
              <a:alpha val="13000"/>
            </a:srgbClr>
          </a:solidFill>
          <a:ln w="12700">
            <a:solidFill>
              <a:srgbClr val="1D9E75">
                <a:alpha val="13000"/>
              </a:srgbClr>
            </a:solidFill>
            <a:prstDash val="solid"/>
          </a:ln>
        </p:spPr>
      </p:sp>
      <p:sp>
        <p:nvSpPr>
          <p:cNvPr id="58" name="Text 56"/>
          <p:cNvSpPr/>
          <p:nvPr/>
        </p:nvSpPr>
        <p:spPr>
          <a:xfrm>
            <a:off x="548640" y="347472"/>
            <a:ext cx="9144000" cy="256032"/>
          </a:xfrm>
          <a:prstGeom prst="rect">
            <a:avLst/>
          </a:prstGeom>
          <a:noFill/>
          <a:ln/>
        </p:spPr>
        <p:txBody>
          <a:bodyPr wrap="square" rtlCol="0" anchor="ctr"/>
          <a:lstStyle/>
          <a:p>
            <a:pPr indent="0" marL="0">
              <a:buNone/>
            </a:pPr>
            <a:r>
              <a:rPr lang="en-US" sz="900" b="1" spc="300" kern="0" dirty="0">
                <a:solidFill>
                  <a:srgbClr val="1D9E75"/>
                </a:solidFill>
                <a:latin typeface="Calibri" pitchFamily="34" charset="0"/>
                <a:ea typeface="Calibri" pitchFamily="34" charset="-122"/>
                <a:cs typeface="Calibri" pitchFamily="34" charset="-120"/>
              </a:rPr>
              <a:t>ENSEMBLE SOLUTION  ·  PRACTICE GROWTH &amp; COMPETITION</a:t>
            </a:r>
            <a:endParaRPr lang="en-US" sz="900" dirty="0"/>
          </a:p>
        </p:txBody>
      </p:sp>
      <p:sp>
        <p:nvSpPr>
          <p:cNvPr id="59" name="Text 57"/>
          <p:cNvSpPr/>
          <p:nvPr/>
        </p:nvSpPr>
        <p:spPr>
          <a:xfrm>
            <a:off x="548640" y="658368"/>
            <a:ext cx="7772400" cy="1463040"/>
          </a:xfrm>
          <a:prstGeom prst="rect">
            <a:avLst/>
          </a:prstGeom>
          <a:noFill/>
          <a:ln/>
        </p:spPr>
        <p:txBody>
          <a:bodyPr wrap="square"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You don't need their budget.</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You need our strategy.</a:t>
            </a:r>
            <a:endParaRPr lang="en-US" sz="3400" dirty="0"/>
          </a:p>
        </p:txBody>
      </p:sp>
      <p:sp>
        <p:nvSpPr>
          <p:cNvPr id="60" name="Text 58"/>
          <p:cNvSpPr/>
          <p:nvPr/>
        </p:nvSpPr>
        <p:spPr>
          <a:xfrm>
            <a:off x="548640" y="2286000"/>
            <a:ext cx="6035040" cy="1005840"/>
          </a:xfrm>
          <a:prstGeom prst="rect">
            <a:avLst/>
          </a:prstGeom>
          <a:noFill/>
          <a:ln/>
        </p:spPr>
        <p:txBody>
          <a:bodyPr wrap="square" rtlCol="0" anchor="ctr"/>
          <a:lstStyle/>
          <a:p>
            <a:pPr indent="0" marL="0">
              <a:lnSpc>
                <a:spcPct val="150000"/>
              </a:lnSpc>
              <a:buNone/>
            </a:pPr>
            <a:r>
              <a:rPr lang="en-US" sz="1400" dirty="0">
                <a:solidFill>
                  <a:srgbClr val="B3B8CC"/>
                </a:solidFill>
                <a:latin typeface="Calibri" pitchFamily="34" charset="0"/>
                <a:ea typeface="Calibri" pitchFamily="34" charset="-122"/>
                <a:cs typeface="Calibri" pitchFamily="34" charset="-120"/>
              </a:rPr>
              <a:t>Independent practices have structural advantages health systems can never buy — physician relationships, flexibility, and authentic patient trust. We build the digital infrastructure that makes those advantages visible, findable, and scalable.</a:t>
            </a:r>
            <a:endParaRPr lang="en-US" sz="1400" dirty="0"/>
          </a:p>
        </p:txBody>
      </p:sp>
      <p:sp>
        <p:nvSpPr>
          <p:cNvPr id="61" name="Shape 59"/>
          <p:cNvSpPr/>
          <p:nvPr/>
        </p:nvSpPr>
        <p:spPr>
          <a:xfrm>
            <a:off x="548640" y="3474720"/>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2" name="Shape 60"/>
          <p:cNvSpPr/>
          <p:nvPr/>
        </p:nvSpPr>
        <p:spPr>
          <a:xfrm>
            <a:off x="749808" y="3721608"/>
            <a:ext cx="164592" cy="164592"/>
          </a:xfrm>
          <a:prstGeom prst="ellipse">
            <a:avLst/>
          </a:prstGeom>
          <a:solidFill>
            <a:srgbClr val="1D9E75"/>
          </a:solidFill>
          <a:ln w="12700">
            <a:solidFill>
              <a:srgbClr val="1D9E75"/>
            </a:solidFill>
            <a:prstDash val="solid"/>
          </a:ln>
        </p:spPr>
      </p:sp>
      <p:sp>
        <p:nvSpPr>
          <p:cNvPr id="63" name="Text 61"/>
          <p:cNvSpPr/>
          <p:nvPr/>
        </p:nvSpPr>
        <p:spPr>
          <a:xfrm>
            <a:off x="1024128" y="356616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Local dominance strategy — own every search that matters in your service area</a:t>
            </a:r>
            <a:endParaRPr lang="en-US" sz="1250" dirty="0"/>
          </a:p>
        </p:txBody>
      </p:sp>
      <p:sp>
        <p:nvSpPr>
          <p:cNvPr id="64" name="Shape 62"/>
          <p:cNvSpPr/>
          <p:nvPr/>
        </p:nvSpPr>
        <p:spPr>
          <a:xfrm>
            <a:off x="548640" y="4261104"/>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5" name="Shape 63"/>
          <p:cNvSpPr/>
          <p:nvPr/>
        </p:nvSpPr>
        <p:spPr>
          <a:xfrm>
            <a:off x="749808" y="4507992"/>
            <a:ext cx="164592" cy="164592"/>
          </a:xfrm>
          <a:prstGeom prst="ellipse">
            <a:avLst/>
          </a:prstGeom>
          <a:solidFill>
            <a:srgbClr val="1D9E75"/>
          </a:solidFill>
          <a:ln w="12700">
            <a:solidFill>
              <a:srgbClr val="1D9E75"/>
            </a:solidFill>
            <a:prstDash val="solid"/>
          </a:ln>
        </p:spPr>
      </p:sp>
      <p:sp>
        <p:nvSpPr>
          <p:cNvPr id="66" name="Text 64"/>
          <p:cNvSpPr/>
          <p:nvPr/>
        </p:nvSpPr>
        <p:spPr>
          <a:xfrm>
            <a:off x="1024128" y="420624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Physician brand building — your credentials and story front and center</a:t>
            </a:r>
            <a:endParaRPr lang="en-US" sz="1250" dirty="0"/>
          </a:p>
        </p:txBody>
      </p:sp>
      <p:sp>
        <p:nvSpPr>
          <p:cNvPr id="67" name="Shape 65"/>
          <p:cNvSpPr/>
          <p:nvPr/>
        </p:nvSpPr>
        <p:spPr>
          <a:xfrm>
            <a:off x="548640" y="5047488"/>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68" name="Shape 66"/>
          <p:cNvSpPr/>
          <p:nvPr/>
        </p:nvSpPr>
        <p:spPr>
          <a:xfrm>
            <a:off x="749808" y="5294376"/>
            <a:ext cx="164592" cy="164592"/>
          </a:xfrm>
          <a:prstGeom prst="ellipse">
            <a:avLst/>
          </a:prstGeom>
          <a:solidFill>
            <a:srgbClr val="1D9E75"/>
          </a:solidFill>
          <a:ln w="12700">
            <a:solidFill>
              <a:srgbClr val="1D9E75"/>
            </a:solidFill>
            <a:prstDash val="solid"/>
          </a:ln>
        </p:spPr>
      </p:sp>
      <p:sp>
        <p:nvSpPr>
          <p:cNvPr id="69" name="Text 67"/>
          <p:cNvSpPr/>
          <p:nvPr/>
        </p:nvSpPr>
        <p:spPr>
          <a:xfrm>
            <a:off x="1024128" y="484632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Speed advantage — we move in weeks, health systems move in quarters</a:t>
            </a:r>
            <a:endParaRPr lang="en-US" sz="1250" dirty="0"/>
          </a:p>
        </p:txBody>
      </p:sp>
      <p:sp>
        <p:nvSpPr>
          <p:cNvPr id="70" name="Shape 68"/>
          <p:cNvSpPr/>
          <p:nvPr/>
        </p:nvSpPr>
        <p:spPr>
          <a:xfrm>
            <a:off x="548640" y="5833872"/>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1" name="Shape 69"/>
          <p:cNvSpPr/>
          <p:nvPr/>
        </p:nvSpPr>
        <p:spPr>
          <a:xfrm>
            <a:off x="749808" y="6080760"/>
            <a:ext cx="164592" cy="164592"/>
          </a:xfrm>
          <a:prstGeom prst="ellipse">
            <a:avLst/>
          </a:prstGeom>
          <a:solidFill>
            <a:srgbClr val="1D9E75"/>
          </a:solidFill>
          <a:ln w="12700">
            <a:solidFill>
              <a:srgbClr val="1D9E75"/>
            </a:solidFill>
            <a:prstDash val="solid"/>
          </a:ln>
        </p:spPr>
      </p:sp>
      <p:sp>
        <p:nvSpPr>
          <p:cNvPr id="72" name="Text 70"/>
          <p:cNvSpPr/>
          <p:nvPr/>
        </p:nvSpPr>
        <p:spPr>
          <a:xfrm>
            <a:off x="1024128" y="548640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AI tools that enterprise systems pay $500K to license — available to your practice now</a:t>
            </a:r>
            <a:endParaRPr lang="en-US" sz="1250" dirty="0"/>
          </a:p>
        </p:txBody>
      </p:sp>
      <p:sp>
        <p:nvSpPr>
          <p:cNvPr id="73" name="Shape 71"/>
          <p:cNvSpPr/>
          <p:nvPr/>
        </p:nvSpPr>
        <p:spPr>
          <a:xfrm>
            <a:off x="548640" y="6620256"/>
            <a:ext cx="5943600" cy="658368"/>
          </a:xfrm>
          <a:prstGeom prst="roundRect">
            <a:avLst>
              <a:gd name="adj" fmla="val 19444"/>
            </a:avLst>
          </a:prstGeom>
          <a:solidFill>
            <a:srgbClr val="0F1525"/>
          </a:solidFill>
          <a:ln w="6350">
            <a:solidFill>
              <a:srgbClr val="FFFFFF">
                <a:alpha val="7000"/>
              </a:srgbClr>
            </a:solidFill>
            <a:prstDash val="solid"/>
          </a:ln>
          <a:effectLst>
            <a:outerShdw sx="100000" sy="100000" kx="0" ky="0" algn="bl" rotWithShape="0" blurRad="127000" dist="38100" dir="2700000">
              <a:srgbClr val="000000">
                <a:alpha val="22000"/>
              </a:srgbClr>
            </a:outerShdw>
          </a:effectLst>
        </p:spPr>
      </p:sp>
      <p:sp>
        <p:nvSpPr>
          <p:cNvPr id="74" name="Shape 72"/>
          <p:cNvSpPr/>
          <p:nvPr/>
        </p:nvSpPr>
        <p:spPr>
          <a:xfrm>
            <a:off x="749808" y="6867144"/>
            <a:ext cx="164592" cy="164592"/>
          </a:xfrm>
          <a:prstGeom prst="ellipse">
            <a:avLst/>
          </a:prstGeom>
          <a:solidFill>
            <a:srgbClr val="1D9E75"/>
          </a:solidFill>
          <a:ln w="12700">
            <a:solidFill>
              <a:srgbClr val="1D9E75"/>
            </a:solidFill>
            <a:prstDash val="solid"/>
          </a:ln>
        </p:spPr>
      </p:sp>
      <p:sp>
        <p:nvSpPr>
          <p:cNvPr id="75" name="Text 73"/>
          <p:cNvSpPr/>
          <p:nvPr/>
        </p:nvSpPr>
        <p:spPr>
          <a:xfrm>
            <a:off x="1024128" y="6126480"/>
            <a:ext cx="534924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Enterprise-grade security and compliance — the same standards Fortune 100 companies use</a:t>
            </a:r>
            <a:endParaRPr lang="en-US" sz="1250" dirty="0"/>
          </a:p>
        </p:txBody>
      </p:sp>
      <p:sp>
        <p:nvSpPr>
          <p:cNvPr id="76" name="Shape 74"/>
          <p:cNvSpPr/>
          <p:nvPr/>
        </p:nvSpPr>
        <p:spPr>
          <a:xfrm>
            <a:off x="6858000" y="2011680"/>
            <a:ext cx="4846320" cy="4389120"/>
          </a:xfrm>
          <a:prstGeom prst="roundRect">
            <a:avLst>
              <a:gd name="adj" fmla="val 2917"/>
            </a:avLst>
          </a:prstGeom>
          <a:solidFill>
            <a:srgbClr val="161D32"/>
          </a:solidFill>
          <a:ln w="15240">
            <a:solidFill>
              <a:srgbClr val="1D9E75">
                <a:alpha val="50000"/>
              </a:srgbClr>
            </a:solidFill>
            <a:prstDash val="solid"/>
          </a:ln>
          <a:effectLst>
            <a:outerShdw sx="100000" sy="100000" kx="0" ky="0" algn="bl" rotWithShape="0" blurRad="127000" dist="38100" dir="2700000">
              <a:srgbClr val="000000">
                <a:alpha val="22000"/>
              </a:srgbClr>
            </a:outerShdw>
          </a:effectLst>
        </p:spPr>
      </p:sp>
      <p:sp>
        <p:nvSpPr>
          <p:cNvPr id="77" name="Text 75"/>
          <p:cNvSpPr/>
          <p:nvPr/>
        </p:nvSpPr>
        <p:spPr>
          <a:xfrm>
            <a:off x="7086600" y="2212848"/>
            <a:ext cx="4389120" cy="274320"/>
          </a:xfrm>
          <a:prstGeom prst="rect">
            <a:avLst/>
          </a:prstGeom>
          <a:noFill/>
          <a:ln/>
        </p:spPr>
        <p:txBody>
          <a:bodyPr wrap="square" rtlCol="0" anchor="ctr"/>
          <a:lstStyle/>
          <a:p>
            <a:pPr indent="0" marL="0">
              <a:buNone/>
            </a:pPr>
            <a:r>
              <a:rPr lang="en-US" sz="900" b="1" spc="200" kern="0" dirty="0">
                <a:solidFill>
                  <a:srgbClr val="1D9E75"/>
                </a:solidFill>
                <a:latin typeface="Calibri" pitchFamily="34" charset="0"/>
                <a:ea typeface="Calibri" pitchFamily="34" charset="-122"/>
                <a:cs typeface="Calibri" pitchFamily="34" charset="-120"/>
              </a:rPr>
              <a:t>THE RESULT</a:t>
            </a:r>
            <a:endParaRPr lang="en-US" sz="900" dirty="0"/>
          </a:p>
        </p:txBody>
      </p:sp>
      <p:sp>
        <p:nvSpPr>
          <p:cNvPr id="78" name="Text 76"/>
          <p:cNvSpPr/>
          <p:nvPr/>
        </p:nvSpPr>
        <p:spPr>
          <a:xfrm>
            <a:off x="7086600" y="2542032"/>
            <a:ext cx="4389120" cy="777240"/>
          </a:xfrm>
          <a:prstGeom prst="rect">
            <a:avLst/>
          </a:prstGeom>
          <a:noFill/>
          <a:ln/>
        </p:spPr>
        <p:txBody>
          <a:bodyPr wrap="square"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Independent and thriving. On your terms.</a:t>
            </a:r>
            <a:endParaRPr lang="en-US" sz="2000" dirty="0"/>
          </a:p>
        </p:txBody>
      </p:sp>
      <p:sp>
        <p:nvSpPr>
          <p:cNvPr id="79" name="Text 77"/>
          <p:cNvSpPr/>
          <p:nvPr/>
        </p:nvSpPr>
        <p:spPr>
          <a:xfrm>
            <a:off x="7086600" y="3401568"/>
            <a:ext cx="4389120" cy="1371600"/>
          </a:xfrm>
          <a:prstGeom prst="rect">
            <a:avLst/>
          </a:prstGeom>
          <a:noFill/>
          <a:ln/>
        </p:spPr>
        <p:txBody>
          <a:bodyPr wrap="square" rtlCol="0" anchor="ctr"/>
          <a:lstStyle/>
          <a:p>
            <a:pPr indent="0" marL="0">
              <a:lnSpc>
                <a:spcPct val="150000"/>
              </a:lnSpc>
              <a:buNone/>
            </a:pPr>
            <a:r>
              <a:rPr lang="en-US" sz="1250" dirty="0">
                <a:solidFill>
                  <a:srgbClr val="B3B8CC"/>
                </a:solidFill>
                <a:latin typeface="Calibri" pitchFamily="34" charset="0"/>
                <a:ea typeface="Calibri" pitchFamily="34" charset="-122"/>
                <a:cs typeface="Calibri" pitchFamily="34" charset="-120"/>
              </a:rPr>
              <a:t>The practices winning against health systems are not the ones with the biggest budgets. They are the ones with the sharpest digital strategy, the strongest local reputation, and a technology partner who moves as fast as they need to.</a:t>
            </a:r>
            <a:endParaRPr lang="en-US" sz="1250" dirty="0"/>
          </a:p>
        </p:txBody>
      </p:sp>
      <p:sp>
        <p:nvSpPr>
          <p:cNvPr id="80" name="Text 78"/>
          <p:cNvSpPr/>
          <p:nvPr/>
        </p:nvSpPr>
        <p:spPr>
          <a:xfrm>
            <a:off x="708660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F100</a:t>
            </a:r>
            <a:endParaRPr lang="en-US" sz="3600" dirty="0"/>
          </a:p>
        </p:txBody>
      </p:sp>
      <p:sp>
        <p:nvSpPr>
          <p:cNvPr id="81" name="Text 79"/>
          <p:cNvSpPr/>
          <p:nvPr/>
        </p:nvSpPr>
        <p:spPr>
          <a:xfrm>
            <a:off x="708660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enterprise standards at practice scale</a:t>
            </a:r>
            <a:endParaRPr lang="en-US" sz="1000" dirty="0"/>
          </a:p>
        </p:txBody>
      </p:sp>
      <p:sp>
        <p:nvSpPr>
          <p:cNvPr id="82" name="Text 80"/>
          <p:cNvSpPr/>
          <p:nvPr/>
        </p:nvSpPr>
        <p:spPr>
          <a:xfrm>
            <a:off x="9418320" y="4892040"/>
            <a:ext cx="2103120" cy="685800"/>
          </a:xfrm>
          <a:prstGeom prst="rect">
            <a:avLst/>
          </a:prstGeom>
          <a:noFill/>
          <a:ln/>
        </p:spPr>
        <p:txBody>
          <a:bodyPr wrap="square" rtlCol="0" anchor="ctr"/>
          <a:lstStyle/>
          <a:p>
            <a:pPr indent="0" marL="0">
              <a:buNone/>
            </a:pPr>
            <a:r>
              <a:rPr lang="en-US" sz="3600" b="1" dirty="0">
                <a:solidFill>
                  <a:srgbClr val="1D9E75"/>
                </a:solidFill>
                <a:latin typeface="Cambria" pitchFamily="34" charset="0"/>
                <a:ea typeface="Cambria" pitchFamily="34" charset="-122"/>
                <a:cs typeface="Cambria" pitchFamily="34" charset="-120"/>
              </a:rPr>
              <a:t>Local</a:t>
            </a:r>
            <a:endParaRPr lang="en-US" sz="3600" dirty="0"/>
          </a:p>
        </p:txBody>
      </p:sp>
      <p:sp>
        <p:nvSpPr>
          <p:cNvPr id="83" name="Text 81"/>
          <p:cNvSpPr/>
          <p:nvPr/>
        </p:nvSpPr>
        <p:spPr>
          <a:xfrm>
            <a:off x="9418320" y="5559552"/>
            <a:ext cx="2103120" cy="502920"/>
          </a:xfrm>
          <a:prstGeom prst="rect">
            <a:avLst/>
          </a:prstGeom>
          <a:noFill/>
          <a:ln/>
        </p:spPr>
        <p:txBody>
          <a:bodyPr wrap="square" rtlCol="0" anchor="ctr"/>
          <a:lstStyle/>
          <a:p>
            <a:pPr indent="0" marL="0">
              <a:lnSpc>
                <a:spcPct val="130000"/>
              </a:lnSpc>
              <a:buNone/>
            </a:pPr>
            <a:r>
              <a:rPr lang="en-US" sz="1000" dirty="0">
                <a:solidFill>
                  <a:srgbClr val="B3B8CC"/>
                </a:solidFill>
                <a:latin typeface="Calibri" pitchFamily="34" charset="0"/>
                <a:ea typeface="Calibri" pitchFamily="34" charset="-122"/>
                <a:cs typeface="Calibri" pitchFamily="34" charset="-120"/>
              </a:rPr>
              <a:t>dominance within 90 days</a:t>
            </a:r>
            <a:endParaRPr lang="en-US" sz="1000" dirty="0"/>
          </a:p>
        </p:txBody>
      </p:sp>
      <p:sp>
        <p:nvSpPr>
          <p:cNvPr id="84" name="Shape 82"/>
          <p:cNvSpPr/>
          <p:nvPr/>
        </p:nvSpPr>
        <p:spPr>
          <a:xfrm>
            <a:off x="548640" y="6473952"/>
            <a:ext cx="2743200" cy="320040"/>
          </a:xfrm>
          <a:prstGeom prst="roundRect">
            <a:avLst>
              <a:gd name="adj" fmla="val 57143"/>
            </a:avLst>
          </a:prstGeom>
          <a:solidFill>
            <a:srgbClr val="E8604F"/>
          </a:solidFill>
          <a:ln/>
        </p:spPr>
      </p:sp>
      <p:sp>
        <p:nvSpPr>
          <p:cNvPr id="85" name="Text 83"/>
          <p:cNvSpPr/>
          <p:nvPr/>
        </p:nvSpPr>
        <p:spPr>
          <a:xfrm>
            <a:off x="548640" y="6473952"/>
            <a:ext cx="27432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 Practice Audit  →</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457200" y="274320"/>
            <a:ext cx="32004" cy="32004"/>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457200" y="1463040"/>
            <a:ext cx="32004" cy="32004"/>
          </a:xfrm>
          <a:prstGeom prst="ellipse">
            <a:avLst/>
          </a:prstGeom>
          <a:solidFill>
            <a:srgbClr val="FFFFFF">
              <a:alpha val="10000"/>
            </a:srgbClr>
          </a:solidFill>
          <a:ln w="12700">
            <a:solidFill>
              <a:srgbClr val="FFFFFF">
                <a:alpha val="0"/>
              </a:srgbClr>
            </a:solidFill>
            <a:prstDash val="solid"/>
          </a:ln>
        </p:spPr>
      </p:sp>
      <p:sp>
        <p:nvSpPr>
          <p:cNvPr id="4" name="Shape 2"/>
          <p:cNvSpPr/>
          <p:nvPr/>
        </p:nvSpPr>
        <p:spPr>
          <a:xfrm>
            <a:off x="457200" y="2651760"/>
            <a:ext cx="32004" cy="32004"/>
          </a:xfrm>
          <a:prstGeom prst="ellipse">
            <a:avLst/>
          </a:prstGeom>
          <a:solidFill>
            <a:srgbClr val="FFFFFF">
              <a:alpha val="10000"/>
            </a:srgbClr>
          </a:solidFill>
          <a:ln w="12700">
            <a:solidFill>
              <a:srgbClr val="FFFFFF">
                <a:alpha val="0"/>
              </a:srgbClr>
            </a:solidFill>
            <a:prstDash val="solid"/>
          </a:ln>
        </p:spPr>
      </p:sp>
      <p:sp>
        <p:nvSpPr>
          <p:cNvPr id="5" name="Shape 3"/>
          <p:cNvSpPr/>
          <p:nvPr/>
        </p:nvSpPr>
        <p:spPr>
          <a:xfrm>
            <a:off x="457200" y="3840480"/>
            <a:ext cx="32004" cy="32004"/>
          </a:xfrm>
          <a:prstGeom prst="ellipse">
            <a:avLst/>
          </a:prstGeom>
          <a:solidFill>
            <a:srgbClr val="FFFFFF">
              <a:alpha val="10000"/>
            </a:srgbClr>
          </a:solidFill>
          <a:ln w="12700">
            <a:solidFill>
              <a:srgbClr val="FFFFFF">
                <a:alpha val="0"/>
              </a:srgbClr>
            </a:solidFill>
            <a:prstDash val="solid"/>
          </a:ln>
        </p:spPr>
      </p:sp>
      <p:sp>
        <p:nvSpPr>
          <p:cNvPr id="6" name="Shape 4"/>
          <p:cNvSpPr/>
          <p:nvPr/>
        </p:nvSpPr>
        <p:spPr>
          <a:xfrm>
            <a:off x="457200" y="5029200"/>
            <a:ext cx="32004" cy="32004"/>
          </a:xfrm>
          <a:prstGeom prst="ellipse">
            <a:avLst/>
          </a:prstGeom>
          <a:solidFill>
            <a:srgbClr val="FFFFFF">
              <a:alpha val="10000"/>
            </a:srgbClr>
          </a:solidFill>
          <a:ln w="12700">
            <a:solidFill>
              <a:srgbClr val="FFFFFF">
                <a:alpha val="0"/>
              </a:srgbClr>
            </a:solidFill>
            <a:prstDash val="solid"/>
          </a:ln>
        </p:spPr>
      </p:sp>
      <p:sp>
        <p:nvSpPr>
          <p:cNvPr id="7" name="Shape 5"/>
          <p:cNvSpPr/>
          <p:nvPr/>
        </p:nvSpPr>
        <p:spPr>
          <a:xfrm>
            <a:off x="457200" y="6217920"/>
            <a:ext cx="32004" cy="32004"/>
          </a:xfrm>
          <a:prstGeom prst="ellipse">
            <a:avLst/>
          </a:prstGeom>
          <a:solidFill>
            <a:srgbClr val="FFFFFF">
              <a:alpha val="10000"/>
            </a:srgbClr>
          </a:solidFill>
          <a:ln w="12700">
            <a:solidFill>
              <a:srgbClr val="FFFFFF">
                <a:alpha val="0"/>
              </a:srgbClr>
            </a:solidFill>
            <a:prstDash val="solid"/>
          </a:ln>
        </p:spPr>
      </p:sp>
      <p:sp>
        <p:nvSpPr>
          <p:cNvPr id="8" name="Shape 6"/>
          <p:cNvSpPr/>
          <p:nvPr/>
        </p:nvSpPr>
        <p:spPr>
          <a:xfrm>
            <a:off x="1755648" y="274320"/>
            <a:ext cx="32004" cy="32004"/>
          </a:xfrm>
          <a:prstGeom prst="ellipse">
            <a:avLst/>
          </a:prstGeom>
          <a:solidFill>
            <a:srgbClr val="FFFFFF">
              <a:alpha val="10000"/>
            </a:srgbClr>
          </a:solidFill>
          <a:ln w="12700">
            <a:solidFill>
              <a:srgbClr val="FFFFFF">
                <a:alpha val="0"/>
              </a:srgbClr>
            </a:solidFill>
            <a:prstDash val="solid"/>
          </a:ln>
        </p:spPr>
      </p:sp>
      <p:sp>
        <p:nvSpPr>
          <p:cNvPr id="9" name="Shape 7"/>
          <p:cNvSpPr/>
          <p:nvPr/>
        </p:nvSpPr>
        <p:spPr>
          <a:xfrm>
            <a:off x="1755648" y="1463040"/>
            <a:ext cx="32004" cy="32004"/>
          </a:xfrm>
          <a:prstGeom prst="ellipse">
            <a:avLst/>
          </a:prstGeom>
          <a:solidFill>
            <a:srgbClr val="FFFFFF">
              <a:alpha val="10000"/>
            </a:srgbClr>
          </a:solidFill>
          <a:ln w="12700">
            <a:solidFill>
              <a:srgbClr val="FFFFFF">
                <a:alpha val="0"/>
              </a:srgbClr>
            </a:solidFill>
            <a:prstDash val="solid"/>
          </a:ln>
        </p:spPr>
      </p:sp>
      <p:sp>
        <p:nvSpPr>
          <p:cNvPr id="10" name="Shape 8"/>
          <p:cNvSpPr/>
          <p:nvPr/>
        </p:nvSpPr>
        <p:spPr>
          <a:xfrm>
            <a:off x="1755648" y="2651760"/>
            <a:ext cx="32004" cy="32004"/>
          </a:xfrm>
          <a:prstGeom prst="ellipse">
            <a:avLst/>
          </a:prstGeom>
          <a:solidFill>
            <a:srgbClr val="FFFFFF">
              <a:alpha val="10000"/>
            </a:srgbClr>
          </a:solidFill>
          <a:ln w="12700">
            <a:solidFill>
              <a:srgbClr val="FFFFFF">
                <a:alpha val="0"/>
              </a:srgbClr>
            </a:solidFill>
            <a:prstDash val="solid"/>
          </a:ln>
        </p:spPr>
      </p:sp>
      <p:sp>
        <p:nvSpPr>
          <p:cNvPr id="11" name="Shape 9"/>
          <p:cNvSpPr/>
          <p:nvPr/>
        </p:nvSpPr>
        <p:spPr>
          <a:xfrm>
            <a:off x="1755648" y="3840480"/>
            <a:ext cx="32004" cy="32004"/>
          </a:xfrm>
          <a:prstGeom prst="ellipse">
            <a:avLst/>
          </a:prstGeom>
          <a:solidFill>
            <a:srgbClr val="FFFFFF">
              <a:alpha val="10000"/>
            </a:srgbClr>
          </a:solidFill>
          <a:ln w="12700">
            <a:solidFill>
              <a:srgbClr val="FFFFFF">
                <a:alpha val="0"/>
              </a:srgbClr>
            </a:solidFill>
            <a:prstDash val="solid"/>
          </a:ln>
        </p:spPr>
      </p:sp>
      <p:sp>
        <p:nvSpPr>
          <p:cNvPr id="12" name="Shape 10"/>
          <p:cNvSpPr/>
          <p:nvPr/>
        </p:nvSpPr>
        <p:spPr>
          <a:xfrm>
            <a:off x="1755648" y="5029200"/>
            <a:ext cx="32004" cy="32004"/>
          </a:xfrm>
          <a:prstGeom prst="ellipse">
            <a:avLst/>
          </a:prstGeom>
          <a:solidFill>
            <a:srgbClr val="FFFFFF">
              <a:alpha val="10000"/>
            </a:srgbClr>
          </a:solidFill>
          <a:ln w="12700">
            <a:solidFill>
              <a:srgbClr val="FFFFFF">
                <a:alpha val="0"/>
              </a:srgbClr>
            </a:solidFill>
            <a:prstDash val="solid"/>
          </a:ln>
        </p:spPr>
      </p:sp>
      <p:sp>
        <p:nvSpPr>
          <p:cNvPr id="13" name="Shape 11"/>
          <p:cNvSpPr/>
          <p:nvPr/>
        </p:nvSpPr>
        <p:spPr>
          <a:xfrm>
            <a:off x="1755648" y="6217920"/>
            <a:ext cx="32004" cy="32004"/>
          </a:xfrm>
          <a:prstGeom prst="ellipse">
            <a:avLst/>
          </a:prstGeom>
          <a:solidFill>
            <a:srgbClr val="FFFFFF">
              <a:alpha val="10000"/>
            </a:srgbClr>
          </a:solidFill>
          <a:ln w="12700">
            <a:solidFill>
              <a:srgbClr val="FFFFFF">
                <a:alpha val="0"/>
              </a:srgbClr>
            </a:solidFill>
            <a:prstDash val="solid"/>
          </a:ln>
        </p:spPr>
      </p:sp>
      <p:sp>
        <p:nvSpPr>
          <p:cNvPr id="14" name="Shape 12"/>
          <p:cNvSpPr/>
          <p:nvPr/>
        </p:nvSpPr>
        <p:spPr>
          <a:xfrm>
            <a:off x="3054096" y="274320"/>
            <a:ext cx="32004" cy="32004"/>
          </a:xfrm>
          <a:prstGeom prst="ellipse">
            <a:avLst/>
          </a:prstGeom>
          <a:solidFill>
            <a:srgbClr val="FFFFFF">
              <a:alpha val="10000"/>
            </a:srgbClr>
          </a:solidFill>
          <a:ln w="12700">
            <a:solidFill>
              <a:srgbClr val="FFFFFF">
                <a:alpha val="0"/>
              </a:srgbClr>
            </a:solidFill>
            <a:prstDash val="solid"/>
          </a:ln>
        </p:spPr>
      </p:sp>
      <p:sp>
        <p:nvSpPr>
          <p:cNvPr id="15" name="Shape 13"/>
          <p:cNvSpPr/>
          <p:nvPr/>
        </p:nvSpPr>
        <p:spPr>
          <a:xfrm>
            <a:off x="3054096" y="1463040"/>
            <a:ext cx="32004" cy="32004"/>
          </a:xfrm>
          <a:prstGeom prst="ellipse">
            <a:avLst/>
          </a:prstGeom>
          <a:solidFill>
            <a:srgbClr val="FFFFFF">
              <a:alpha val="10000"/>
            </a:srgbClr>
          </a:solidFill>
          <a:ln w="12700">
            <a:solidFill>
              <a:srgbClr val="FFFFFF">
                <a:alpha val="0"/>
              </a:srgbClr>
            </a:solidFill>
            <a:prstDash val="solid"/>
          </a:ln>
        </p:spPr>
      </p:sp>
      <p:sp>
        <p:nvSpPr>
          <p:cNvPr id="16" name="Shape 14"/>
          <p:cNvSpPr/>
          <p:nvPr/>
        </p:nvSpPr>
        <p:spPr>
          <a:xfrm>
            <a:off x="3054096" y="2651760"/>
            <a:ext cx="32004" cy="32004"/>
          </a:xfrm>
          <a:prstGeom prst="ellipse">
            <a:avLst/>
          </a:prstGeom>
          <a:solidFill>
            <a:srgbClr val="FFFFFF">
              <a:alpha val="10000"/>
            </a:srgbClr>
          </a:solidFill>
          <a:ln w="12700">
            <a:solidFill>
              <a:srgbClr val="FFFFFF">
                <a:alpha val="0"/>
              </a:srgbClr>
            </a:solidFill>
            <a:prstDash val="solid"/>
          </a:ln>
        </p:spPr>
      </p:sp>
      <p:sp>
        <p:nvSpPr>
          <p:cNvPr id="17" name="Shape 15"/>
          <p:cNvSpPr/>
          <p:nvPr/>
        </p:nvSpPr>
        <p:spPr>
          <a:xfrm>
            <a:off x="3054096" y="3840480"/>
            <a:ext cx="32004" cy="32004"/>
          </a:xfrm>
          <a:prstGeom prst="ellipse">
            <a:avLst/>
          </a:prstGeom>
          <a:solidFill>
            <a:srgbClr val="FFFFFF">
              <a:alpha val="10000"/>
            </a:srgbClr>
          </a:solidFill>
          <a:ln w="12700">
            <a:solidFill>
              <a:srgbClr val="FFFFFF">
                <a:alpha val="0"/>
              </a:srgbClr>
            </a:solidFill>
            <a:prstDash val="solid"/>
          </a:ln>
        </p:spPr>
      </p:sp>
      <p:sp>
        <p:nvSpPr>
          <p:cNvPr id="18" name="Shape 16"/>
          <p:cNvSpPr/>
          <p:nvPr/>
        </p:nvSpPr>
        <p:spPr>
          <a:xfrm>
            <a:off x="3054096" y="5029200"/>
            <a:ext cx="32004" cy="32004"/>
          </a:xfrm>
          <a:prstGeom prst="ellipse">
            <a:avLst/>
          </a:prstGeom>
          <a:solidFill>
            <a:srgbClr val="FFFFFF">
              <a:alpha val="10000"/>
            </a:srgbClr>
          </a:solidFill>
          <a:ln w="12700">
            <a:solidFill>
              <a:srgbClr val="FFFFFF">
                <a:alpha val="0"/>
              </a:srgbClr>
            </a:solidFill>
            <a:prstDash val="solid"/>
          </a:ln>
        </p:spPr>
      </p:sp>
      <p:sp>
        <p:nvSpPr>
          <p:cNvPr id="19" name="Shape 17"/>
          <p:cNvSpPr/>
          <p:nvPr/>
        </p:nvSpPr>
        <p:spPr>
          <a:xfrm>
            <a:off x="3054096" y="6217920"/>
            <a:ext cx="32004" cy="32004"/>
          </a:xfrm>
          <a:prstGeom prst="ellipse">
            <a:avLst/>
          </a:prstGeom>
          <a:solidFill>
            <a:srgbClr val="FFFFFF">
              <a:alpha val="10000"/>
            </a:srgbClr>
          </a:solidFill>
          <a:ln w="12700">
            <a:solidFill>
              <a:srgbClr val="FFFFFF">
                <a:alpha val="0"/>
              </a:srgbClr>
            </a:solidFill>
            <a:prstDash val="solid"/>
          </a:ln>
        </p:spPr>
      </p:sp>
      <p:sp>
        <p:nvSpPr>
          <p:cNvPr id="20" name="Shape 18"/>
          <p:cNvSpPr/>
          <p:nvPr/>
        </p:nvSpPr>
        <p:spPr>
          <a:xfrm>
            <a:off x="4352544" y="274320"/>
            <a:ext cx="32004" cy="32004"/>
          </a:xfrm>
          <a:prstGeom prst="ellipse">
            <a:avLst/>
          </a:prstGeom>
          <a:solidFill>
            <a:srgbClr val="FFFFFF">
              <a:alpha val="10000"/>
            </a:srgbClr>
          </a:solidFill>
          <a:ln w="12700">
            <a:solidFill>
              <a:srgbClr val="FFFFFF">
                <a:alpha val="0"/>
              </a:srgbClr>
            </a:solidFill>
            <a:prstDash val="solid"/>
          </a:ln>
        </p:spPr>
      </p:sp>
      <p:sp>
        <p:nvSpPr>
          <p:cNvPr id="21" name="Shape 19"/>
          <p:cNvSpPr/>
          <p:nvPr/>
        </p:nvSpPr>
        <p:spPr>
          <a:xfrm>
            <a:off x="4352544" y="1463040"/>
            <a:ext cx="32004" cy="32004"/>
          </a:xfrm>
          <a:prstGeom prst="ellipse">
            <a:avLst/>
          </a:prstGeom>
          <a:solidFill>
            <a:srgbClr val="FFFFFF">
              <a:alpha val="10000"/>
            </a:srgbClr>
          </a:solidFill>
          <a:ln w="12700">
            <a:solidFill>
              <a:srgbClr val="FFFFFF">
                <a:alpha val="0"/>
              </a:srgbClr>
            </a:solidFill>
            <a:prstDash val="solid"/>
          </a:ln>
        </p:spPr>
      </p:sp>
      <p:sp>
        <p:nvSpPr>
          <p:cNvPr id="22" name="Shape 20"/>
          <p:cNvSpPr/>
          <p:nvPr/>
        </p:nvSpPr>
        <p:spPr>
          <a:xfrm>
            <a:off x="4352544" y="2651760"/>
            <a:ext cx="32004" cy="32004"/>
          </a:xfrm>
          <a:prstGeom prst="ellipse">
            <a:avLst/>
          </a:prstGeom>
          <a:solidFill>
            <a:srgbClr val="FFFFFF">
              <a:alpha val="10000"/>
            </a:srgbClr>
          </a:solidFill>
          <a:ln w="12700">
            <a:solidFill>
              <a:srgbClr val="FFFFFF">
                <a:alpha val="0"/>
              </a:srgbClr>
            </a:solidFill>
            <a:prstDash val="solid"/>
          </a:ln>
        </p:spPr>
      </p:sp>
      <p:sp>
        <p:nvSpPr>
          <p:cNvPr id="23" name="Shape 21"/>
          <p:cNvSpPr/>
          <p:nvPr/>
        </p:nvSpPr>
        <p:spPr>
          <a:xfrm>
            <a:off x="4352544" y="3840480"/>
            <a:ext cx="32004" cy="32004"/>
          </a:xfrm>
          <a:prstGeom prst="ellipse">
            <a:avLst/>
          </a:prstGeom>
          <a:solidFill>
            <a:srgbClr val="FFFFFF">
              <a:alpha val="10000"/>
            </a:srgbClr>
          </a:solidFill>
          <a:ln w="12700">
            <a:solidFill>
              <a:srgbClr val="FFFFFF">
                <a:alpha val="0"/>
              </a:srgbClr>
            </a:solidFill>
            <a:prstDash val="solid"/>
          </a:ln>
        </p:spPr>
      </p:sp>
      <p:sp>
        <p:nvSpPr>
          <p:cNvPr id="24" name="Shape 22"/>
          <p:cNvSpPr/>
          <p:nvPr/>
        </p:nvSpPr>
        <p:spPr>
          <a:xfrm>
            <a:off x="4352544" y="5029200"/>
            <a:ext cx="32004" cy="32004"/>
          </a:xfrm>
          <a:prstGeom prst="ellipse">
            <a:avLst/>
          </a:prstGeom>
          <a:solidFill>
            <a:srgbClr val="FFFFFF">
              <a:alpha val="10000"/>
            </a:srgbClr>
          </a:solidFill>
          <a:ln w="12700">
            <a:solidFill>
              <a:srgbClr val="FFFFFF">
                <a:alpha val="0"/>
              </a:srgbClr>
            </a:solidFill>
            <a:prstDash val="solid"/>
          </a:ln>
        </p:spPr>
      </p:sp>
      <p:sp>
        <p:nvSpPr>
          <p:cNvPr id="25" name="Shape 23"/>
          <p:cNvSpPr/>
          <p:nvPr/>
        </p:nvSpPr>
        <p:spPr>
          <a:xfrm>
            <a:off x="4352544" y="6217920"/>
            <a:ext cx="32004" cy="32004"/>
          </a:xfrm>
          <a:prstGeom prst="ellipse">
            <a:avLst/>
          </a:prstGeom>
          <a:solidFill>
            <a:srgbClr val="FFFFFF">
              <a:alpha val="10000"/>
            </a:srgbClr>
          </a:solidFill>
          <a:ln w="12700">
            <a:solidFill>
              <a:srgbClr val="FFFFFF">
                <a:alpha val="0"/>
              </a:srgbClr>
            </a:solidFill>
            <a:prstDash val="solid"/>
          </a:ln>
        </p:spPr>
      </p:sp>
      <p:sp>
        <p:nvSpPr>
          <p:cNvPr id="26" name="Shape 24"/>
          <p:cNvSpPr/>
          <p:nvPr/>
        </p:nvSpPr>
        <p:spPr>
          <a:xfrm>
            <a:off x="5650992" y="274320"/>
            <a:ext cx="32004" cy="32004"/>
          </a:xfrm>
          <a:prstGeom prst="ellipse">
            <a:avLst/>
          </a:prstGeom>
          <a:solidFill>
            <a:srgbClr val="FFFFFF">
              <a:alpha val="10000"/>
            </a:srgbClr>
          </a:solidFill>
          <a:ln w="12700">
            <a:solidFill>
              <a:srgbClr val="FFFFFF">
                <a:alpha val="0"/>
              </a:srgbClr>
            </a:solidFill>
            <a:prstDash val="solid"/>
          </a:ln>
        </p:spPr>
      </p:sp>
      <p:sp>
        <p:nvSpPr>
          <p:cNvPr id="27" name="Shape 25"/>
          <p:cNvSpPr/>
          <p:nvPr/>
        </p:nvSpPr>
        <p:spPr>
          <a:xfrm>
            <a:off x="5650992" y="1463040"/>
            <a:ext cx="32004" cy="32004"/>
          </a:xfrm>
          <a:prstGeom prst="ellipse">
            <a:avLst/>
          </a:prstGeom>
          <a:solidFill>
            <a:srgbClr val="FFFFFF">
              <a:alpha val="10000"/>
            </a:srgbClr>
          </a:solidFill>
          <a:ln w="12700">
            <a:solidFill>
              <a:srgbClr val="FFFFFF">
                <a:alpha val="0"/>
              </a:srgbClr>
            </a:solidFill>
            <a:prstDash val="solid"/>
          </a:ln>
        </p:spPr>
      </p:sp>
      <p:sp>
        <p:nvSpPr>
          <p:cNvPr id="28" name="Shape 26"/>
          <p:cNvSpPr/>
          <p:nvPr/>
        </p:nvSpPr>
        <p:spPr>
          <a:xfrm>
            <a:off x="5650992" y="2651760"/>
            <a:ext cx="32004" cy="32004"/>
          </a:xfrm>
          <a:prstGeom prst="ellipse">
            <a:avLst/>
          </a:prstGeom>
          <a:solidFill>
            <a:srgbClr val="FFFFFF">
              <a:alpha val="10000"/>
            </a:srgbClr>
          </a:solidFill>
          <a:ln w="12700">
            <a:solidFill>
              <a:srgbClr val="FFFFFF">
                <a:alpha val="0"/>
              </a:srgbClr>
            </a:solidFill>
            <a:prstDash val="solid"/>
          </a:ln>
        </p:spPr>
      </p:sp>
      <p:sp>
        <p:nvSpPr>
          <p:cNvPr id="29" name="Shape 27"/>
          <p:cNvSpPr/>
          <p:nvPr/>
        </p:nvSpPr>
        <p:spPr>
          <a:xfrm>
            <a:off x="5650992" y="3840480"/>
            <a:ext cx="32004" cy="32004"/>
          </a:xfrm>
          <a:prstGeom prst="ellipse">
            <a:avLst/>
          </a:prstGeom>
          <a:solidFill>
            <a:srgbClr val="FFFFFF">
              <a:alpha val="10000"/>
            </a:srgbClr>
          </a:solidFill>
          <a:ln w="12700">
            <a:solidFill>
              <a:srgbClr val="FFFFFF">
                <a:alpha val="0"/>
              </a:srgbClr>
            </a:solidFill>
            <a:prstDash val="solid"/>
          </a:ln>
        </p:spPr>
      </p:sp>
      <p:sp>
        <p:nvSpPr>
          <p:cNvPr id="30" name="Shape 28"/>
          <p:cNvSpPr/>
          <p:nvPr/>
        </p:nvSpPr>
        <p:spPr>
          <a:xfrm>
            <a:off x="5650992" y="5029200"/>
            <a:ext cx="32004" cy="32004"/>
          </a:xfrm>
          <a:prstGeom prst="ellipse">
            <a:avLst/>
          </a:prstGeom>
          <a:solidFill>
            <a:srgbClr val="FFFFFF">
              <a:alpha val="10000"/>
            </a:srgbClr>
          </a:solidFill>
          <a:ln w="12700">
            <a:solidFill>
              <a:srgbClr val="FFFFFF">
                <a:alpha val="0"/>
              </a:srgbClr>
            </a:solidFill>
            <a:prstDash val="solid"/>
          </a:ln>
        </p:spPr>
      </p:sp>
      <p:sp>
        <p:nvSpPr>
          <p:cNvPr id="31" name="Shape 29"/>
          <p:cNvSpPr/>
          <p:nvPr/>
        </p:nvSpPr>
        <p:spPr>
          <a:xfrm>
            <a:off x="5650992" y="6217920"/>
            <a:ext cx="32004" cy="32004"/>
          </a:xfrm>
          <a:prstGeom prst="ellipse">
            <a:avLst/>
          </a:prstGeom>
          <a:solidFill>
            <a:srgbClr val="FFFFFF">
              <a:alpha val="10000"/>
            </a:srgbClr>
          </a:solidFill>
          <a:ln w="12700">
            <a:solidFill>
              <a:srgbClr val="FFFFFF">
                <a:alpha val="0"/>
              </a:srgbClr>
            </a:solidFill>
            <a:prstDash val="solid"/>
          </a:ln>
        </p:spPr>
      </p:sp>
      <p:sp>
        <p:nvSpPr>
          <p:cNvPr id="32" name="Shape 30"/>
          <p:cNvSpPr/>
          <p:nvPr/>
        </p:nvSpPr>
        <p:spPr>
          <a:xfrm>
            <a:off x="6949440" y="274320"/>
            <a:ext cx="32004" cy="32004"/>
          </a:xfrm>
          <a:prstGeom prst="ellipse">
            <a:avLst/>
          </a:prstGeom>
          <a:solidFill>
            <a:srgbClr val="FFFFFF">
              <a:alpha val="10000"/>
            </a:srgbClr>
          </a:solidFill>
          <a:ln w="12700">
            <a:solidFill>
              <a:srgbClr val="FFFFFF">
                <a:alpha val="0"/>
              </a:srgbClr>
            </a:solidFill>
            <a:prstDash val="solid"/>
          </a:ln>
        </p:spPr>
      </p:sp>
      <p:sp>
        <p:nvSpPr>
          <p:cNvPr id="33" name="Shape 31"/>
          <p:cNvSpPr/>
          <p:nvPr/>
        </p:nvSpPr>
        <p:spPr>
          <a:xfrm>
            <a:off x="6949440" y="1463040"/>
            <a:ext cx="32004" cy="32004"/>
          </a:xfrm>
          <a:prstGeom prst="ellipse">
            <a:avLst/>
          </a:prstGeom>
          <a:solidFill>
            <a:srgbClr val="FFFFFF">
              <a:alpha val="10000"/>
            </a:srgbClr>
          </a:solidFill>
          <a:ln w="12700">
            <a:solidFill>
              <a:srgbClr val="FFFFFF">
                <a:alpha val="0"/>
              </a:srgbClr>
            </a:solidFill>
            <a:prstDash val="solid"/>
          </a:ln>
        </p:spPr>
      </p:sp>
      <p:sp>
        <p:nvSpPr>
          <p:cNvPr id="34" name="Shape 32"/>
          <p:cNvSpPr/>
          <p:nvPr/>
        </p:nvSpPr>
        <p:spPr>
          <a:xfrm>
            <a:off x="6949440" y="2651760"/>
            <a:ext cx="32004" cy="32004"/>
          </a:xfrm>
          <a:prstGeom prst="ellipse">
            <a:avLst/>
          </a:prstGeom>
          <a:solidFill>
            <a:srgbClr val="FFFFFF">
              <a:alpha val="10000"/>
            </a:srgbClr>
          </a:solidFill>
          <a:ln w="12700">
            <a:solidFill>
              <a:srgbClr val="FFFFFF">
                <a:alpha val="0"/>
              </a:srgbClr>
            </a:solidFill>
            <a:prstDash val="solid"/>
          </a:ln>
        </p:spPr>
      </p:sp>
      <p:sp>
        <p:nvSpPr>
          <p:cNvPr id="35" name="Shape 33"/>
          <p:cNvSpPr/>
          <p:nvPr/>
        </p:nvSpPr>
        <p:spPr>
          <a:xfrm>
            <a:off x="6949440" y="3840480"/>
            <a:ext cx="32004" cy="32004"/>
          </a:xfrm>
          <a:prstGeom prst="ellipse">
            <a:avLst/>
          </a:prstGeom>
          <a:solidFill>
            <a:srgbClr val="FFFFFF">
              <a:alpha val="10000"/>
            </a:srgbClr>
          </a:solidFill>
          <a:ln w="12700">
            <a:solidFill>
              <a:srgbClr val="FFFFFF">
                <a:alpha val="0"/>
              </a:srgbClr>
            </a:solidFill>
            <a:prstDash val="solid"/>
          </a:ln>
        </p:spPr>
      </p:sp>
      <p:sp>
        <p:nvSpPr>
          <p:cNvPr id="36" name="Shape 34"/>
          <p:cNvSpPr/>
          <p:nvPr/>
        </p:nvSpPr>
        <p:spPr>
          <a:xfrm>
            <a:off x="6949440" y="5029200"/>
            <a:ext cx="32004" cy="32004"/>
          </a:xfrm>
          <a:prstGeom prst="ellipse">
            <a:avLst/>
          </a:prstGeom>
          <a:solidFill>
            <a:srgbClr val="FFFFFF">
              <a:alpha val="10000"/>
            </a:srgbClr>
          </a:solidFill>
          <a:ln w="12700">
            <a:solidFill>
              <a:srgbClr val="FFFFFF">
                <a:alpha val="0"/>
              </a:srgbClr>
            </a:solidFill>
            <a:prstDash val="solid"/>
          </a:ln>
        </p:spPr>
      </p:sp>
      <p:sp>
        <p:nvSpPr>
          <p:cNvPr id="37" name="Shape 35"/>
          <p:cNvSpPr/>
          <p:nvPr/>
        </p:nvSpPr>
        <p:spPr>
          <a:xfrm>
            <a:off x="6949440" y="6217920"/>
            <a:ext cx="32004" cy="32004"/>
          </a:xfrm>
          <a:prstGeom prst="ellipse">
            <a:avLst/>
          </a:prstGeom>
          <a:solidFill>
            <a:srgbClr val="FFFFFF">
              <a:alpha val="10000"/>
            </a:srgbClr>
          </a:solidFill>
          <a:ln w="12700">
            <a:solidFill>
              <a:srgbClr val="FFFFFF">
                <a:alpha val="0"/>
              </a:srgbClr>
            </a:solidFill>
            <a:prstDash val="solid"/>
          </a:ln>
        </p:spPr>
      </p:sp>
      <p:sp>
        <p:nvSpPr>
          <p:cNvPr id="38" name="Shape 36"/>
          <p:cNvSpPr/>
          <p:nvPr/>
        </p:nvSpPr>
        <p:spPr>
          <a:xfrm>
            <a:off x="8247888" y="274320"/>
            <a:ext cx="32004" cy="32004"/>
          </a:xfrm>
          <a:prstGeom prst="ellipse">
            <a:avLst/>
          </a:prstGeom>
          <a:solidFill>
            <a:srgbClr val="FFFFFF">
              <a:alpha val="10000"/>
            </a:srgbClr>
          </a:solidFill>
          <a:ln w="12700">
            <a:solidFill>
              <a:srgbClr val="FFFFFF">
                <a:alpha val="0"/>
              </a:srgbClr>
            </a:solidFill>
            <a:prstDash val="solid"/>
          </a:ln>
        </p:spPr>
      </p:sp>
      <p:sp>
        <p:nvSpPr>
          <p:cNvPr id="39" name="Shape 37"/>
          <p:cNvSpPr/>
          <p:nvPr/>
        </p:nvSpPr>
        <p:spPr>
          <a:xfrm>
            <a:off x="8247888" y="1463040"/>
            <a:ext cx="32004" cy="32004"/>
          </a:xfrm>
          <a:prstGeom prst="ellipse">
            <a:avLst/>
          </a:prstGeom>
          <a:solidFill>
            <a:srgbClr val="FFFFFF">
              <a:alpha val="10000"/>
            </a:srgbClr>
          </a:solidFill>
          <a:ln w="12700">
            <a:solidFill>
              <a:srgbClr val="FFFFFF">
                <a:alpha val="0"/>
              </a:srgbClr>
            </a:solidFill>
            <a:prstDash val="solid"/>
          </a:ln>
        </p:spPr>
      </p:sp>
      <p:sp>
        <p:nvSpPr>
          <p:cNvPr id="40" name="Shape 38"/>
          <p:cNvSpPr/>
          <p:nvPr/>
        </p:nvSpPr>
        <p:spPr>
          <a:xfrm>
            <a:off x="8247888" y="2651760"/>
            <a:ext cx="32004" cy="32004"/>
          </a:xfrm>
          <a:prstGeom prst="ellipse">
            <a:avLst/>
          </a:prstGeom>
          <a:solidFill>
            <a:srgbClr val="FFFFFF">
              <a:alpha val="10000"/>
            </a:srgbClr>
          </a:solidFill>
          <a:ln w="12700">
            <a:solidFill>
              <a:srgbClr val="FFFFFF">
                <a:alpha val="0"/>
              </a:srgbClr>
            </a:solidFill>
            <a:prstDash val="solid"/>
          </a:ln>
        </p:spPr>
      </p:sp>
      <p:sp>
        <p:nvSpPr>
          <p:cNvPr id="41" name="Shape 39"/>
          <p:cNvSpPr/>
          <p:nvPr/>
        </p:nvSpPr>
        <p:spPr>
          <a:xfrm>
            <a:off x="8247888" y="3840480"/>
            <a:ext cx="32004" cy="32004"/>
          </a:xfrm>
          <a:prstGeom prst="ellipse">
            <a:avLst/>
          </a:prstGeom>
          <a:solidFill>
            <a:srgbClr val="FFFFFF">
              <a:alpha val="10000"/>
            </a:srgbClr>
          </a:solidFill>
          <a:ln w="12700">
            <a:solidFill>
              <a:srgbClr val="FFFFFF">
                <a:alpha val="0"/>
              </a:srgbClr>
            </a:solidFill>
            <a:prstDash val="solid"/>
          </a:ln>
        </p:spPr>
      </p:sp>
      <p:sp>
        <p:nvSpPr>
          <p:cNvPr id="42" name="Shape 40"/>
          <p:cNvSpPr/>
          <p:nvPr/>
        </p:nvSpPr>
        <p:spPr>
          <a:xfrm>
            <a:off x="8247888" y="5029200"/>
            <a:ext cx="32004" cy="32004"/>
          </a:xfrm>
          <a:prstGeom prst="ellipse">
            <a:avLst/>
          </a:prstGeom>
          <a:solidFill>
            <a:srgbClr val="FFFFFF">
              <a:alpha val="10000"/>
            </a:srgbClr>
          </a:solidFill>
          <a:ln w="12700">
            <a:solidFill>
              <a:srgbClr val="FFFFFF">
                <a:alpha val="0"/>
              </a:srgbClr>
            </a:solidFill>
            <a:prstDash val="solid"/>
          </a:ln>
        </p:spPr>
      </p:sp>
      <p:sp>
        <p:nvSpPr>
          <p:cNvPr id="43" name="Shape 41"/>
          <p:cNvSpPr/>
          <p:nvPr/>
        </p:nvSpPr>
        <p:spPr>
          <a:xfrm>
            <a:off x="8247888" y="6217920"/>
            <a:ext cx="32004" cy="32004"/>
          </a:xfrm>
          <a:prstGeom prst="ellipse">
            <a:avLst/>
          </a:prstGeom>
          <a:solidFill>
            <a:srgbClr val="FFFFFF">
              <a:alpha val="10000"/>
            </a:srgbClr>
          </a:solidFill>
          <a:ln w="12700">
            <a:solidFill>
              <a:srgbClr val="FFFFFF">
                <a:alpha val="0"/>
              </a:srgbClr>
            </a:solidFill>
            <a:prstDash val="solid"/>
          </a:ln>
        </p:spPr>
      </p:sp>
      <p:sp>
        <p:nvSpPr>
          <p:cNvPr id="44" name="Shape 42"/>
          <p:cNvSpPr/>
          <p:nvPr/>
        </p:nvSpPr>
        <p:spPr>
          <a:xfrm>
            <a:off x="9546336" y="274320"/>
            <a:ext cx="32004" cy="32004"/>
          </a:xfrm>
          <a:prstGeom prst="ellipse">
            <a:avLst/>
          </a:prstGeom>
          <a:solidFill>
            <a:srgbClr val="FFFFFF">
              <a:alpha val="10000"/>
            </a:srgbClr>
          </a:solidFill>
          <a:ln w="12700">
            <a:solidFill>
              <a:srgbClr val="FFFFFF">
                <a:alpha val="0"/>
              </a:srgbClr>
            </a:solidFill>
            <a:prstDash val="solid"/>
          </a:ln>
        </p:spPr>
      </p:sp>
      <p:sp>
        <p:nvSpPr>
          <p:cNvPr id="45" name="Shape 43"/>
          <p:cNvSpPr/>
          <p:nvPr/>
        </p:nvSpPr>
        <p:spPr>
          <a:xfrm>
            <a:off x="9546336" y="1463040"/>
            <a:ext cx="32004" cy="32004"/>
          </a:xfrm>
          <a:prstGeom prst="ellipse">
            <a:avLst/>
          </a:prstGeom>
          <a:solidFill>
            <a:srgbClr val="FFFFFF">
              <a:alpha val="10000"/>
            </a:srgbClr>
          </a:solidFill>
          <a:ln w="12700">
            <a:solidFill>
              <a:srgbClr val="FFFFFF">
                <a:alpha val="0"/>
              </a:srgbClr>
            </a:solidFill>
            <a:prstDash val="solid"/>
          </a:ln>
        </p:spPr>
      </p:sp>
      <p:sp>
        <p:nvSpPr>
          <p:cNvPr id="46" name="Shape 44"/>
          <p:cNvSpPr/>
          <p:nvPr/>
        </p:nvSpPr>
        <p:spPr>
          <a:xfrm>
            <a:off x="9546336" y="2651760"/>
            <a:ext cx="32004" cy="32004"/>
          </a:xfrm>
          <a:prstGeom prst="ellipse">
            <a:avLst/>
          </a:prstGeom>
          <a:solidFill>
            <a:srgbClr val="FFFFFF">
              <a:alpha val="10000"/>
            </a:srgbClr>
          </a:solidFill>
          <a:ln w="12700">
            <a:solidFill>
              <a:srgbClr val="FFFFFF">
                <a:alpha val="0"/>
              </a:srgbClr>
            </a:solidFill>
            <a:prstDash val="solid"/>
          </a:ln>
        </p:spPr>
      </p:sp>
      <p:sp>
        <p:nvSpPr>
          <p:cNvPr id="47" name="Shape 45"/>
          <p:cNvSpPr/>
          <p:nvPr/>
        </p:nvSpPr>
        <p:spPr>
          <a:xfrm>
            <a:off x="9546336" y="3840480"/>
            <a:ext cx="32004" cy="32004"/>
          </a:xfrm>
          <a:prstGeom prst="ellipse">
            <a:avLst/>
          </a:prstGeom>
          <a:solidFill>
            <a:srgbClr val="FFFFFF">
              <a:alpha val="10000"/>
            </a:srgbClr>
          </a:solidFill>
          <a:ln w="12700">
            <a:solidFill>
              <a:srgbClr val="FFFFFF">
                <a:alpha val="0"/>
              </a:srgbClr>
            </a:solidFill>
            <a:prstDash val="solid"/>
          </a:ln>
        </p:spPr>
      </p:sp>
      <p:sp>
        <p:nvSpPr>
          <p:cNvPr id="48" name="Shape 46"/>
          <p:cNvSpPr/>
          <p:nvPr/>
        </p:nvSpPr>
        <p:spPr>
          <a:xfrm>
            <a:off x="9546336" y="5029200"/>
            <a:ext cx="32004" cy="32004"/>
          </a:xfrm>
          <a:prstGeom prst="ellipse">
            <a:avLst/>
          </a:prstGeom>
          <a:solidFill>
            <a:srgbClr val="FFFFFF">
              <a:alpha val="10000"/>
            </a:srgbClr>
          </a:solidFill>
          <a:ln w="12700">
            <a:solidFill>
              <a:srgbClr val="FFFFFF">
                <a:alpha val="0"/>
              </a:srgbClr>
            </a:solidFill>
            <a:prstDash val="solid"/>
          </a:ln>
        </p:spPr>
      </p:sp>
      <p:sp>
        <p:nvSpPr>
          <p:cNvPr id="49" name="Shape 47"/>
          <p:cNvSpPr/>
          <p:nvPr/>
        </p:nvSpPr>
        <p:spPr>
          <a:xfrm>
            <a:off x="9546336" y="6217920"/>
            <a:ext cx="32004" cy="32004"/>
          </a:xfrm>
          <a:prstGeom prst="ellipse">
            <a:avLst/>
          </a:prstGeom>
          <a:solidFill>
            <a:srgbClr val="FFFFFF">
              <a:alpha val="10000"/>
            </a:srgbClr>
          </a:solidFill>
          <a:ln w="12700">
            <a:solidFill>
              <a:srgbClr val="FFFFFF">
                <a:alpha val="0"/>
              </a:srgbClr>
            </a:solidFill>
            <a:prstDash val="solid"/>
          </a:ln>
        </p:spPr>
      </p:sp>
      <p:sp>
        <p:nvSpPr>
          <p:cNvPr id="50" name="Shape 48"/>
          <p:cNvSpPr/>
          <p:nvPr/>
        </p:nvSpPr>
        <p:spPr>
          <a:xfrm>
            <a:off x="10844784" y="274320"/>
            <a:ext cx="32004" cy="32004"/>
          </a:xfrm>
          <a:prstGeom prst="ellipse">
            <a:avLst/>
          </a:prstGeom>
          <a:solidFill>
            <a:srgbClr val="FFFFFF">
              <a:alpha val="10000"/>
            </a:srgbClr>
          </a:solidFill>
          <a:ln w="12700">
            <a:solidFill>
              <a:srgbClr val="FFFFFF">
                <a:alpha val="0"/>
              </a:srgbClr>
            </a:solidFill>
            <a:prstDash val="solid"/>
          </a:ln>
        </p:spPr>
      </p:sp>
      <p:sp>
        <p:nvSpPr>
          <p:cNvPr id="51" name="Shape 49"/>
          <p:cNvSpPr/>
          <p:nvPr/>
        </p:nvSpPr>
        <p:spPr>
          <a:xfrm>
            <a:off x="10844784" y="1463040"/>
            <a:ext cx="32004" cy="32004"/>
          </a:xfrm>
          <a:prstGeom prst="ellipse">
            <a:avLst/>
          </a:prstGeom>
          <a:solidFill>
            <a:srgbClr val="FFFFFF">
              <a:alpha val="10000"/>
            </a:srgbClr>
          </a:solidFill>
          <a:ln w="12700">
            <a:solidFill>
              <a:srgbClr val="FFFFFF">
                <a:alpha val="0"/>
              </a:srgbClr>
            </a:solidFill>
            <a:prstDash val="solid"/>
          </a:ln>
        </p:spPr>
      </p:sp>
      <p:sp>
        <p:nvSpPr>
          <p:cNvPr id="52" name="Shape 50"/>
          <p:cNvSpPr/>
          <p:nvPr/>
        </p:nvSpPr>
        <p:spPr>
          <a:xfrm>
            <a:off x="10844784" y="2651760"/>
            <a:ext cx="32004" cy="32004"/>
          </a:xfrm>
          <a:prstGeom prst="ellipse">
            <a:avLst/>
          </a:prstGeom>
          <a:solidFill>
            <a:srgbClr val="FFFFFF">
              <a:alpha val="10000"/>
            </a:srgbClr>
          </a:solidFill>
          <a:ln w="12700">
            <a:solidFill>
              <a:srgbClr val="FFFFFF">
                <a:alpha val="0"/>
              </a:srgbClr>
            </a:solidFill>
            <a:prstDash val="solid"/>
          </a:ln>
        </p:spPr>
      </p:sp>
      <p:sp>
        <p:nvSpPr>
          <p:cNvPr id="53" name="Shape 51"/>
          <p:cNvSpPr/>
          <p:nvPr/>
        </p:nvSpPr>
        <p:spPr>
          <a:xfrm>
            <a:off x="10844784" y="3840480"/>
            <a:ext cx="32004" cy="32004"/>
          </a:xfrm>
          <a:prstGeom prst="ellipse">
            <a:avLst/>
          </a:prstGeom>
          <a:solidFill>
            <a:srgbClr val="FFFFFF">
              <a:alpha val="10000"/>
            </a:srgbClr>
          </a:solidFill>
          <a:ln w="12700">
            <a:solidFill>
              <a:srgbClr val="FFFFFF">
                <a:alpha val="0"/>
              </a:srgbClr>
            </a:solidFill>
            <a:prstDash val="solid"/>
          </a:ln>
        </p:spPr>
      </p:sp>
      <p:sp>
        <p:nvSpPr>
          <p:cNvPr id="54" name="Shape 52"/>
          <p:cNvSpPr/>
          <p:nvPr/>
        </p:nvSpPr>
        <p:spPr>
          <a:xfrm>
            <a:off x="10844784" y="5029200"/>
            <a:ext cx="32004" cy="32004"/>
          </a:xfrm>
          <a:prstGeom prst="ellipse">
            <a:avLst/>
          </a:prstGeom>
          <a:solidFill>
            <a:srgbClr val="FFFFFF">
              <a:alpha val="10000"/>
            </a:srgbClr>
          </a:solidFill>
          <a:ln w="12700">
            <a:solidFill>
              <a:srgbClr val="FFFFFF">
                <a:alpha val="0"/>
              </a:srgbClr>
            </a:solidFill>
            <a:prstDash val="solid"/>
          </a:ln>
        </p:spPr>
      </p:sp>
      <p:sp>
        <p:nvSpPr>
          <p:cNvPr id="55" name="Shape 53"/>
          <p:cNvSpPr/>
          <p:nvPr/>
        </p:nvSpPr>
        <p:spPr>
          <a:xfrm>
            <a:off x="10844784" y="6217920"/>
            <a:ext cx="32004" cy="32004"/>
          </a:xfrm>
          <a:prstGeom prst="ellipse">
            <a:avLst/>
          </a:prstGeom>
          <a:solidFill>
            <a:srgbClr val="FFFFFF">
              <a:alpha val="10000"/>
            </a:srgbClr>
          </a:solidFill>
          <a:ln w="12700">
            <a:solidFill>
              <a:srgbClr val="FFFFFF">
                <a:alpha val="0"/>
              </a:srgbClr>
            </a:solidFill>
            <a:prstDash val="solid"/>
          </a:ln>
        </p:spPr>
      </p:sp>
      <p:sp>
        <p:nvSpPr>
          <p:cNvPr id="56" name="Shape 54"/>
          <p:cNvSpPr/>
          <p:nvPr/>
        </p:nvSpPr>
        <p:spPr>
          <a:xfrm>
            <a:off x="8686800" y="-1371600"/>
            <a:ext cx="5029200" cy="5029200"/>
          </a:xfrm>
          <a:prstGeom prst="ellipse">
            <a:avLst/>
          </a:prstGeom>
          <a:solidFill>
            <a:srgbClr val="1D9E75">
              <a:alpha val="12000"/>
            </a:srgbClr>
          </a:solidFill>
          <a:ln w="12700">
            <a:solidFill>
              <a:srgbClr val="1D9E75">
                <a:alpha val="12000"/>
              </a:srgbClr>
            </a:solidFill>
            <a:prstDash val="solid"/>
          </a:ln>
        </p:spPr>
      </p:sp>
      <p:sp>
        <p:nvSpPr>
          <p:cNvPr id="57" name="Shape 55"/>
          <p:cNvSpPr/>
          <p:nvPr/>
        </p:nvSpPr>
        <p:spPr>
          <a:xfrm>
            <a:off x="-914400" y="1828800"/>
            <a:ext cx="4572000" cy="4572000"/>
          </a:xfrm>
          <a:prstGeom prst="ellipse">
            <a:avLst/>
          </a:prstGeom>
          <a:solidFill>
            <a:srgbClr val="1D9E75">
              <a:alpha val="12000"/>
            </a:srgbClr>
          </a:solidFill>
          <a:ln w="12700">
            <a:solidFill>
              <a:srgbClr val="1D9E75">
                <a:alpha val="12000"/>
              </a:srgbClr>
            </a:solidFill>
            <a:prstDash val="solid"/>
          </a:ln>
        </p:spPr>
      </p:sp>
      <p:sp>
        <p:nvSpPr>
          <p:cNvPr id="58" name="Text 56"/>
          <p:cNvSpPr/>
          <p:nvPr/>
        </p:nvSpPr>
        <p:spPr>
          <a:xfrm>
            <a:off x="548640" y="2194560"/>
            <a:ext cx="10972800" cy="274320"/>
          </a:xfrm>
          <a:prstGeom prst="rect">
            <a:avLst/>
          </a:prstGeom>
          <a:noFill/>
          <a:ln/>
        </p:spPr>
        <p:txBody>
          <a:bodyPr wrap="square" rtlCol="0" anchor="ctr"/>
          <a:lstStyle/>
          <a:p>
            <a:pPr indent="0" marL="0">
              <a:buNone/>
            </a:pPr>
            <a:r>
              <a:rPr lang="en-US" sz="900" b="1" spc="300" kern="0" dirty="0">
                <a:solidFill>
                  <a:srgbClr val="666E8A"/>
                </a:solidFill>
                <a:latin typeface="Calibri" pitchFamily="34" charset="0"/>
                <a:ea typeface="Calibri" pitchFamily="34" charset="-122"/>
                <a:cs typeface="Calibri" pitchFamily="34" charset="-120"/>
              </a:rPr>
              <a:t>ENSEMBLE DIGITAL LABS  ·  AIP CONFERENCE 2026</a:t>
            </a:r>
            <a:endParaRPr lang="en-US" sz="900" dirty="0"/>
          </a:p>
        </p:txBody>
      </p:sp>
      <p:sp>
        <p:nvSpPr>
          <p:cNvPr id="59" name="Text 57"/>
          <p:cNvSpPr/>
          <p:nvPr/>
        </p:nvSpPr>
        <p:spPr>
          <a:xfrm>
            <a:off x="548640" y="2651760"/>
            <a:ext cx="10972800" cy="1371600"/>
          </a:xfrm>
          <a:prstGeom prst="rect">
            <a:avLst/>
          </a:prstGeom>
          <a:noFill/>
          <a:ln/>
        </p:spPr>
        <p:txBody>
          <a:bodyPr wrap="square"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Ready to fix what's broken?</a:t>
            </a:r>
            <a:endParaRPr lang="en-US" sz="5200" dirty="0"/>
          </a:p>
        </p:txBody>
      </p:sp>
      <p:sp>
        <p:nvSpPr>
          <p:cNvPr id="60" name="Text 58"/>
          <p:cNvSpPr/>
          <p:nvPr/>
        </p:nvSpPr>
        <p:spPr>
          <a:xfrm>
            <a:off x="1371600" y="4160520"/>
            <a:ext cx="9418320" cy="548640"/>
          </a:xfrm>
          <a:prstGeom prst="rect">
            <a:avLst/>
          </a:prstGeom>
          <a:noFill/>
          <a:ln/>
        </p:spPr>
        <p:txBody>
          <a:bodyPr wrap="square" rtlCol="0" anchor="ctr"/>
          <a:lstStyle/>
          <a:p>
            <a:pPr algn="ctr" indent="0" marL="0">
              <a:lnSpc>
                <a:spcPct val="140000"/>
              </a:lnSpc>
              <a:buNone/>
            </a:pPr>
            <a:r>
              <a:rPr lang="en-US" sz="1500" dirty="0">
                <a:solidFill>
                  <a:srgbClr val="B3B8CC"/>
                </a:solidFill>
                <a:latin typeface="Calibri" pitchFamily="34" charset="0"/>
                <a:ea typeface="Calibri" pitchFamily="34" charset="-122"/>
                <a:cs typeface="Calibri" pitchFamily="34" charset="-120"/>
              </a:rPr>
              <a:t>Every one of these problems has a solution. Come talk to us.</a:t>
            </a:r>
            <a:endParaRPr lang="en-US" sz="1500" dirty="0"/>
          </a:p>
          <a:p>
            <a:pPr algn="ctr" indent="0" marL="0">
              <a:lnSpc>
                <a:spcPct val="140000"/>
              </a:lnSpc>
              <a:buNone/>
            </a:pPr>
            <a:r>
              <a:rPr lang="en-US" sz="1500" dirty="0">
                <a:solidFill>
                  <a:srgbClr val="B3B8CC"/>
                </a:solidFill>
                <a:latin typeface="Calibri" pitchFamily="34" charset="0"/>
                <a:ea typeface="Calibri" pitchFamily="34" charset="-122"/>
                <a:cs typeface="Calibri" pitchFamily="34" charset="-120"/>
              </a:rPr>
              <a:t>Free practice audit — no obligation — just clarity on where you stand.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 Conference 2026 — Pain Points &amp; Solutions</dc:title>
  <dc:subject>PptxGenJS Presentation</dc:subject>
  <dc:creator>Ensemble Digital Labs</dc:creator>
  <cp:lastModifiedBy>Ensemble Digital Labs</cp:lastModifiedBy>
  <cp:revision>1</cp:revision>
  <dcterms:created xsi:type="dcterms:W3CDTF">2026-06-14T19:02:07Z</dcterms:created>
  <dcterms:modified xsi:type="dcterms:W3CDTF">2026-06-14T19:02:07Z</dcterms:modified>
</cp:coreProperties>
</file>