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slide. Open the presentation here. Pause on this slide for at least 15 seconds before advancing. The headline 'Not just a marketing agency' is the core positioning. Let the room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local angle — we are in St. Louis, we can meet in person, we understand that physician schedules are brutal. The Fortune 100 and pharma experience answers the credibility question without saying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cards are the core pitch. 'One point of accountability' is the key differentiator — physicians are burned by the fragmented vendor landscape. The tagline at the bottom is the line people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slide breathe. The 76% stat is the anchor — pause on it. The five pain cards on the right mirror the exact gaps Ensemble closes. If someone in the audience nods, that's a qualified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services — walk through the ones most relevant to the audience in the room. For AIP physicians, lead with Reputation Management and Custom CRM. For practice managers, lead with IT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addresses the #1 objection: 'We already have a CRM.' The response is: does it actually fit how your practice works, or did you fit your practice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AIP Portal card is especially relevant for this audience — we built for their own organization. Pause on that card. This slide signals we are active builders, not just consultants. That distinction matters at a room full of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AIPSTL — it has the coral border for a reason. We worked with the organization running this conference. If an AIP board member is in the room, this card is worth five minutes of conversation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fast will I see results.' The answer is 30 days. Make sure to say that out loud: 'By day 31, your reviews are already improving and your Google profile is optimized.' Speed is the selling point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tier is highlighted because it is the right starting point for most independent practices. Essentials gets them in the door. Dominance shows where they can go. Frame it as a growth journey, not a price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Replace [#] with the actual table or booth number the day before the event. Replace the QR code placeholder with a real QR code linking to the free practice audit page. Make sure the URL is the production domain, not Netlify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Shape 40"/>
          <p:cNvSpPr/>
          <p:nvPr/>
        </p:nvSpPr>
        <p:spPr>
          <a:xfrm>
            <a:off x="8686800" y="-1371600"/>
            <a:ext cx="4572000" cy="4572000"/>
          </a:xfrm>
          <a:prstGeom prst="ellipse">
            <a:avLst/>
          </a:prstGeom>
          <a:solidFill>
            <a:srgbClr val="6350D2">
              <a:alpha val="18000"/>
            </a:srgbClr>
          </a:solidFill>
          <a:ln w="12700">
            <a:solidFill>
              <a:srgbClr val="6350D2">
                <a:alpha val="18000"/>
              </a:srgbClr>
            </a:solidFill>
            <a:prstDash val="solid"/>
          </a:ln>
        </p:spPr>
      </p:sp>
      <p:sp>
        <p:nvSpPr>
          <p:cNvPr id="43" name="Shape 41"/>
          <p:cNvSpPr/>
          <p:nvPr/>
        </p:nvSpPr>
        <p:spPr>
          <a:xfrm>
            <a:off x="9601200" y="3200400"/>
            <a:ext cx="3200400" cy="3200400"/>
          </a:xfrm>
          <a:prstGeom prst="ellipse">
            <a:avLst/>
          </a:prstGeom>
          <a:solidFill>
            <a:srgbClr val="E8604F">
              <a:alpha val="12000"/>
            </a:srgbClr>
          </a:solidFill>
          <a:ln w="12700">
            <a:solidFill>
              <a:srgbClr val="E8604F">
                <a:alpha val="12000"/>
              </a:srgbClr>
            </a:solidFill>
            <a:prstDash val="solid"/>
          </a:ln>
        </p:spPr>
      </p:sp>
      <p:sp>
        <p:nvSpPr>
          <p:cNvPr id="44" name="Text 42"/>
          <p:cNvSpPr/>
          <p:nvPr/>
        </p:nvSpPr>
        <p:spPr>
          <a:xfrm>
            <a:off x="2743200" y="502920"/>
            <a:ext cx="7315200" cy="274320"/>
          </a:xfrm>
          <a:prstGeom prst="rect">
            <a:avLst/>
          </a:prstGeom>
          <a:noFill/>
          <a:ln/>
        </p:spPr>
        <p:txBody>
          <a:bodyPr wrap="square" rtlCol="0" anchor="ctr"/>
          <a:lstStyle/>
          <a:p>
            <a:pPr indent="0" marL="0">
              <a:buNone/>
            </a:pPr>
            <a:r>
              <a:rPr lang="en-US" sz="900" b="1" spc="300" kern="0" dirty="0">
                <a:solidFill>
                  <a:srgbClr val="B3B8CC"/>
                </a:solidFill>
                <a:latin typeface="Calibri" pitchFamily="34" charset="0"/>
                <a:ea typeface="Calibri" pitchFamily="34" charset="-122"/>
                <a:cs typeface="Calibri" pitchFamily="34" charset="-120"/>
              </a:rPr>
              <a:t>AI-POWERED  ·  HIPAA-COMPLIANT  ·  BUILT FOR HEALTHCARE</a:t>
            </a:r>
            <a:endParaRPr lang="en-US" sz="900" dirty="0"/>
          </a:p>
        </p:txBody>
      </p:sp>
      <p:sp>
        <p:nvSpPr>
          <p:cNvPr id="45" name="Text 43"/>
          <p:cNvSpPr/>
          <p:nvPr/>
        </p:nvSpPr>
        <p:spPr>
          <a:xfrm>
            <a:off x="548640" y="1188720"/>
            <a:ext cx="73152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Not just a</a:t>
            </a:r>
            <a:endParaRPr lang="en-US" sz="5400" dirty="0"/>
          </a:p>
        </p:txBody>
      </p:sp>
      <p:sp>
        <p:nvSpPr>
          <p:cNvPr id="46" name="Text 44"/>
          <p:cNvSpPr/>
          <p:nvPr/>
        </p:nvSpPr>
        <p:spPr>
          <a:xfrm>
            <a:off x="548640" y="2148840"/>
            <a:ext cx="8229600" cy="1097280"/>
          </a:xfrm>
          <a:prstGeom prst="rect">
            <a:avLst/>
          </a:prstGeom>
          <a:noFill/>
          <a:ln/>
        </p:spPr>
        <p:txBody>
          <a:bodyPr wrap="square" rtlCol="0" anchor="ctr"/>
          <a:lstStyle/>
          <a:p>
            <a:pPr indent="0" marL="0">
              <a:buNone/>
            </a:pPr>
            <a:r>
              <a:rPr lang="en-US" sz="5400" b="1" i="1" dirty="0">
                <a:solidFill>
                  <a:srgbClr val="E8604F"/>
                </a:solidFill>
                <a:latin typeface="Cambria" pitchFamily="34" charset="0"/>
                <a:ea typeface="Cambria" pitchFamily="34" charset="-122"/>
                <a:cs typeface="Cambria" pitchFamily="34" charset="-120"/>
              </a:rPr>
              <a:t>marketing agency.</a:t>
            </a:r>
            <a:endParaRPr lang="en-US" sz="5400" dirty="0"/>
          </a:p>
        </p:txBody>
      </p:sp>
      <p:sp>
        <p:nvSpPr>
          <p:cNvPr id="47" name="Text 45"/>
          <p:cNvSpPr/>
          <p:nvPr/>
        </p:nvSpPr>
        <p:spPr>
          <a:xfrm>
            <a:off x="548640" y="3337560"/>
            <a:ext cx="6766560" cy="1280160"/>
          </a:xfrm>
          <a:prstGeom prst="rect">
            <a:avLst/>
          </a:prstGeom>
          <a:noFill/>
          <a:ln/>
        </p:spPr>
        <p:txBody>
          <a:bodyPr wrap="square" rtlCol="0" anchor="ctr"/>
          <a:lstStyle/>
          <a:p>
            <a:pPr indent="0" marL="0">
              <a:lnSpc>
                <a:spcPct val="140000"/>
              </a:lnSpc>
              <a:buNone/>
            </a:pPr>
            <a:r>
              <a:rPr lang="en-US" sz="1400" dirty="0">
                <a:solidFill>
                  <a:srgbClr val="B3B8CC"/>
                </a:solidFill>
                <a:latin typeface="Calibri" pitchFamily="34" charset="0"/>
                <a:ea typeface="Calibri" pitchFamily="34" charset="-122"/>
                <a:cs typeface="Calibri" pitchFamily="34" charset="-120"/>
              </a:rPr>
              <a:t>We are a healthcare-focused product company that combines AI-powered marketing, clinical software, and IT infrastructure — under one roof, built exclusively for practices that want to grow faster and smarter.</a:t>
            </a:r>
            <a:endParaRPr lang="en-US" sz="1400" dirty="0"/>
          </a:p>
        </p:txBody>
      </p:sp>
      <p:sp>
        <p:nvSpPr>
          <p:cNvPr id="48" name="Shape 46"/>
          <p:cNvSpPr/>
          <p:nvPr/>
        </p:nvSpPr>
        <p:spPr>
          <a:xfrm>
            <a:off x="548640" y="4846320"/>
            <a:ext cx="1078992" cy="256032"/>
          </a:xfrm>
          <a:prstGeom prst="roundRect">
            <a:avLst>
              <a:gd name="adj" fmla="val 50000"/>
            </a:avLst>
          </a:prstGeom>
          <a:solidFill>
            <a:srgbClr val="E8604F"/>
          </a:solidFill>
          <a:ln/>
        </p:spPr>
      </p:sp>
      <p:sp>
        <p:nvSpPr>
          <p:cNvPr id="49" name="Text 47"/>
          <p:cNvSpPr/>
          <p:nvPr/>
        </p:nvSpPr>
        <p:spPr>
          <a:xfrm>
            <a:off x="640080" y="4864608"/>
            <a:ext cx="896112" cy="219456"/>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AI-POWERED</a:t>
            </a:r>
            <a:endParaRPr lang="en-US" sz="800" dirty="0"/>
          </a:p>
        </p:txBody>
      </p:sp>
      <p:sp>
        <p:nvSpPr>
          <p:cNvPr id="50" name="Shape 48"/>
          <p:cNvSpPr/>
          <p:nvPr/>
        </p:nvSpPr>
        <p:spPr>
          <a:xfrm>
            <a:off x="1874520" y="4846320"/>
            <a:ext cx="1481328" cy="256032"/>
          </a:xfrm>
          <a:prstGeom prst="roundRect">
            <a:avLst>
              <a:gd name="adj" fmla="val 50000"/>
            </a:avLst>
          </a:prstGeom>
          <a:solidFill>
            <a:srgbClr val="161D32"/>
          </a:solidFill>
          <a:ln/>
        </p:spPr>
      </p:sp>
      <p:sp>
        <p:nvSpPr>
          <p:cNvPr id="51" name="Text 49"/>
          <p:cNvSpPr/>
          <p:nvPr/>
        </p:nvSpPr>
        <p:spPr>
          <a:xfrm>
            <a:off x="1965960" y="4864608"/>
            <a:ext cx="1298448" cy="219456"/>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HIPAA-COMPLIANT</a:t>
            </a:r>
            <a:endParaRPr lang="en-US" sz="800" dirty="0"/>
          </a:p>
        </p:txBody>
      </p:sp>
      <p:sp>
        <p:nvSpPr>
          <p:cNvPr id="52" name="Shape 50"/>
          <p:cNvSpPr/>
          <p:nvPr/>
        </p:nvSpPr>
        <p:spPr>
          <a:xfrm>
            <a:off x="3520440" y="4846320"/>
            <a:ext cx="1883664" cy="256032"/>
          </a:xfrm>
          <a:prstGeom prst="roundRect">
            <a:avLst>
              <a:gd name="adj" fmla="val 50000"/>
            </a:avLst>
          </a:prstGeom>
          <a:solidFill>
            <a:srgbClr val="1D9E75"/>
          </a:solidFill>
          <a:ln/>
        </p:spPr>
      </p:sp>
      <p:sp>
        <p:nvSpPr>
          <p:cNvPr id="53" name="Text 51"/>
          <p:cNvSpPr/>
          <p:nvPr/>
        </p:nvSpPr>
        <p:spPr>
          <a:xfrm>
            <a:off x="3611880" y="4864608"/>
            <a:ext cx="1700784" cy="219456"/>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BUILT FOR HEALTHCARE</a:t>
            </a:r>
            <a:endParaRPr lang="en-US" sz="800" dirty="0"/>
          </a:p>
        </p:txBody>
      </p:sp>
      <p:sp>
        <p:nvSpPr>
          <p:cNvPr id="54" name="Shape 52"/>
          <p:cNvSpPr/>
          <p:nvPr/>
        </p:nvSpPr>
        <p:spPr>
          <a:xfrm>
            <a:off x="5577840" y="4846320"/>
            <a:ext cx="1320394" cy="256032"/>
          </a:xfrm>
          <a:prstGeom prst="roundRect">
            <a:avLst>
              <a:gd name="adj" fmla="val 50000"/>
            </a:avLst>
          </a:prstGeom>
          <a:solidFill>
            <a:srgbClr val="161D32"/>
          </a:solidFill>
          <a:ln/>
        </p:spPr>
      </p:sp>
      <p:sp>
        <p:nvSpPr>
          <p:cNvPr id="55" name="Text 53"/>
          <p:cNvSpPr/>
          <p:nvPr/>
        </p:nvSpPr>
        <p:spPr>
          <a:xfrm>
            <a:off x="5669280" y="4864608"/>
            <a:ext cx="1137514" cy="219456"/>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ST. LOUIS, MO</a:t>
            </a:r>
            <a:endParaRPr lang="en-US" sz="800" dirty="0"/>
          </a:p>
        </p:txBody>
      </p:sp>
      <p:sp>
        <p:nvSpPr>
          <p:cNvPr id="56" name="Shape 54"/>
          <p:cNvSpPr/>
          <p:nvPr/>
        </p:nvSpPr>
        <p:spPr>
          <a:xfrm>
            <a:off x="548640" y="5349240"/>
            <a:ext cx="2011680" cy="457200"/>
          </a:xfrm>
          <a:prstGeom prst="roundRect">
            <a:avLst>
              <a:gd name="adj" fmla="val 50000"/>
            </a:avLst>
          </a:prstGeom>
          <a:solidFill>
            <a:srgbClr val="E8604F"/>
          </a:solidFill>
          <a:ln/>
        </p:spPr>
      </p:sp>
      <p:sp>
        <p:nvSpPr>
          <p:cNvPr id="57" name="Text 55"/>
          <p:cNvSpPr/>
          <p:nvPr/>
        </p:nvSpPr>
        <p:spPr>
          <a:xfrm>
            <a:off x="548640" y="53492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Free Practice Audit  →</a:t>
            </a:r>
            <a:endParaRPr lang="en-US" sz="1100" dirty="0"/>
          </a:p>
        </p:txBody>
      </p:sp>
      <p:sp>
        <p:nvSpPr>
          <p:cNvPr id="58" name="Shape 56"/>
          <p:cNvSpPr/>
          <p:nvPr/>
        </p:nvSpPr>
        <p:spPr>
          <a:xfrm>
            <a:off x="2743200" y="5349240"/>
            <a:ext cx="1828800" cy="457200"/>
          </a:xfrm>
          <a:prstGeom prst="roundRect">
            <a:avLst>
              <a:gd name="adj" fmla="val 50000"/>
            </a:avLst>
          </a:prstGeom>
          <a:solidFill>
            <a:srgbClr val="161D32"/>
          </a:solidFill>
          <a:ln w="10160">
            <a:solidFill>
              <a:srgbClr val="FFFFFF">
                <a:alpha val="28000"/>
              </a:srgbClr>
            </a:solidFill>
            <a:prstDash val="solid"/>
          </a:ln>
        </p:spPr>
      </p:sp>
      <p:sp>
        <p:nvSpPr>
          <p:cNvPr id="59" name="Text 57"/>
          <p:cNvSpPr/>
          <p:nvPr/>
        </p:nvSpPr>
        <p:spPr>
          <a:xfrm>
            <a:off x="2743200" y="5349240"/>
            <a:ext cx="1828800" cy="457200"/>
          </a:xfrm>
          <a:prstGeom prst="rect">
            <a:avLst/>
          </a:prstGeom>
          <a:noFill/>
          <a:ln/>
        </p:spPr>
        <p:txBody>
          <a:bodyPr wrap="square" lIns="0" tIns="0" rIns="0" bIns="0" rtlCol="0" anchor="ctr"/>
          <a:lstStyle/>
          <a:p>
            <a:pPr algn="ctr" indent="0" marL="0">
              <a:buNone/>
            </a:pPr>
            <a:r>
              <a:rPr lang="en-US" sz="1100" b="1" dirty="0">
                <a:solidFill>
                  <a:srgbClr val="B3B8CC"/>
                </a:solidFill>
                <a:latin typeface="Calibri" pitchFamily="34" charset="0"/>
                <a:ea typeface="Calibri" pitchFamily="34" charset="-122"/>
                <a:cs typeface="Calibri" pitchFamily="34" charset="-120"/>
              </a:rPr>
              <a:t>See What We Build  →</a:t>
            </a:r>
            <a:endParaRPr lang="en-US" sz="1100" dirty="0"/>
          </a:p>
        </p:txBody>
      </p:sp>
      <p:sp>
        <p:nvSpPr>
          <p:cNvPr id="60" name="Shape 58"/>
          <p:cNvSpPr/>
          <p:nvPr/>
        </p:nvSpPr>
        <p:spPr>
          <a:xfrm>
            <a:off x="10332720" y="274320"/>
            <a:ext cx="1554480" cy="457200"/>
          </a:xfrm>
          <a:prstGeom prst="roundRect">
            <a:avLst>
              <a:gd name="adj" fmla="val 16000"/>
            </a:avLst>
          </a:prstGeom>
          <a:solidFill>
            <a:srgbClr val="E8604F"/>
          </a:solidFill>
          <a:ln/>
        </p:spPr>
      </p:sp>
      <p:sp>
        <p:nvSpPr>
          <p:cNvPr id="61" name="Text 59"/>
          <p:cNvSpPr/>
          <p:nvPr/>
        </p:nvSpPr>
        <p:spPr>
          <a:xfrm>
            <a:off x="10332720" y="274320"/>
            <a:ext cx="1554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ENSEMBLE</a:t>
            </a:r>
            <a:endParaRPr lang="en-US" sz="1100" dirty="0"/>
          </a:p>
        </p:txBody>
      </p:sp>
      <p:sp>
        <p:nvSpPr>
          <p:cNvPr id="62" name="Text 60"/>
          <p:cNvSpPr/>
          <p:nvPr/>
        </p:nvSpPr>
        <p:spPr>
          <a:xfrm>
            <a:off x="10332720" y="502920"/>
            <a:ext cx="1554480" cy="201168"/>
          </a:xfrm>
          <a:prstGeom prst="rect">
            <a:avLst/>
          </a:prstGeom>
          <a:noFill/>
          <a:ln/>
        </p:spPr>
        <p:txBody>
          <a:bodyPr wrap="square" lIns="0" tIns="0" rIns="0" bIns="0" rtlCol="0" anchor="ctr"/>
          <a:lstStyle/>
          <a:p>
            <a:pPr algn="ctr" indent="0" marL="0">
              <a:buNone/>
            </a:pPr>
            <a:r>
              <a:rPr lang="en-US" sz="700" spc="200" kern="0" dirty="0">
                <a:solidFill>
                  <a:srgbClr val="FFFFFF"/>
                </a:solidFill>
                <a:latin typeface="Calibri" pitchFamily="34" charset="0"/>
                <a:ea typeface="Calibri" pitchFamily="34" charset="-122"/>
                <a:cs typeface="Calibri" pitchFamily="34" charset="-120"/>
              </a:rPr>
              <a:t>DIGITAL LABS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36576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WHO WE ARE</a:t>
            </a:r>
            <a:endParaRPr lang="en-US" sz="900" dirty="0"/>
          </a:p>
        </p:txBody>
      </p:sp>
      <p:sp>
        <p:nvSpPr>
          <p:cNvPr id="43" name="Text 41"/>
          <p:cNvSpPr/>
          <p:nvPr/>
        </p:nvSpPr>
        <p:spPr>
          <a:xfrm>
            <a:off x="548640" y="731520"/>
            <a:ext cx="5486400" cy="1828800"/>
          </a:xfrm>
          <a:prstGeom prst="rect">
            <a:avLst/>
          </a:prstGeom>
          <a:noFill/>
          <a:ln/>
        </p:spPr>
        <p:txBody>
          <a:bodyPr wrap="square" rtlCol="0" anchor="ctr"/>
          <a:lstStyle/>
          <a:p>
            <a:pPr indent="0" marL="0">
              <a:lnSpc>
                <a:spcPct val="115000"/>
              </a:lnSpc>
              <a:buNone/>
            </a:pPr>
            <a:r>
              <a:rPr lang="en-US" sz="4000" b="1" dirty="0">
                <a:solidFill>
                  <a:srgbClr val="FFFFFF"/>
                </a:solidFill>
                <a:latin typeface="Cambria" pitchFamily="34" charset="0"/>
                <a:ea typeface="Cambria" pitchFamily="34" charset="-122"/>
                <a:cs typeface="Cambria" pitchFamily="34" charset="-120"/>
              </a:rPr>
              <a:t>Your Trusted</a:t>
            </a:r>
            <a:endParaRPr lang="en-US" sz="4000" dirty="0"/>
          </a:p>
          <a:p>
            <a:pPr indent="0" marL="0">
              <a:lnSpc>
                <a:spcPct val="115000"/>
              </a:lnSpc>
              <a:buNone/>
            </a:pPr>
            <a:r>
              <a:rPr lang="en-US" sz="4000" b="1" dirty="0">
                <a:solidFill>
                  <a:srgbClr val="FFFFFF"/>
                </a:solidFill>
                <a:latin typeface="Cambria" pitchFamily="34" charset="0"/>
                <a:ea typeface="Cambria" pitchFamily="34" charset="-122"/>
                <a:cs typeface="Cambria" pitchFamily="34" charset="-120"/>
              </a:rPr>
              <a:t>Digital Partner.</a:t>
            </a:r>
            <a:endParaRPr lang="en-US" sz="4000" dirty="0"/>
          </a:p>
        </p:txBody>
      </p:sp>
      <p:sp>
        <p:nvSpPr>
          <p:cNvPr id="44" name="Text 42"/>
          <p:cNvSpPr/>
          <p:nvPr/>
        </p:nvSpPr>
        <p:spPr>
          <a:xfrm>
            <a:off x="548640" y="2697480"/>
            <a:ext cx="5669280" cy="1371600"/>
          </a:xfrm>
          <a:prstGeom prst="rect">
            <a:avLst/>
          </a:prstGeom>
          <a:noFill/>
          <a:ln/>
        </p:spPr>
        <p:txBody>
          <a:bodyPr wrap="square" rtlCol="0" anchor="ctr"/>
          <a:lstStyle/>
          <a:p>
            <a:pPr indent="0" marL="0">
              <a:lnSpc>
                <a:spcPct val="145000"/>
              </a:lnSpc>
              <a:buNone/>
            </a:pPr>
            <a:r>
              <a:rPr lang="en-US" sz="1400" dirty="0">
                <a:solidFill>
                  <a:srgbClr val="B3B8CC"/>
                </a:solidFill>
                <a:latin typeface="Calibri" pitchFamily="34" charset="0"/>
                <a:ea typeface="Calibri" pitchFamily="34" charset="-122"/>
                <a:cs typeface="Calibri" pitchFamily="34" charset="-120"/>
              </a:rPr>
              <a:t>Running a successful medical practice today requires more than clinical expertise. We understand the challenges — competing with established groups, attracting new patients in a digital world, and administrative tasks that take you away from patient care.</a:t>
            </a:r>
            <a:endParaRPr lang="en-US" sz="1400" dirty="0"/>
          </a:p>
        </p:txBody>
      </p:sp>
      <p:sp>
        <p:nvSpPr>
          <p:cNvPr id="45" name="Text 43"/>
          <p:cNvSpPr/>
          <p:nvPr/>
        </p:nvSpPr>
        <p:spPr>
          <a:xfrm>
            <a:off x="548640" y="4206240"/>
            <a:ext cx="5486400" cy="457200"/>
          </a:xfrm>
          <a:prstGeom prst="rect">
            <a:avLst/>
          </a:prstGeom>
          <a:noFill/>
          <a:ln/>
        </p:spPr>
        <p:txBody>
          <a:bodyPr wrap="square" rtlCol="0" anchor="ctr"/>
          <a:lstStyle/>
          <a:p>
            <a:pPr indent="0" marL="0">
              <a:buNone/>
            </a:pPr>
            <a:r>
              <a:rPr lang="en-US" sz="1600" b="1" dirty="0">
                <a:solidFill>
                  <a:srgbClr val="E8604F"/>
                </a:solidFill>
                <a:latin typeface="Calibri" pitchFamily="34" charset="0"/>
                <a:ea typeface="Calibri" pitchFamily="34" charset="-122"/>
                <a:cs typeface="Calibri" pitchFamily="34" charset="-120"/>
              </a:rPr>
              <a:t>We help you compete and thrive.</a:t>
            </a:r>
            <a:endParaRPr lang="en-US" sz="1600" dirty="0"/>
          </a:p>
        </p:txBody>
      </p:sp>
      <p:sp>
        <p:nvSpPr>
          <p:cNvPr id="46" name="Shape 44"/>
          <p:cNvSpPr/>
          <p:nvPr/>
        </p:nvSpPr>
        <p:spPr>
          <a:xfrm>
            <a:off x="6583680" y="502920"/>
            <a:ext cx="5029200" cy="1691640"/>
          </a:xfrm>
          <a:prstGeom prst="roundRect">
            <a:avLst>
              <a:gd name="adj" fmla="val 64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7" name="Text 45"/>
          <p:cNvSpPr/>
          <p:nvPr/>
        </p:nvSpPr>
        <p:spPr>
          <a:xfrm>
            <a:off x="6858000" y="685800"/>
            <a:ext cx="4572000" cy="594360"/>
          </a:xfrm>
          <a:prstGeom prst="rect">
            <a:avLst/>
          </a:prstGeom>
          <a:noFill/>
          <a:ln/>
        </p:spPr>
        <p:txBody>
          <a:bodyPr wrap="square" rtlCol="0" anchor="ctr"/>
          <a:lstStyle/>
          <a:p>
            <a:pPr indent="0" marL="0">
              <a:buNone/>
            </a:pPr>
            <a:r>
              <a:rPr lang="en-US" sz="2600" b="1" dirty="0">
                <a:solidFill>
                  <a:srgbClr val="E8604F"/>
                </a:solidFill>
                <a:latin typeface="Cambria" pitchFamily="34" charset="0"/>
                <a:ea typeface="Cambria" pitchFamily="34" charset="-122"/>
                <a:cs typeface="Cambria" pitchFamily="34" charset="-120"/>
              </a:rPr>
              <a:t>Fortune 100</a:t>
            </a:r>
            <a:endParaRPr lang="en-US" sz="2600" dirty="0"/>
          </a:p>
        </p:txBody>
      </p:sp>
      <p:sp>
        <p:nvSpPr>
          <p:cNvPr id="48" name="Text 46"/>
          <p:cNvSpPr/>
          <p:nvPr/>
        </p:nvSpPr>
        <p:spPr>
          <a:xfrm>
            <a:off x="6858000" y="1298448"/>
            <a:ext cx="4389120" cy="7315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Enterprise experience brought to your practice</a:t>
            </a:r>
            <a:endParaRPr lang="en-US" sz="1200" dirty="0"/>
          </a:p>
        </p:txBody>
      </p:sp>
      <p:sp>
        <p:nvSpPr>
          <p:cNvPr id="49" name="Shape 47"/>
          <p:cNvSpPr/>
          <p:nvPr/>
        </p:nvSpPr>
        <p:spPr>
          <a:xfrm>
            <a:off x="6583680" y="2468880"/>
            <a:ext cx="5029200" cy="1691640"/>
          </a:xfrm>
          <a:prstGeom prst="roundRect">
            <a:avLst>
              <a:gd name="adj" fmla="val 64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0" name="Text 48"/>
          <p:cNvSpPr/>
          <p:nvPr/>
        </p:nvSpPr>
        <p:spPr>
          <a:xfrm>
            <a:off x="6858000" y="2651760"/>
            <a:ext cx="4572000" cy="594360"/>
          </a:xfrm>
          <a:prstGeom prst="rect">
            <a:avLst/>
          </a:prstGeom>
          <a:noFill/>
          <a:ln/>
        </p:spPr>
        <p:txBody>
          <a:bodyPr wrap="square" rtlCol="0" anchor="ctr"/>
          <a:lstStyle/>
          <a:p>
            <a:pPr indent="0" marL="0">
              <a:buNone/>
            </a:pPr>
            <a:r>
              <a:rPr lang="en-US" sz="2600" b="1" dirty="0">
                <a:solidFill>
                  <a:srgbClr val="E8604F"/>
                </a:solidFill>
                <a:latin typeface="Cambria" pitchFamily="34" charset="0"/>
                <a:ea typeface="Cambria" pitchFamily="34" charset="-122"/>
                <a:cs typeface="Cambria" pitchFamily="34" charset="-120"/>
              </a:rPr>
              <a:t>Top Pharma</a:t>
            </a:r>
            <a:endParaRPr lang="en-US" sz="2600" dirty="0"/>
          </a:p>
        </p:txBody>
      </p:sp>
      <p:sp>
        <p:nvSpPr>
          <p:cNvPr id="51" name="Text 49"/>
          <p:cNvSpPr/>
          <p:nvPr/>
        </p:nvSpPr>
        <p:spPr>
          <a:xfrm>
            <a:off x="6858000" y="3264408"/>
            <a:ext cx="4389120" cy="7315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Serving US pharmaceutical leaders — HIPAA is native to us</a:t>
            </a:r>
            <a:endParaRPr lang="en-US" sz="1200" dirty="0"/>
          </a:p>
        </p:txBody>
      </p:sp>
      <p:sp>
        <p:nvSpPr>
          <p:cNvPr id="52" name="Shape 50"/>
          <p:cNvSpPr/>
          <p:nvPr/>
        </p:nvSpPr>
        <p:spPr>
          <a:xfrm>
            <a:off x="6583680" y="4434840"/>
            <a:ext cx="5029200" cy="1691640"/>
          </a:xfrm>
          <a:prstGeom prst="roundRect">
            <a:avLst>
              <a:gd name="adj" fmla="val 64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3" name="Text 51"/>
          <p:cNvSpPr/>
          <p:nvPr/>
        </p:nvSpPr>
        <p:spPr>
          <a:xfrm>
            <a:off x="6858000" y="4617720"/>
            <a:ext cx="4572000" cy="594360"/>
          </a:xfrm>
          <a:prstGeom prst="rect">
            <a:avLst/>
          </a:prstGeom>
          <a:noFill/>
          <a:ln/>
        </p:spPr>
        <p:txBody>
          <a:bodyPr wrap="square" rtlCol="0" anchor="ctr"/>
          <a:lstStyle/>
          <a:p>
            <a:pPr indent="0" marL="0">
              <a:buNone/>
            </a:pPr>
            <a:r>
              <a:rPr lang="en-US" sz="2600" b="1" dirty="0">
                <a:solidFill>
                  <a:srgbClr val="E8604F"/>
                </a:solidFill>
                <a:latin typeface="Cambria" pitchFamily="34" charset="0"/>
                <a:ea typeface="Cambria" pitchFamily="34" charset="-122"/>
                <a:cs typeface="Cambria" pitchFamily="34" charset="-120"/>
              </a:rPr>
              <a:t>St. Louis</a:t>
            </a:r>
            <a:endParaRPr lang="en-US" sz="2600" dirty="0"/>
          </a:p>
        </p:txBody>
      </p:sp>
      <p:sp>
        <p:nvSpPr>
          <p:cNvPr id="54" name="Text 52"/>
          <p:cNvSpPr/>
          <p:nvPr/>
        </p:nvSpPr>
        <p:spPr>
          <a:xfrm>
            <a:off x="6858000" y="5230368"/>
            <a:ext cx="4389120" cy="7315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Based here. Available in person. On your schedule.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73152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WHAT MAKES US DIFFERENT</a:t>
            </a:r>
            <a:endParaRPr lang="en-US" sz="900" dirty="0"/>
          </a:p>
        </p:txBody>
      </p:sp>
      <p:sp>
        <p:nvSpPr>
          <p:cNvPr id="43" name="Text 41"/>
          <p:cNvSpPr/>
          <p:nvPr/>
        </p:nvSpPr>
        <p:spPr>
          <a:xfrm>
            <a:off x="548640" y="713232"/>
            <a:ext cx="109728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One relationship.</a:t>
            </a:r>
            <a:endParaRPr lang="en-US" sz="4400" dirty="0"/>
          </a:p>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Zero gaps.</a:t>
            </a:r>
            <a:endParaRPr lang="en-US" sz="4400" dirty="0"/>
          </a:p>
        </p:txBody>
      </p:sp>
      <p:sp>
        <p:nvSpPr>
          <p:cNvPr id="44" name="Shape 42"/>
          <p:cNvSpPr/>
          <p:nvPr/>
        </p:nvSpPr>
        <p:spPr>
          <a:xfrm>
            <a:off x="457200" y="2331720"/>
            <a:ext cx="3730752" cy="2560320"/>
          </a:xfrm>
          <a:prstGeom prst="roundRect">
            <a:avLst>
              <a:gd name="adj" fmla="val 42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5" name="Text 43"/>
          <p:cNvSpPr/>
          <p:nvPr/>
        </p:nvSpPr>
        <p:spPr>
          <a:xfrm>
            <a:off x="658368" y="2487168"/>
            <a:ext cx="365760" cy="365760"/>
          </a:xfrm>
          <a:prstGeom prst="rect">
            <a:avLst/>
          </a:prstGeom>
          <a:noFill/>
          <a:ln/>
        </p:spPr>
        <p:txBody>
          <a:bodyPr wrap="square" lIns="0" tIns="0" rIns="0" bIns="0" rtlCol="0" anchor="ctr"/>
          <a:lstStyle/>
          <a:p>
            <a:pPr indent="0" marL="0">
              <a:buNone/>
            </a:pPr>
            <a:r>
              <a:rPr lang="en-US" sz="1400" dirty="0">
                <a:solidFill>
                  <a:srgbClr val="E8604F"/>
                </a:solidFill>
                <a:latin typeface="Calibri" pitchFamily="34" charset="0"/>
                <a:ea typeface="Calibri" pitchFamily="34" charset="-122"/>
                <a:cs typeface="Calibri" pitchFamily="34" charset="-120"/>
              </a:rPr>
              <a:t>✦</a:t>
            </a:r>
            <a:endParaRPr lang="en-US" sz="1400" dirty="0"/>
          </a:p>
        </p:txBody>
      </p:sp>
      <p:sp>
        <p:nvSpPr>
          <p:cNvPr id="46" name="Text 44"/>
          <p:cNvSpPr/>
          <p:nvPr/>
        </p:nvSpPr>
        <p:spPr>
          <a:xfrm>
            <a:off x="658368" y="2880360"/>
            <a:ext cx="3337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 speak your language.</a:t>
            </a:r>
            <a:endParaRPr lang="en-US" sz="1400" dirty="0"/>
          </a:p>
        </p:txBody>
      </p:sp>
      <p:sp>
        <p:nvSpPr>
          <p:cNvPr id="47" name="Text 45"/>
          <p:cNvSpPr/>
          <p:nvPr/>
        </p:nvSpPr>
        <p:spPr>
          <a:xfrm>
            <a:off x="658368" y="3383280"/>
            <a:ext cx="3337560" cy="1280160"/>
          </a:xfrm>
          <a:prstGeom prst="rect">
            <a:avLst/>
          </a:prstGeom>
          <a:noFill/>
          <a:ln/>
        </p:spPr>
        <p:txBody>
          <a:bodyPr wrap="square" rtlCol="0" anchor="ctr"/>
          <a:lstStyle/>
          <a:p>
            <a:pPr indent="0" marL="0">
              <a:lnSpc>
                <a:spcPct val="140000"/>
              </a:lnSpc>
              <a:buNone/>
            </a:pPr>
            <a:r>
              <a:rPr lang="en-US" sz="1200" dirty="0">
                <a:solidFill>
                  <a:srgbClr val="B3B8CC"/>
                </a:solidFill>
                <a:latin typeface="Calibri" pitchFamily="34" charset="0"/>
                <a:ea typeface="Calibri" pitchFamily="34" charset="-122"/>
                <a:cs typeface="Calibri" pitchFamily="34" charset="-120"/>
              </a:rPr>
              <a:t>No generic clients. No learning curve. We speak HIPAA, EHR, and clinical workflow — fluently.</a:t>
            </a:r>
            <a:endParaRPr lang="en-US" sz="1200" dirty="0"/>
          </a:p>
        </p:txBody>
      </p:sp>
      <p:sp>
        <p:nvSpPr>
          <p:cNvPr id="48" name="Shape 46"/>
          <p:cNvSpPr/>
          <p:nvPr/>
        </p:nvSpPr>
        <p:spPr>
          <a:xfrm>
            <a:off x="4370832" y="2331720"/>
            <a:ext cx="3730752" cy="2560320"/>
          </a:xfrm>
          <a:prstGeom prst="roundRect">
            <a:avLst>
              <a:gd name="adj" fmla="val 42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9" name="Text 47"/>
          <p:cNvSpPr/>
          <p:nvPr/>
        </p:nvSpPr>
        <p:spPr>
          <a:xfrm>
            <a:off x="4572000" y="2487168"/>
            <a:ext cx="365760" cy="365760"/>
          </a:xfrm>
          <a:prstGeom prst="rect">
            <a:avLst/>
          </a:prstGeom>
          <a:noFill/>
          <a:ln/>
        </p:spPr>
        <p:txBody>
          <a:bodyPr wrap="square" lIns="0" tIns="0" rIns="0" bIns="0" rtlCol="0" anchor="ctr"/>
          <a:lstStyle/>
          <a:p>
            <a:pPr indent="0" marL="0">
              <a:buNone/>
            </a:pPr>
            <a:r>
              <a:rPr lang="en-US" sz="1400" dirty="0">
                <a:solidFill>
                  <a:srgbClr val="E8604F"/>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4572000" y="2880360"/>
            <a:ext cx="3337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point of accountability.</a:t>
            </a:r>
            <a:endParaRPr lang="en-US" sz="1400" dirty="0"/>
          </a:p>
        </p:txBody>
      </p:sp>
      <p:sp>
        <p:nvSpPr>
          <p:cNvPr id="51" name="Text 49"/>
          <p:cNvSpPr/>
          <p:nvPr/>
        </p:nvSpPr>
        <p:spPr>
          <a:xfrm>
            <a:off x="4572000" y="3383280"/>
            <a:ext cx="3337560" cy="1280160"/>
          </a:xfrm>
          <a:prstGeom prst="rect">
            <a:avLst/>
          </a:prstGeom>
          <a:noFill/>
          <a:ln/>
        </p:spPr>
        <p:txBody>
          <a:bodyPr wrap="square" rtlCol="0" anchor="ctr"/>
          <a:lstStyle/>
          <a:p>
            <a:pPr indent="0" marL="0">
              <a:lnSpc>
                <a:spcPct val="140000"/>
              </a:lnSpc>
              <a:buNone/>
            </a:pPr>
            <a:r>
              <a:rPr lang="en-US" sz="1200" dirty="0">
                <a:solidFill>
                  <a:srgbClr val="B3B8CC"/>
                </a:solidFill>
                <a:latin typeface="Calibri" pitchFamily="34" charset="0"/>
                <a:ea typeface="Calibri" pitchFamily="34" charset="-122"/>
                <a:cs typeface="Calibri" pitchFamily="34" charset="-120"/>
              </a:rPr>
              <a:t>Software, IT infrastructure, and marketing in one relationship — one partner, one contract, one outcome.</a:t>
            </a:r>
            <a:endParaRPr lang="en-US" sz="1200" dirty="0"/>
          </a:p>
        </p:txBody>
      </p:sp>
      <p:sp>
        <p:nvSpPr>
          <p:cNvPr id="52" name="Shape 50"/>
          <p:cNvSpPr/>
          <p:nvPr/>
        </p:nvSpPr>
        <p:spPr>
          <a:xfrm>
            <a:off x="8284464" y="2331720"/>
            <a:ext cx="3730752" cy="2560320"/>
          </a:xfrm>
          <a:prstGeom prst="roundRect">
            <a:avLst>
              <a:gd name="adj" fmla="val 4286"/>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3" name="Text 51"/>
          <p:cNvSpPr/>
          <p:nvPr/>
        </p:nvSpPr>
        <p:spPr>
          <a:xfrm>
            <a:off x="8485632" y="2487168"/>
            <a:ext cx="365760" cy="365760"/>
          </a:xfrm>
          <a:prstGeom prst="rect">
            <a:avLst/>
          </a:prstGeom>
          <a:noFill/>
          <a:ln/>
        </p:spPr>
        <p:txBody>
          <a:bodyPr wrap="square" lIns="0" tIns="0" rIns="0" bIns="0" rtlCol="0" anchor="ctr"/>
          <a:lstStyle/>
          <a:p>
            <a:pPr indent="0" marL="0">
              <a:buNone/>
            </a:pPr>
            <a:r>
              <a:rPr lang="en-US" sz="1400" dirty="0">
                <a:solidFill>
                  <a:srgbClr val="E8604F"/>
                </a:solidFill>
                <a:latin typeface="Calibri" pitchFamily="34" charset="0"/>
                <a:ea typeface="Calibri" pitchFamily="34" charset="-122"/>
                <a:cs typeface="Calibri" pitchFamily="34" charset="-120"/>
              </a:rPr>
              <a:t>✦</a:t>
            </a:r>
            <a:endParaRPr lang="en-US" sz="1400" dirty="0"/>
          </a:p>
        </p:txBody>
      </p:sp>
      <p:sp>
        <p:nvSpPr>
          <p:cNvPr id="54" name="Text 52"/>
          <p:cNvSpPr/>
          <p:nvPr/>
        </p:nvSpPr>
        <p:spPr>
          <a:xfrm>
            <a:off x="8485632" y="2880360"/>
            <a:ext cx="3337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Measured in real results.</a:t>
            </a:r>
            <a:endParaRPr lang="en-US" sz="1400" dirty="0"/>
          </a:p>
        </p:txBody>
      </p:sp>
      <p:sp>
        <p:nvSpPr>
          <p:cNvPr id="55" name="Text 53"/>
          <p:cNvSpPr/>
          <p:nvPr/>
        </p:nvSpPr>
        <p:spPr>
          <a:xfrm>
            <a:off x="8485632" y="3383280"/>
            <a:ext cx="3337560" cy="1280160"/>
          </a:xfrm>
          <a:prstGeom prst="rect">
            <a:avLst/>
          </a:prstGeom>
          <a:noFill/>
          <a:ln/>
        </p:spPr>
        <p:txBody>
          <a:bodyPr wrap="square" rtlCol="0" anchor="ctr"/>
          <a:lstStyle/>
          <a:p>
            <a:pPr indent="0" marL="0">
              <a:lnSpc>
                <a:spcPct val="140000"/>
              </a:lnSpc>
              <a:buNone/>
            </a:pPr>
            <a:r>
              <a:rPr lang="en-US" sz="1200" dirty="0">
                <a:solidFill>
                  <a:srgbClr val="B3B8CC"/>
                </a:solidFill>
                <a:latin typeface="Calibri" pitchFamily="34" charset="0"/>
                <a:ea typeface="Calibri" pitchFamily="34" charset="-122"/>
                <a:cs typeface="Calibri" pitchFamily="34" charset="-120"/>
              </a:rPr>
              <a:t>Measured in patient acquisition and practice revenue growth — not vanity metrics.</a:t>
            </a:r>
            <a:endParaRPr lang="en-US" sz="1200" dirty="0"/>
          </a:p>
        </p:txBody>
      </p:sp>
      <p:sp>
        <p:nvSpPr>
          <p:cNvPr id="56" name="Shape 54"/>
          <p:cNvSpPr/>
          <p:nvPr/>
        </p:nvSpPr>
        <p:spPr>
          <a:xfrm>
            <a:off x="2743200" y="5166360"/>
            <a:ext cx="6675120" cy="548640"/>
          </a:xfrm>
          <a:prstGeom prst="roundRect">
            <a:avLst>
              <a:gd name="adj" fmla="val 13333"/>
            </a:avLst>
          </a:prstGeom>
          <a:solidFill>
            <a:srgbClr val="E8604F">
              <a:alpha val="12000"/>
            </a:srgbClr>
          </a:solidFill>
          <a:ln w="10160">
            <a:solidFill>
              <a:srgbClr val="E8604F">
                <a:alpha val="35000"/>
              </a:srgbClr>
            </a:solidFill>
            <a:prstDash val="solid"/>
          </a:ln>
        </p:spPr>
      </p:sp>
      <p:sp>
        <p:nvSpPr>
          <p:cNvPr id="57" name="Text 55"/>
          <p:cNvSpPr/>
          <p:nvPr/>
        </p:nvSpPr>
        <p:spPr>
          <a:xfrm>
            <a:off x="2743200" y="5166360"/>
            <a:ext cx="6675120" cy="548640"/>
          </a:xfrm>
          <a:prstGeom prst="rect">
            <a:avLst/>
          </a:prstGeom>
          <a:noFill/>
          <a:ln/>
        </p:spPr>
        <p:txBody>
          <a:bodyPr wrap="square" lIns="0" tIns="0" rIns="0" bIns="0" rtlCol="0" anchor="ctr"/>
          <a:lstStyle/>
          <a:p>
            <a:pPr algn="ctr" indent="0" marL="0">
              <a:buNone/>
            </a:pPr>
            <a:r>
              <a:rPr lang="en-US" sz="1500" b="1" i="1" dirty="0">
                <a:solidFill>
                  <a:srgbClr val="E8604F"/>
                </a:solidFill>
                <a:latin typeface="Cambria" pitchFamily="34" charset="0"/>
                <a:ea typeface="Cambria" pitchFamily="34" charset="-122"/>
                <a:cs typeface="Cambria" pitchFamily="34" charset="-120"/>
              </a:rPr>
              <a:t>"Five verticals. One partner. Zero gaps."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Shape 40"/>
          <p:cNvSpPr/>
          <p:nvPr/>
        </p:nvSpPr>
        <p:spPr>
          <a:xfrm>
            <a:off x="-914400" y="-914400"/>
            <a:ext cx="3657600" cy="3657600"/>
          </a:xfrm>
          <a:prstGeom prst="ellipse">
            <a:avLst/>
          </a:prstGeom>
          <a:solidFill>
            <a:srgbClr val="E8604F">
              <a:alpha val="10000"/>
            </a:srgbClr>
          </a:solidFill>
          <a:ln w="12700">
            <a:solidFill>
              <a:srgbClr val="E8604F">
                <a:alpha val="10000"/>
              </a:srgbClr>
            </a:solidFill>
            <a:prstDash val="solid"/>
          </a:ln>
        </p:spPr>
      </p:sp>
      <p:sp>
        <p:nvSpPr>
          <p:cNvPr id="43" name="Text 41"/>
          <p:cNvSpPr/>
          <p:nvPr/>
        </p:nvSpPr>
        <p:spPr>
          <a:xfrm>
            <a:off x="548640" y="365760"/>
            <a:ext cx="45720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THE GAPS WE CLOSE</a:t>
            </a:r>
            <a:endParaRPr lang="en-US" sz="900" dirty="0"/>
          </a:p>
        </p:txBody>
      </p:sp>
      <p:sp>
        <p:nvSpPr>
          <p:cNvPr id="44" name="Text 42"/>
          <p:cNvSpPr/>
          <p:nvPr/>
        </p:nvSpPr>
        <p:spPr>
          <a:xfrm>
            <a:off x="548640" y="713232"/>
            <a:ext cx="4572000" cy="2103120"/>
          </a:xfrm>
          <a:prstGeom prst="rect">
            <a:avLst/>
          </a:prstGeom>
          <a:noFill/>
          <a:ln/>
        </p:spPr>
        <p:txBody>
          <a:bodyPr wrap="square" rtlCol="0" anchor="ctr"/>
          <a:lstStyle/>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Every day without a</a:t>
            </a:r>
            <a:endParaRPr lang="en-US" sz="3200" dirty="0"/>
          </a:p>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unified strategy is</a:t>
            </a:r>
            <a:endParaRPr lang="en-US" sz="3200" dirty="0"/>
          </a:p>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costing you patients.</a:t>
            </a:r>
            <a:endParaRPr lang="en-US" sz="3200" dirty="0"/>
          </a:p>
        </p:txBody>
      </p:sp>
      <p:sp>
        <p:nvSpPr>
          <p:cNvPr id="45" name="Shape 43"/>
          <p:cNvSpPr/>
          <p:nvPr/>
        </p:nvSpPr>
        <p:spPr>
          <a:xfrm>
            <a:off x="5486400" y="320040"/>
            <a:ext cx="6263640" cy="1097280"/>
          </a:xfrm>
          <a:prstGeom prst="roundRect">
            <a:avLst>
              <a:gd name="adj" fmla="val 10000"/>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6" name="Shape 44"/>
          <p:cNvSpPr/>
          <p:nvPr/>
        </p:nvSpPr>
        <p:spPr>
          <a:xfrm>
            <a:off x="5669280" y="530352"/>
            <a:ext cx="237744" cy="237744"/>
          </a:xfrm>
          <a:prstGeom prst="ellipse">
            <a:avLst/>
          </a:prstGeom>
          <a:solidFill>
            <a:srgbClr val="E8604F"/>
          </a:solidFill>
          <a:ln w="12700">
            <a:solidFill>
              <a:srgbClr val="E8604F"/>
            </a:solidFill>
            <a:prstDash val="solid"/>
          </a:ln>
        </p:spPr>
      </p:sp>
      <p:sp>
        <p:nvSpPr>
          <p:cNvPr id="47" name="Text 45"/>
          <p:cNvSpPr/>
          <p:nvPr/>
        </p:nvSpPr>
        <p:spPr>
          <a:xfrm>
            <a:off x="6080760" y="384048"/>
            <a:ext cx="5486400" cy="9601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Weak local SEO and outdated Google profiles — competitors rank while you're buried on page two.</a:t>
            </a:r>
            <a:endParaRPr lang="en-US" sz="1200" dirty="0"/>
          </a:p>
        </p:txBody>
      </p:sp>
      <p:sp>
        <p:nvSpPr>
          <p:cNvPr id="48" name="Shape 46"/>
          <p:cNvSpPr/>
          <p:nvPr/>
        </p:nvSpPr>
        <p:spPr>
          <a:xfrm>
            <a:off x="5486400" y="1581912"/>
            <a:ext cx="6263640" cy="1097280"/>
          </a:xfrm>
          <a:prstGeom prst="roundRect">
            <a:avLst>
              <a:gd name="adj" fmla="val 10000"/>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9" name="Shape 47"/>
          <p:cNvSpPr/>
          <p:nvPr/>
        </p:nvSpPr>
        <p:spPr>
          <a:xfrm>
            <a:off x="5669280" y="1792224"/>
            <a:ext cx="237744" cy="237744"/>
          </a:xfrm>
          <a:prstGeom prst="ellipse">
            <a:avLst/>
          </a:prstGeom>
          <a:solidFill>
            <a:srgbClr val="E8604F"/>
          </a:solidFill>
          <a:ln w="12700">
            <a:solidFill>
              <a:srgbClr val="E8604F"/>
            </a:solidFill>
            <a:prstDash val="solid"/>
          </a:ln>
        </p:spPr>
      </p:sp>
      <p:sp>
        <p:nvSpPr>
          <p:cNvPr id="50" name="Text 48"/>
          <p:cNvSpPr/>
          <p:nvPr/>
        </p:nvSpPr>
        <p:spPr>
          <a:xfrm>
            <a:off x="6080760" y="1645920"/>
            <a:ext cx="5486400" cy="9601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Non-compliant tracking and generic ads inflate your cost-per-lead and deliver the wrong patients.</a:t>
            </a:r>
            <a:endParaRPr lang="en-US" sz="1200" dirty="0"/>
          </a:p>
        </p:txBody>
      </p:sp>
      <p:sp>
        <p:nvSpPr>
          <p:cNvPr id="51" name="Shape 49"/>
          <p:cNvSpPr/>
          <p:nvPr/>
        </p:nvSpPr>
        <p:spPr>
          <a:xfrm>
            <a:off x="5486400" y="2843784"/>
            <a:ext cx="6263640" cy="1097280"/>
          </a:xfrm>
          <a:prstGeom prst="roundRect">
            <a:avLst>
              <a:gd name="adj" fmla="val 10000"/>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2" name="Shape 50"/>
          <p:cNvSpPr/>
          <p:nvPr/>
        </p:nvSpPr>
        <p:spPr>
          <a:xfrm>
            <a:off x="5669280" y="3054096"/>
            <a:ext cx="237744" cy="237744"/>
          </a:xfrm>
          <a:prstGeom prst="ellipse">
            <a:avLst/>
          </a:prstGeom>
          <a:solidFill>
            <a:srgbClr val="E8604F"/>
          </a:solidFill>
          <a:ln w="12700">
            <a:solidFill>
              <a:srgbClr val="E8604F"/>
            </a:solidFill>
            <a:prstDash val="solid"/>
          </a:ln>
        </p:spPr>
      </p:sp>
      <p:sp>
        <p:nvSpPr>
          <p:cNvPr id="53" name="Text 51"/>
          <p:cNvSpPr/>
          <p:nvPr/>
        </p:nvSpPr>
        <p:spPr>
          <a:xfrm>
            <a:off x="6080760" y="2907792"/>
            <a:ext cx="5486400" cy="9601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76% of patients choose based on reputation. No review system = lost revenue every single day.</a:t>
            </a:r>
            <a:endParaRPr lang="en-US" sz="1200" dirty="0"/>
          </a:p>
        </p:txBody>
      </p:sp>
      <p:sp>
        <p:nvSpPr>
          <p:cNvPr id="54" name="Shape 52"/>
          <p:cNvSpPr/>
          <p:nvPr/>
        </p:nvSpPr>
        <p:spPr>
          <a:xfrm>
            <a:off x="5486400" y="4105656"/>
            <a:ext cx="6263640" cy="1097280"/>
          </a:xfrm>
          <a:prstGeom prst="roundRect">
            <a:avLst>
              <a:gd name="adj" fmla="val 10000"/>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5" name="Shape 53"/>
          <p:cNvSpPr/>
          <p:nvPr/>
        </p:nvSpPr>
        <p:spPr>
          <a:xfrm>
            <a:off x="5669280" y="4315968"/>
            <a:ext cx="237744" cy="237744"/>
          </a:xfrm>
          <a:prstGeom prst="ellipse">
            <a:avLst/>
          </a:prstGeom>
          <a:solidFill>
            <a:srgbClr val="E8604F"/>
          </a:solidFill>
          <a:ln w="12700">
            <a:solidFill>
              <a:srgbClr val="E8604F"/>
            </a:solidFill>
            <a:prstDash val="solid"/>
          </a:ln>
        </p:spPr>
      </p:sp>
      <p:sp>
        <p:nvSpPr>
          <p:cNvPr id="56" name="Text 54"/>
          <p:cNvSpPr/>
          <p:nvPr/>
        </p:nvSpPr>
        <p:spPr>
          <a:xfrm>
            <a:off x="6080760" y="4169664"/>
            <a:ext cx="5486400" cy="9601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Slow websites, no online scheduling — patients bounce to competitors before they ever call.</a:t>
            </a:r>
            <a:endParaRPr lang="en-US" sz="1200" dirty="0"/>
          </a:p>
        </p:txBody>
      </p:sp>
      <p:sp>
        <p:nvSpPr>
          <p:cNvPr id="57" name="Shape 55"/>
          <p:cNvSpPr/>
          <p:nvPr/>
        </p:nvSpPr>
        <p:spPr>
          <a:xfrm>
            <a:off x="5486400" y="5367528"/>
            <a:ext cx="6263640" cy="1097280"/>
          </a:xfrm>
          <a:prstGeom prst="roundRect">
            <a:avLst>
              <a:gd name="adj" fmla="val 10000"/>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8" name="Shape 56"/>
          <p:cNvSpPr/>
          <p:nvPr/>
        </p:nvSpPr>
        <p:spPr>
          <a:xfrm>
            <a:off x="5669280" y="5577840"/>
            <a:ext cx="237744" cy="237744"/>
          </a:xfrm>
          <a:prstGeom prst="ellipse">
            <a:avLst/>
          </a:prstGeom>
          <a:solidFill>
            <a:srgbClr val="E8604F"/>
          </a:solidFill>
          <a:ln w="12700">
            <a:solidFill>
              <a:srgbClr val="E8604F"/>
            </a:solidFill>
            <a:prstDash val="solid"/>
          </a:ln>
        </p:spPr>
      </p:sp>
      <p:sp>
        <p:nvSpPr>
          <p:cNvPr id="59" name="Text 57"/>
          <p:cNvSpPr/>
          <p:nvPr/>
        </p:nvSpPr>
        <p:spPr>
          <a:xfrm>
            <a:off x="6080760" y="5431536"/>
            <a:ext cx="5486400" cy="960120"/>
          </a:xfrm>
          <a:prstGeom prst="rect">
            <a:avLst/>
          </a:prstGeom>
          <a:noFill/>
          <a:ln/>
        </p:spPr>
        <p:txBody>
          <a:bodyPr wrap="square" rtlCol="0" anchor="ctr"/>
          <a:lstStyle/>
          <a:p>
            <a:pPr indent="0" marL="0">
              <a:lnSpc>
                <a:spcPct val="135000"/>
              </a:lnSpc>
              <a:buNone/>
            </a:pPr>
            <a:r>
              <a:rPr lang="en-US" sz="1200" dirty="0">
                <a:solidFill>
                  <a:srgbClr val="B3B8CC"/>
                </a:solidFill>
                <a:latin typeface="Calibri" pitchFamily="34" charset="0"/>
                <a:ea typeface="Calibri" pitchFamily="34" charset="-122"/>
                <a:cs typeface="Calibri" pitchFamily="34" charset="-120"/>
              </a:rPr>
              <a:t>Your IT vendor doesn't know marketing. Your agency doesn't know HIPAA. Gaps between vendors create gaps in your pipeline.</a:t>
            </a:r>
            <a:endParaRPr lang="en-US" sz="1200" dirty="0"/>
          </a:p>
        </p:txBody>
      </p:sp>
      <p:sp>
        <p:nvSpPr>
          <p:cNvPr id="60" name="Text 58"/>
          <p:cNvSpPr/>
          <p:nvPr/>
        </p:nvSpPr>
        <p:spPr>
          <a:xfrm>
            <a:off x="457200" y="3017520"/>
            <a:ext cx="3657600" cy="1828800"/>
          </a:xfrm>
          <a:prstGeom prst="rect">
            <a:avLst/>
          </a:prstGeom>
          <a:noFill/>
          <a:ln/>
        </p:spPr>
        <p:txBody>
          <a:bodyPr wrap="square" rtlCol="0" anchor="ctr"/>
          <a:lstStyle/>
          <a:p>
            <a:pPr indent="0" marL="0">
              <a:buNone/>
            </a:pPr>
            <a:r>
              <a:rPr lang="en-US" sz="9600" b="1" dirty="0">
                <a:solidFill>
                  <a:srgbClr val="E8604F"/>
                </a:solidFill>
                <a:latin typeface="Cambria" pitchFamily="34" charset="0"/>
                <a:ea typeface="Cambria" pitchFamily="34" charset="-122"/>
                <a:cs typeface="Cambria" pitchFamily="34" charset="-120"/>
              </a:rPr>
              <a:t>76%</a:t>
            </a:r>
            <a:endParaRPr lang="en-US" sz="9600" dirty="0"/>
          </a:p>
        </p:txBody>
      </p:sp>
      <p:sp>
        <p:nvSpPr>
          <p:cNvPr id="61" name="Text 59"/>
          <p:cNvSpPr/>
          <p:nvPr/>
        </p:nvSpPr>
        <p:spPr>
          <a:xfrm>
            <a:off x="457200" y="4663440"/>
            <a:ext cx="4389120" cy="822960"/>
          </a:xfrm>
          <a:prstGeom prst="rect">
            <a:avLst/>
          </a:prstGeom>
          <a:noFill/>
          <a:ln/>
        </p:spPr>
        <p:txBody>
          <a:bodyPr wrap="square" rtlCol="0" anchor="ctr"/>
          <a:lstStyle/>
          <a:p>
            <a:pPr indent="0" marL="0">
              <a:lnSpc>
                <a:spcPct val="130000"/>
              </a:lnSpc>
              <a:buNone/>
            </a:pPr>
            <a:r>
              <a:rPr lang="en-US" sz="1300" dirty="0">
                <a:solidFill>
                  <a:srgbClr val="B3B8CC"/>
                </a:solidFill>
                <a:latin typeface="Calibri" pitchFamily="34" charset="0"/>
                <a:ea typeface="Calibri" pitchFamily="34" charset="-122"/>
                <a:cs typeface="Calibri" pitchFamily="34" charset="-120"/>
              </a:rPr>
              <a:t>of patients choose</a:t>
            </a:r>
            <a:endParaRPr lang="en-US" sz="1300" dirty="0"/>
          </a:p>
          <a:p>
            <a:pPr indent="0" marL="0">
              <a:lnSpc>
                <a:spcPct val="130000"/>
              </a:lnSpc>
              <a:buNone/>
            </a:pPr>
            <a:r>
              <a:rPr lang="en-US" sz="1300" dirty="0">
                <a:solidFill>
                  <a:srgbClr val="B3B8CC"/>
                </a:solidFill>
                <a:latin typeface="Calibri" pitchFamily="34" charset="0"/>
                <a:ea typeface="Calibri" pitchFamily="34" charset="-122"/>
                <a:cs typeface="Calibri" pitchFamily="34" charset="-120"/>
              </a:rPr>
              <a:t>based on reputation.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45720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OUR SERVICES</a:t>
            </a:r>
            <a:endParaRPr lang="en-US" sz="900" dirty="0"/>
          </a:p>
        </p:txBody>
      </p:sp>
      <p:sp>
        <p:nvSpPr>
          <p:cNvPr id="43" name="Text 41"/>
          <p:cNvSpPr/>
          <p:nvPr/>
        </p:nvSpPr>
        <p:spPr>
          <a:xfrm>
            <a:off x="548640" y="685800"/>
            <a:ext cx="10972800" cy="118872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Everything your practice needs.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Under one roof.</a:t>
            </a:r>
            <a:endParaRPr lang="en-US" sz="3600" dirty="0"/>
          </a:p>
        </p:txBody>
      </p:sp>
      <p:sp>
        <p:nvSpPr>
          <p:cNvPr id="44" name="Shape 42"/>
          <p:cNvSpPr/>
          <p:nvPr/>
        </p:nvSpPr>
        <p:spPr>
          <a:xfrm>
            <a:off x="411480" y="210312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5" name="Text 43"/>
          <p:cNvSpPr/>
          <p:nvPr/>
        </p:nvSpPr>
        <p:spPr>
          <a:xfrm>
            <a:off x="576072" y="226771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1</a:t>
            </a:r>
            <a:endParaRPr lang="en-US" sz="1100" dirty="0"/>
          </a:p>
        </p:txBody>
      </p:sp>
      <p:sp>
        <p:nvSpPr>
          <p:cNvPr id="46" name="Text 44"/>
          <p:cNvSpPr/>
          <p:nvPr/>
        </p:nvSpPr>
        <p:spPr>
          <a:xfrm>
            <a:off x="576072" y="263347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Websites &amp; Local SEO</a:t>
            </a:r>
            <a:endParaRPr lang="en-US" sz="1200" dirty="0"/>
          </a:p>
        </p:txBody>
      </p:sp>
      <p:sp>
        <p:nvSpPr>
          <p:cNvPr id="47" name="Text 45"/>
          <p:cNvSpPr/>
          <p:nvPr/>
        </p:nvSpPr>
        <p:spPr>
          <a:xfrm>
            <a:off x="576072" y="315468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Physician-grade sites built to rank, convert, and dominate local search.</a:t>
            </a:r>
            <a:endParaRPr lang="en-US" sz="1050" dirty="0"/>
          </a:p>
        </p:txBody>
      </p:sp>
      <p:sp>
        <p:nvSpPr>
          <p:cNvPr id="48" name="Shape 46"/>
          <p:cNvSpPr/>
          <p:nvPr/>
        </p:nvSpPr>
        <p:spPr>
          <a:xfrm>
            <a:off x="3355848" y="210312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9" name="Text 47"/>
          <p:cNvSpPr/>
          <p:nvPr/>
        </p:nvSpPr>
        <p:spPr>
          <a:xfrm>
            <a:off x="3520440" y="226771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2</a:t>
            </a:r>
            <a:endParaRPr lang="en-US" sz="1100" dirty="0"/>
          </a:p>
        </p:txBody>
      </p:sp>
      <p:sp>
        <p:nvSpPr>
          <p:cNvPr id="50" name="Text 48"/>
          <p:cNvSpPr/>
          <p:nvPr/>
        </p:nvSpPr>
        <p:spPr>
          <a:xfrm>
            <a:off x="3520440" y="263347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Performance Marketing</a:t>
            </a:r>
            <a:endParaRPr lang="en-US" sz="1200" dirty="0"/>
          </a:p>
        </p:txBody>
      </p:sp>
      <p:sp>
        <p:nvSpPr>
          <p:cNvPr id="51" name="Text 49"/>
          <p:cNvSpPr/>
          <p:nvPr/>
        </p:nvSpPr>
        <p:spPr>
          <a:xfrm>
            <a:off x="3520440" y="315468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AI-optimized Google and Meta ads — HIPAA-compliant, patient-targeted.</a:t>
            </a:r>
            <a:endParaRPr lang="en-US" sz="1050" dirty="0"/>
          </a:p>
        </p:txBody>
      </p:sp>
      <p:sp>
        <p:nvSpPr>
          <p:cNvPr id="52" name="Shape 50"/>
          <p:cNvSpPr/>
          <p:nvPr/>
        </p:nvSpPr>
        <p:spPr>
          <a:xfrm>
            <a:off x="6300216" y="210312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3" name="Text 51"/>
          <p:cNvSpPr/>
          <p:nvPr/>
        </p:nvSpPr>
        <p:spPr>
          <a:xfrm>
            <a:off x="6464808" y="226771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3</a:t>
            </a:r>
            <a:endParaRPr lang="en-US" sz="1100" dirty="0"/>
          </a:p>
        </p:txBody>
      </p:sp>
      <p:sp>
        <p:nvSpPr>
          <p:cNvPr id="54" name="Text 52"/>
          <p:cNvSpPr/>
          <p:nvPr/>
        </p:nvSpPr>
        <p:spPr>
          <a:xfrm>
            <a:off x="6464808" y="263347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Reputation Management</a:t>
            </a:r>
            <a:endParaRPr lang="en-US" sz="1200" dirty="0"/>
          </a:p>
        </p:txBody>
      </p:sp>
      <p:sp>
        <p:nvSpPr>
          <p:cNvPr id="55" name="Text 53"/>
          <p:cNvSpPr/>
          <p:nvPr/>
        </p:nvSpPr>
        <p:spPr>
          <a:xfrm>
            <a:off x="6464808" y="315468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Automated review generation, AI sentiment analysis, multi-platform monitoring.</a:t>
            </a:r>
            <a:endParaRPr lang="en-US" sz="1050" dirty="0"/>
          </a:p>
        </p:txBody>
      </p:sp>
      <p:sp>
        <p:nvSpPr>
          <p:cNvPr id="56" name="Shape 54"/>
          <p:cNvSpPr/>
          <p:nvPr/>
        </p:nvSpPr>
        <p:spPr>
          <a:xfrm>
            <a:off x="9244584" y="210312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7" name="Text 55"/>
          <p:cNvSpPr/>
          <p:nvPr/>
        </p:nvSpPr>
        <p:spPr>
          <a:xfrm>
            <a:off x="9409176" y="226771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4</a:t>
            </a:r>
            <a:endParaRPr lang="en-US" sz="1100" dirty="0"/>
          </a:p>
        </p:txBody>
      </p:sp>
      <p:sp>
        <p:nvSpPr>
          <p:cNvPr id="58" name="Text 56"/>
          <p:cNvSpPr/>
          <p:nvPr/>
        </p:nvSpPr>
        <p:spPr>
          <a:xfrm>
            <a:off x="9409176" y="263347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Custom CRM</a:t>
            </a:r>
            <a:endParaRPr lang="en-US" sz="1200" dirty="0"/>
          </a:p>
        </p:txBody>
      </p:sp>
      <p:sp>
        <p:nvSpPr>
          <p:cNvPr id="59" name="Text 57"/>
          <p:cNvSpPr/>
          <p:nvPr/>
        </p:nvSpPr>
        <p:spPr>
          <a:xfrm>
            <a:off x="9409176" y="315468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Built around your workflow. No forced fit into someone else's system.</a:t>
            </a:r>
            <a:endParaRPr lang="en-US" sz="1050" dirty="0"/>
          </a:p>
        </p:txBody>
      </p:sp>
      <p:sp>
        <p:nvSpPr>
          <p:cNvPr id="60" name="Shape 58"/>
          <p:cNvSpPr/>
          <p:nvPr/>
        </p:nvSpPr>
        <p:spPr>
          <a:xfrm>
            <a:off x="411480" y="425196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1" name="Text 59"/>
          <p:cNvSpPr/>
          <p:nvPr/>
        </p:nvSpPr>
        <p:spPr>
          <a:xfrm>
            <a:off x="576072" y="441655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5</a:t>
            </a:r>
            <a:endParaRPr lang="en-US" sz="1100" dirty="0"/>
          </a:p>
        </p:txBody>
      </p:sp>
      <p:sp>
        <p:nvSpPr>
          <p:cNvPr id="62" name="Text 60"/>
          <p:cNvSpPr/>
          <p:nvPr/>
        </p:nvSpPr>
        <p:spPr>
          <a:xfrm>
            <a:off x="576072" y="478231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IT Infrastructure</a:t>
            </a:r>
            <a:endParaRPr lang="en-US" sz="1200" dirty="0"/>
          </a:p>
        </p:txBody>
      </p:sp>
      <p:sp>
        <p:nvSpPr>
          <p:cNvPr id="63" name="Text 61"/>
          <p:cNvSpPr/>
          <p:nvPr/>
        </p:nvSpPr>
        <p:spPr>
          <a:xfrm>
            <a:off x="576072" y="530352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Secure, compliant clinical IT from facility setup to data environments.</a:t>
            </a:r>
            <a:endParaRPr lang="en-US" sz="1050" dirty="0"/>
          </a:p>
        </p:txBody>
      </p:sp>
      <p:sp>
        <p:nvSpPr>
          <p:cNvPr id="64" name="Shape 62"/>
          <p:cNvSpPr/>
          <p:nvPr/>
        </p:nvSpPr>
        <p:spPr>
          <a:xfrm>
            <a:off x="3355848" y="425196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5" name="Text 63"/>
          <p:cNvSpPr/>
          <p:nvPr/>
        </p:nvSpPr>
        <p:spPr>
          <a:xfrm>
            <a:off x="3520440" y="441655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6</a:t>
            </a:r>
            <a:endParaRPr lang="en-US" sz="1100" dirty="0"/>
          </a:p>
        </p:txBody>
      </p:sp>
      <p:sp>
        <p:nvSpPr>
          <p:cNvPr id="66" name="Text 64"/>
          <p:cNvSpPr/>
          <p:nvPr/>
        </p:nvSpPr>
        <p:spPr>
          <a:xfrm>
            <a:off x="3520440" y="478231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AI &amp; Automation</a:t>
            </a:r>
            <a:endParaRPr lang="en-US" sz="1200" dirty="0"/>
          </a:p>
        </p:txBody>
      </p:sp>
      <p:sp>
        <p:nvSpPr>
          <p:cNvPr id="67" name="Text 65"/>
          <p:cNvSpPr/>
          <p:nvPr/>
        </p:nvSpPr>
        <p:spPr>
          <a:xfrm>
            <a:off x="3520440" y="530352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Predictive audience modeling, patient journey mapping, real-time optimization.</a:t>
            </a:r>
            <a:endParaRPr lang="en-US" sz="1050" dirty="0"/>
          </a:p>
        </p:txBody>
      </p:sp>
      <p:sp>
        <p:nvSpPr>
          <p:cNvPr id="68" name="Shape 66"/>
          <p:cNvSpPr/>
          <p:nvPr/>
        </p:nvSpPr>
        <p:spPr>
          <a:xfrm>
            <a:off x="6300216" y="425196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9" name="Text 67"/>
          <p:cNvSpPr/>
          <p:nvPr/>
        </p:nvSpPr>
        <p:spPr>
          <a:xfrm>
            <a:off x="6464808" y="441655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7</a:t>
            </a:r>
            <a:endParaRPr lang="en-US" sz="1100" dirty="0"/>
          </a:p>
        </p:txBody>
      </p:sp>
      <p:sp>
        <p:nvSpPr>
          <p:cNvPr id="70" name="Text 68"/>
          <p:cNvSpPr/>
          <p:nvPr/>
        </p:nvSpPr>
        <p:spPr>
          <a:xfrm>
            <a:off x="6464808" y="478231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Product Development</a:t>
            </a:r>
            <a:endParaRPr lang="en-US" sz="1200" dirty="0"/>
          </a:p>
        </p:txBody>
      </p:sp>
      <p:sp>
        <p:nvSpPr>
          <p:cNvPr id="71" name="Text 69"/>
          <p:cNvSpPr/>
          <p:nvPr/>
        </p:nvSpPr>
        <p:spPr>
          <a:xfrm>
            <a:off x="6464808" y="530352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Custom clinical software and portals your EHR was never designed to give you.</a:t>
            </a:r>
            <a:endParaRPr lang="en-US" sz="1050" dirty="0"/>
          </a:p>
        </p:txBody>
      </p:sp>
      <p:sp>
        <p:nvSpPr>
          <p:cNvPr id="72" name="Shape 70"/>
          <p:cNvSpPr/>
          <p:nvPr/>
        </p:nvSpPr>
        <p:spPr>
          <a:xfrm>
            <a:off x="9244584" y="4251960"/>
            <a:ext cx="2761488" cy="1920240"/>
          </a:xfrm>
          <a:prstGeom prst="roundRect">
            <a:avLst>
              <a:gd name="adj" fmla="val 5714"/>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73" name="Text 71"/>
          <p:cNvSpPr/>
          <p:nvPr/>
        </p:nvSpPr>
        <p:spPr>
          <a:xfrm>
            <a:off x="9409176" y="4416552"/>
            <a:ext cx="347472" cy="347472"/>
          </a:xfrm>
          <a:prstGeom prst="rect">
            <a:avLst/>
          </a:prstGeom>
          <a:noFill/>
          <a:ln/>
        </p:spPr>
        <p:txBody>
          <a:bodyPr wrap="square" lIns="0" tIns="0" rIns="0" bIns="0" rtlCol="0" anchor="ctr"/>
          <a:lstStyle/>
          <a:p>
            <a:pPr algn="ctr" indent="0" marL="0">
              <a:buNone/>
            </a:pPr>
            <a:r>
              <a:rPr lang="en-US" sz="1100" b="1" dirty="0">
                <a:solidFill>
                  <a:srgbClr val="E8604F"/>
                </a:solidFill>
                <a:latin typeface="Calibri" pitchFamily="34" charset="0"/>
                <a:ea typeface="Calibri" pitchFamily="34" charset="-122"/>
                <a:cs typeface="Calibri" pitchFamily="34" charset="-120"/>
              </a:rPr>
              <a:t>8</a:t>
            </a:r>
            <a:endParaRPr lang="en-US" sz="1100" dirty="0"/>
          </a:p>
        </p:txBody>
      </p:sp>
      <p:sp>
        <p:nvSpPr>
          <p:cNvPr id="74" name="Text 72"/>
          <p:cNvSpPr/>
          <p:nvPr/>
        </p:nvSpPr>
        <p:spPr>
          <a:xfrm>
            <a:off x="9409176" y="4782312"/>
            <a:ext cx="2423160" cy="50292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Creative Production</a:t>
            </a:r>
            <a:endParaRPr lang="en-US" sz="1200" dirty="0"/>
          </a:p>
        </p:txBody>
      </p:sp>
      <p:sp>
        <p:nvSpPr>
          <p:cNvPr id="75" name="Text 73"/>
          <p:cNvSpPr/>
          <p:nvPr/>
        </p:nvSpPr>
        <p:spPr>
          <a:xfrm>
            <a:off x="9409176" y="5303520"/>
            <a:ext cx="2423160" cy="749808"/>
          </a:xfrm>
          <a:prstGeom prst="rect">
            <a:avLst/>
          </a:prstGeom>
          <a:noFill/>
          <a:ln/>
        </p:spPr>
        <p:txBody>
          <a:bodyPr wrap="square" rtlCol="0" anchor="ctr"/>
          <a:lstStyle/>
          <a:p>
            <a:pPr indent="0" marL="0">
              <a:lnSpc>
                <a:spcPct val="130000"/>
              </a:lnSpc>
              <a:buNone/>
            </a:pPr>
            <a:r>
              <a:rPr lang="en-US" sz="1050" dirty="0">
                <a:solidFill>
                  <a:srgbClr val="B3B8CC"/>
                </a:solidFill>
                <a:latin typeface="Calibri" pitchFamily="34" charset="0"/>
                <a:ea typeface="Calibri" pitchFamily="34" charset="-122"/>
                <a:cs typeface="Calibri" pitchFamily="34" charset="-120"/>
              </a:rPr>
              <a:t>Video, photography, social content, and brand campaigns that build clinical authority.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Shape 40"/>
          <p:cNvSpPr/>
          <p:nvPr/>
        </p:nvSpPr>
        <p:spPr>
          <a:xfrm>
            <a:off x="7315200" y="-457200"/>
            <a:ext cx="5486400" cy="5486400"/>
          </a:xfrm>
          <a:prstGeom prst="ellipse">
            <a:avLst/>
          </a:prstGeom>
          <a:solidFill>
            <a:srgbClr val="6350D2">
              <a:alpha val="13000"/>
            </a:srgbClr>
          </a:solidFill>
          <a:ln w="12700">
            <a:solidFill>
              <a:srgbClr val="6350D2">
                <a:alpha val="13000"/>
              </a:srgbClr>
            </a:solidFill>
            <a:prstDash val="solid"/>
          </a:ln>
        </p:spPr>
      </p:sp>
      <p:sp>
        <p:nvSpPr>
          <p:cNvPr id="43" name="Text 41"/>
          <p:cNvSpPr/>
          <p:nvPr/>
        </p:nvSpPr>
        <p:spPr>
          <a:xfrm>
            <a:off x="548640" y="365760"/>
            <a:ext cx="45720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CUSTOM CRM</a:t>
            </a:r>
            <a:endParaRPr lang="en-US" sz="900" dirty="0"/>
          </a:p>
        </p:txBody>
      </p:sp>
      <p:sp>
        <p:nvSpPr>
          <p:cNvPr id="44" name="Text 42"/>
          <p:cNvSpPr/>
          <p:nvPr/>
        </p:nvSpPr>
        <p:spPr>
          <a:xfrm>
            <a:off x="548640" y="713232"/>
            <a:ext cx="6400800" cy="1737360"/>
          </a:xfrm>
          <a:prstGeom prst="rect">
            <a:avLst/>
          </a:prstGeom>
          <a:noFill/>
          <a:ln/>
        </p:spPr>
        <p:txBody>
          <a:bodyPr wrap="square" rtlCol="0" anchor="ctr"/>
          <a:lstStyle/>
          <a:p>
            <a:pPr indent="0" marL="0">
              <a:lnSpc>
                <a:spcPct val="110000"/>
              </a:lnSpc>
              <a:buNone/>
            </a:pPr>
            <a:r>
              <a:rPr lang="en-US" sz="4600" b="1" dirty="0">
                <a:solidFill>
                  <a:srgbClr val="FFFFFF"/>
                </a:solidFill>
                <a:latin typeface="Cambria" pitchFamily="34" charset="0"/>
                <a:ea typeface="Cambria" pitchFamily="34" charset="-122"/>
                <a:cs typeface="Cambria" pitchFamily="34" charset="-120"/>
              </a:rPr>
              <a:t>Your workflow.</a:t>
            </a:r>
            <a:endParaRPr lang="en-US" sz="4600" dirty="0"/>
          </a:p>
          <a:p>
            <a:pPr indent="0" marL="0">
              <a:lnSpc>
                <a:spcPct val="110000"/>
              </a:lnSpc>
              <a:buNone/>
            </a:pPr>
            <a:r>
              <a:rPr lang="en-US" sz="4600" b="1" dirty="0">
                <a:solidFill>
                  <a:srgbClr val="FFFFFF"/>
                </a:solidFill>
                <a:latin typeface="Cambria" pitchFamily="34" charset="0"/>
                <a:ea typeface="Cambria" pitchFamily="34" charset="-122"/>
                <a:cs typeface="Cambria" pitchFamily="34" charset="-120"/>
              </a:rPr>
              <a:t>Not ours.</a:t>
            </a:r>
            <a:endParaRPr lang="en-US" sz="4600" dirty="0"/>
          </a:p>
        </p:txBody>
      </p:sp>
      <p:sp>
        <p:nvSpPr>
          <p:cNvPr id="45" name="Text 43"/>
          <p:cNvSpPr/>
          <p:nvPr/>
        </p:nvSpPr>
        <p:spPr>
          <a:xfrm>
            <a:off x="548640" y="2578608"/>
            <a:ext cx="5943600" cy="128016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Every practice runs differently. Standard CRMs force you to compromise your workflows to fit their system. We build and customize your CRM around how you actually work — not the other way around.</a:t>
            </a:r>
            <a:endParaRPr lang="en-US" sz="1400" dirty="0"/>
          </a:p>
        </p:txBody>
      </p:sp>
      <p:sp>
        <p:nvSpPr>
          <p:cNvPr id="46" name="Shape 44"/>
          <p:cNvSpPr/>
          <p:nvPr/>
        </p:nvSpPr>
        <p:spPr>
          <a:xfrm>
            <a:off x="548640" y="4069080"/>
            <a:ext cx="182880" cy="182880"/>
          </a:xfrm>
          <a:prstGeom prst="ellipse">
            <a:avLst/>
          </a:prstGeom>
          <a:solidFill>
            <a:srgbClr val="E8604F"/>
          </a:solidFill>
          <a:ln w="12700">
            <a:solidFill>
              <a:srgbClr val="E8604F"/>
            </a:solidFill>
            <a:prstDash val="solid"/>
          </a:ln>
        </p:spPr>
      </p:sp>
      <p:sp>
        <p:nvSpPr>
          <p:cNvPr id="47" name="Text 45"/>
          <p:cNvSpPr/>
          <p:nvPr/>
        </p:nvSpPr>
        <p:spPr>
          <a:xfrm>
            <a:off x="868680" y="4023360"/>
            <a:ext cx="530352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Built around your team's actual day-to-day process</a:t>
            </a:r>
            <a:endParaRPr lang="en-US" sz="1300" dirty="0"/>
          </a:p>
        </p:txBody>
      </p:sp>
      <p:sp>
        <p:nvSpPr>
          <p:cNvPr id="48" name="Shape 46"/>
          <p:cNvSpPr/>
          <p:nvPr/>
        </p:nvSpPr>
        <p:spPr>
          <a:xfrm>
            <a:off x="548640" y="4489704"/>
            <a:ext cx="182880" cy="182880"/>
          </a:xfrm>
          <a:prstGeom prst="ellipse">
            <a:avLst/>
          </a:prstGeom>
          <a:solidFill>
            <a:srgbClr val="E8604F"/>
          </a:solidFill>
          <a:ln w="12700">
            <a:solidFill>
              <a:srgbClr val="E8604F"/>
            </a:solidFill>
            <a:prstDash val="solid"/>
          </a:ln>
        </p:spPr>
      </p:sp>
      <p:sp>
        <p:nvSpPr>
          <p:cNvPr id="49" name="Text 47"/>
          <p:cNvSpPr/>
          <p:nvPr/>
        </p:nvSpPr>
        <p:spPr>
          <a:xfrm>
            <a:off x="868680" y="4443984"/>
            <a:ext cx="530352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forced fit into a generic system</a:t>
            </a:r>
            <a:endParaRPr lang="en-US" sz="1300" dirty="0"/>
          </a:p>
        </p:txBody>
      </p:sp>
      <p:sp>
        <p:nvSpPr>
          <p:cNvPr id="50" name="Shape 48"/>
          <p:cNvSpPr/>
          <p:nvPr/>
        </p:nvSpPr>
        <p:spPr>
          <a:xfrm>
            <a:off x="548640" y="4910328"/>
            <a:ext cx="182880" cy="182880"/>
          </a:xfrm>
          <a:prstGeom prst="ellipse">
            <a:avLst/>
          </a:prstGeom>
          <a:solidFill>
            <a:srgbClr val="E8604F"/>
          </a:solidFill>
          <a:ln w="12700">
            <a:solidFill>
              <a:srgbClr val="E8604F"/>
            </a:solidFill>
            <a:prstDash val="solid"/>
          </a:ln>
        </p:spPr>
      </p:sp>
      <p:sp>
        <p:nvSpPr>
          <p:cNvPr id="51" name="Text 49"/>
          <p:cNvSpPr/>
          <p:nvPr/>
        </p:nvSpPr>
        <p:spPr>
          <a:xfrm>
            <a:off x="868680" y="4864608"/>
            <a:ext cx="530352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Scales as your practice grows</a:t>
            </a:r>
            <a:endParaRPr lang="en-US" sz="1300" dirty="0"/>
          </a:p>
        </p:txBody>
      </p:sp>
      <p:sp>
        <p:nvSpPr>
          <p:cNvPr id="52" name="Shape 50"/>
          <p:cNvSpPr/>
          <p:nvPr/>
        </p:nvSpPr>
        <p:spPr>
          <a:xfrm>
            <a:off x="548640" y="5330952"/>
            <a:ext cx="182880" cy="182880"/>
          </a:xfrm>
          <a:prstGeom prst="ellipse">
            <a:avLst/>
          </a:prstGeom>
          <a:solidFill>
            <a:srgbClr val="E8604F"/>
          </a:solidFill>
          <a:ln w="12700">
            <a:solidFill>
              <a:srgbClr val="E8604F"/>
            </a:solidFill>
            <a:prstDash val="solid"/>
          </a:ln>
        </p:spPr>
      </p:sp>
      <p:sp>
        <p:nvSpPr>
          <p:cNvPr id="53" name="Text 51"/>
          <p:cNvSpPr/>
          <p:nvPr/>
        </p:nvSpPr>
        <p:spPr>
          <a:xfrm>
            <a:off x="868680" y="5285232"/>
            <a:ext cx="530352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Fully HIPAA-compliant data handling</a:t>
            </a:r>
            <a:endParaRPr lang="en-US" sz="1300" dirty="0"/>
          </a:p>
        </p:txBody>
      </p:sp>
      <p:sp>
        <p:nvSpPr>
          <p:cNvPr id="54" name="Shape 52"/>
          <p:cNvSpPr/>
          <p:nvPr/>
        </p:nvSpPr>
        <p:spPr>
          <a:xfrm>
            <a:off x="6858000" y="1097280"/>
            <a:ext cx="4846320" cy="2926080"/>
          </a:xfrm>
          <a:prstGeom prst="roundRect">
            <a:avLst>
              <a:gd name="adj" fmla="val 3750"/>
            </a:avLst>
          </a:prstGeom>
          <a:solidFill>
            <a:srgbClr val="161D32"/>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5" name="Text 53"/>
          <p:cNvSpPr/>
          <p:nvPr/>
        </p:nvSpPr>
        <p:spPr>
          <a:xfrm>
            <a:off x="7086600" y="1234440"/>
            <a:ext cx="914400" cy="914400"/>
          </a:xfrm>
          <a:prstGeom prst="rect">
            <a:avLst/>
          </a:prstGeom>
          <a:noFill/>
          <a:ln/>
        </p:spPr>
        <p:txBody>
          <a:bodyPr wrap="square" rtlCol="0" anchor="ctr"/>
          <a:lstStyle/>
          <a:p>
            <a:pPr indent="0" marL="0">
              <a:buNone/>
            </a:pPr>
            <a:r>
              <a:rPr lang="en-US" sz="6400" dirty="0">
                <a:solidFill>
                  <a:srgbClr val="E8604F"/>
                </a:solidFill>
                <a:latin typeface="Cambria" pitchFamily="34" charset="0"/>
                <a:ea typeface="Cambria" pitchFamily="34" charset="-122"/>
                <a:cs typeface="Cambria" pitchFamily="34" charset="-120"/>
              </a:rPr>
              <a:t>“</a:t>
            </a:r>
            <a:endParaRPr lang="en-US" sz="6400" dirty="0"/>
          </a:p>
        </p:txBody>
      </p:sp>
      <p:sp>
        <p:nvSpPr>
          <p:cNvPr id="56" name="Text 54"/>
          <p:cNvSpPr/>
          <p:nvPr/>
        </p:nvSpPr>
        <p:spPr>
          <a:xfrm>
            <a:off x="7086600" y="1920240"/>
            <a:ext cx="4389120" cy="1920240"/>
          </a:xfrm>
          <a:prstGeom prst="rect">
            <a:avLst/>
          </a:prstGeom>
          <a:noFill/>
          <a:ln/>
        </p:spPr>
        <p:txBody>
          <a:bodyPr wrap="square" rtlCol="0" anchor="ctr"/>
          <a:lstStyle/>
          <a:p>
            <a:pPr indent="0" marL="0">
              <a:lnSpc>
                <a:spcPct val="150000"/>
              </a:lnSpc>
              <a:buNone/>
            </a:pPr>
            <a:r>
              <a:rPr lang="en-US" sz="1400" i="1" dirty="0">
                <a:solidFill>
                  <a:srgbClr val="FFFFFF"/>
                </a:solidFill>
                <a:latin typeface="Cambria" pitchFamily="34" charset="0"/>
                <a:ea typeface="Cambria" pitchFamily="34" charset="-122"/>
                <a:cs typeface="Cambria" pitchFamily="34" charset="-120"/>
              </a:rPr>
              <a:t>You need an AI and IT partner on your side to navigate the fast-growing digital transformation — while you focus on growing your business and caring for patients.</a:t>
            </a:r>
            <a:endParaRPr lang="en-US" sz="1400" dirty="0"/>
          </a:p>
        </p:txBody>
      </p:sp>
      <p:sp>
        <p:nvSpPr>
          <p:cNvPr id="57" name="Text 55"/>
          <p:cNvSpPr/>
          <p:nvPr/>
        </p:nvSpPr>
        <p:spPr>
          <a:xfrm>
            <a:off x="7086600" y="3931920"/>
            <a:ext cx="4389120" cy="274320"/>
          </a:xfrm>
          <a:prstGeom prst="rect">
            <a:avLst/>
          </a:prstGeom>
          <a:noFill/>
          <a:ln/>
        </p:spPr>
        <p:txBody>
          <a:bodyPr wrap="square" rtlCol="0" anchor="ctr"/>
          <a:lstStyle/>
          <a:p>
            <a:pPr indent="0" marL="0">
              <a:buNone/>
            </a:pPr>
            <a:r>
              <a:rPr lang="en-US" sz="1000" dirty="0">
                <a:solidFill>
                  <a:srgbClr val="E8604F"/>
                </a:solidFill>
                <a:latin typeface="Calibri" pitchFamily="34" charset="0"/>
                <a:ea typeface="Calibri" pitchFamily="34" charset="-122"/>
                <a:cs typeface="Calibri" pitchFamily="34" charset="-120"/>
              </a:rPr>
              <a:t>— Ensemble Digital Labs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54864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WHAT WE ARE BUILDING</a:t>
            </a:r>
            <a:endParaRPr lang="en-US" sz="900" dirty="0"/>
          </a:p>
        </p:txBody>
      </p:sp>
      <p:sp>
        <p:nvSpPr>
          <p:cNvPr id="43" name="Text 41"/>
          <p:cNvSpPr/>
          <p:nvPr/>
        </p:nvSpPr>
        <p:spPr>
          <a:xfrm>
            <a:off x="548640" y="713232"/>
            <a:ext cx="10972800" cy="137160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We don't just run campaigns.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We build the infrastructure.</a:t>
            </a:r>
            <a:endParaRPr lang="en-US" sz="3600" dirty="0"/>
          </a:p>
        </p:txBody>
      </p:sp>
      <p:sp>
        <p:nvSpPr>
          <p:cNvPr id="44" name="Shape 42"/>
          <p:cNvSpPr/>
          <p:nvPr/>
        </p:nvSpPr>
        <p:spPr>
          <a:xfrm>
            <a:off x="411480" y="2331720"/>
            <a:ext cx="2212848" cy="2468880"/>
          </a:xfrm>
          <a:prstGeom prst="roundRect">
            <a:avLst>
              <a:gd name="adj" fmla="val 4959"/>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5" name="Shape 43"/>
          <p:cNvSpPr/>
          <p:nvPr/>
        </p:nvSpPr>
        <p:spPr>
          <a:xfrm>
            <a:off x="594360" y="2487168"/>
            <a:ext cx="329184" cy="329184"/>
          </a:xfrm>
          <a:prstGeom prst="ellipse">
            <a:avLst/>
          </a:prstGeom>
          <a:solidFill>
            <a:srgbClr val="E8604F"/>
          </a:solidFill>
          <a:ln w="12700">
            <a:solidFill>
              <a:srgbClr val="E8604F"/>
            </a:solidFill>
            <a:prstDash val="solid"/>
          </a:ln>
        </p:spPr>
      </p:sp>
      <p:sp>
        <p:nvSpPr>
          <p:cNvPr id="46" name="Text 44"/>
          <p:cNvSpPr/>
          <p:nvPr/>
        </p:nvSpPr>
        <p:spPr>
          <a:xfrm>
            <a:off x="594360"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7" name="Text 45"/>
          <p:cNvSpPr/>
          <p:nvPr/>
        </p:nvSpPr>
        <p:spPr>
          <a:xfrm>
            <a:off x="594360" y="2926080"/>
            <a:ext cx="1920240" cy="59436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Ensemble Health OS</a:t>
            </a:r>
            <a:endParaRPr lang="en-US" sz="1200" dirty="0"/>
          </a:p>
        </p:txBody>
      </p:sp>
      <p:sp>
        <p:nvSpPr>
          <p:cNvPr id="48" name="Text 46"/>
          <p:cNvSpPr/>
          <p:nvPr/>
        </p:nvSpPr>
        <p:spPr>
          <a:xfrm>
            <a:off x="594360" y="3566160"/>
            <a:ext cx="1901952" cy="109728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Full practice operating system — operations, clinical intelligence, patient engagement, HR, and growth.</a:t>
            </a:r>
            <a:endParaRPr lang="en-US" sz="1050" dirty="0"/>
          </a:p>
        </p:txBody>
      </p:sp>
      <p:sp>
        <p:nvSpPr>
          <p:cNvPr id="49" name="Shape 47"/>
          <p:cNvSpPr/>
          <p:nvPr/>
        </p:nvSpPr>
        <p:spPr>
          <a:xfrm>
            <a:off x="2770632" y="2331720"/>
            <a:ext cx="2212848" cy="2468880"/>
          </a:xfrm>
          <a:prstGeom prst="roundRect">
            <a:avLst>
              <a:gd name="adj" fmla="val 4959"/>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0" name="Shape 48"/>
          <p:cNvSpPr/>
          <p:nvPr/>
        </p:nvSpPr>
        <p:spPr>
          <a:xfrm>
            <a:off x="2953512" y="2487168"/>
            <a:ext cx="329184" cy="329184"/>
          </a:xfrm>
          <a:prstGeom prst="ellipse">
            <a:avLst/>
          </a:prstGeom>
          <a:solidFill>
            <a:srgbClr val="E8604F"/>
          </a:solidFill>
          <a:ln w="12700">
            <a:solidFill>
              <a:srgbClr val="E8604F"/>
            </a:solidFill>
            <a:prstDash val="solid"/>
          </a:ln>
        </p:spPr>
      </p:sp>
      <p:sp>
        <p:nvSpPr>
          <p:cNvPr id="51" name="Text 49"/>
          <p:cNvSpPr/>
          <p:nvPr/>
        </p:nvSpPr>
        <p:spPr>
          <a:xfrm>
            <a:off x="2953512"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2" name="Text 50"/>
          <p:cNvSpPr/>
          <p:nvPr/>
        </p:nvSpPr>
        <p:spPr>
          <a:xfrm>
            <a:off x="2953512" y="2926080"/>
            <a:ext cx="1920240" cy="59436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Second Opinion Portal</a:t>
            </a:r>
            <a:endParaRPr lang="en-US" sz="1200" dirty="0"/>
          </a:p>
        </p:txBody>
      </p:sp>
      <p:sp>
        <p:nvSpPr>
          <p:cNvPr id="53" name="Text 51"/>
          <p:cNvSpPr/>
          <p:nvPr/>
        </p:nvSpPr>
        <p:spPr>
          <a:xfrm>
            <a:off x="2953512" y="3566160"/>
            <a:ext cx="1901952" cy="109728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Structured telemedicine pathway connecting patients and physicians across specialties.</a:t>
            </a:r>
            <a:endParaRPr lang="en-US" sz="1050" dirty="0"/>
          </a:p>
        </p:txBody>
      </p:sp>
      <p:sp>
        <p:nvSpPr>
          <p:cNvPr id="54" name="Shape 52"/>
          <p:cNvSpPr/>
          <p:nvPr/>
        </p:nvSpPr>
        <p:spPr>
          <a:xfrm>
            <a:off x="5129784" y="2331720"/>
            <a:ext cx="2212848" cy="2468880"/>
          </a:xfrm>
          <a:prstGeom prst="roundRect">
            <a:avLst>
              <a:gd name="adj" fmla="val 4959"/>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5" name="Shape 53"/>
          <p:cNvSpPr/>
          <p:nvPr/>
        </p:nvSpPr>
        <p:spPr>
          <a:xfrm>
            <a:off x="5312664" y="2487168"/>
            <a:ext cx="329184" cy="329184"/>
          </a:xfrm>
          <a:prstGeom prst="ellipse">
            <a:avLst/>
          </a:prstGeom>
          <a:solidFill>
            <a:srgbClr val="E8604F"/>
          </a:solidFill>
          <a:ln w="12700">
            <a:solidFill>
              <a:srgbClr val="E8604F"/>
            </a:solidFill>
            <a:prstDash val="solid"/>
          </a:ln>
        </p:spPr>
      </p:sp>
      <p:sp>
        <p:nvSpPr>
          <p:cNvPr id="56" name="Text 54"/>
          <p:cNvSpPr/>
          <p:nvPr/>
        </p:nvSpPr>
        <p:spPr>
          <a:xfrm>
            <a:off x="5312664"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7" name="Text 55"/>
          <p:cNvSpPr/>
          <p:nvPr/>
        </p:nvSpPr>
        <p:spPr>
          <a:xfrm>
            <a:off x="5312664" y="2926080"/>
            <a:ext cx="1920240" cy="59436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DocChain</a:t>
            </a:r>
            <a:endParaRPr lang="en-US" sz="1200" dirty="0"/>
          </a:p>
        </p:txBody>
      </p:sp>
      <p:sp>
        <p:nvSpPr>
          <p:cNvPr id="58" name="Text 56"/>
          <p:cNvSpPr/>
          <p:nvPr/>
        </p:nvSpPr>
        <p:spPr>
          <a:xfrm>
            <a:off x="5312664" y="3566160"/>
            <a:ext cx="1901952" cy="109728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Accident case management portal linking lawyers and chiropractors — referrals, docs, billing in one place.</a:t>
            </a:r>
            <a:endParaRPr lang="en-US" sz="1050" dirty="0"/>
          </a:p>
        </p:txBody>
      </p:sp>
      <p:sp>
        <p:nvSpPr>
          <p:cNvPr id="59" name="Shape 57"/>
          <p:cNvSpPr/>
          <p:nvPr/>
        </p:nvSpPr>
        <p:spPr>
          <a:xfrm>
            <a:off x="7488936" y="2331720"/>
            <a:ext cx="2212848" cy="2468880"/>
          </a:xfrm>
          <a:prstGeom prst="roundRect">
            <a:avLst>
              <a:gd name="adj" fmla="val 4959"/>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0" name="Shape 58"/>
          <p:cNvSpPr/>
          <p:nvPr/>
        </p:nvSpPr>
        <p:spPr>
          <a:xfrm>
            <a:off x="7671816" y="2487168"/>
            <a:ext cx="329184" cy="329184"/>
          </a:xfrm>
          <a:prstGeom prst="ellipse">
            <a:avLst/>
          </a:prstGeom>
          <a:solidFill>
            <a:srgbClr val="E8604F"/>
          </a:solidFill>
          <a:ln w="12700">
            <a:solidFill>
              <a:srgbClr val="E8604F"/>
            </a:solidFill>
            <a:prstDash val="solid"/>
          </a:ln>
        </p:spPr>
      </p:sp>
      <p:sp>
        <p:nvSpPr>
          <p:cNvPr id="61" name="Text 59"/>
          <p:cNvSpPr/>
          <p:nvPr/>
        </p:nvSpPr>
        <p:spPr>
          <a:xfrm>
            <a:off x="7671816"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2" name="Text 60"/>
          <p:cNvSpPr/>
          <p:nvPr/>
        </p:nvSpPr>
        <p:spPr>
          <a:xfrm>
            <a:off x="7671816" y="2926080"/>
            <a:ext cx="1920240" cy="59436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AIP Portal</a:t>
            </a:r>
            <a:endParaRPr lang="en-US" sz="1200" dirty="0"/>
          </a:p>
        </p:txBody>
      </p:sp>
      <p:sp>
        <p:nvSpPr>
          <p:cNvPr id="63" name="Text 61"/>
          <p:cNvSpPr/>
          <p:nvPr/>
        </p:nvSpPr>
        <p:spPr>
          <a:xfrm>
            <a:off x="7671816" y="3566160"/>
            <a:ext cx="1901952" cy="109728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Built for the Alliance of Independent Physicians — prior auth, referrals, and network operations streamlined.</a:t>
            </a:r>
            <a:endParaRPr lang="en-US" sz="1050" dirty="0"/>
          </a:p>
        </p:txBody>
      </p:sp>
      <p:sp>
        <p:nvSpPr>
          <p:cNvPr id="64" name="Shape 62"/>
          <p:cNvSpPr/>
          <p:nvPr/>
        </p:nvSpPr>
        <p:spPr>
          <a:xfrm>
            <a:off x="9848088" y="2331720"/>
            <a:ext cx="2212848" cy="2468880"/>
          </a:xfrm>
          <a:prstGeom prst="roundRect">
            <a:avLst>
              <a:gd name="adj" fmla="val 4959"/>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5" name="Shape 63"/>
          <p:cNvSpPr/>
          <p:nvPr/>
        </p:nvSpPr>
        <p:spPr>
          <a:xfrm>
            <a:off x="10030968" y="2487168"/>
            <a:ext cx="329184" cy="329184"/>
          </a:xfrm>
          <a:prstGeom prst="ellipse">
            <a:avLst/>
          </a:prstGeom>
          <a:solidFill>
            <a:srgbClr val="E8604F"/>
          </a:solidFill>
          <a:ln w="12700">
            <a:solidFill>
              <a:srgbClr val="E8604F"/>
            </a:solidFill>
            <a:prstDash val="solid"/>
          </a:ln>
        </p:spPr>
      </p:sp>
      <p:sp>
        <p:nvSpPr>
          <p:cNvPr id="66" name="Text 64"/>
          <p:cNvSpPr/>
          <p:nvPr/>
        </p:nvSpPr>
        <p:spPr>
          <a:xfrm>
            <a:off x="10030968"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7" name="Text 65"/>
          <p:cNvSpPr/>
          <p:nvPr/>
        </p:nvSpPr>
        <p:spPr>
          <a:xfrm>
            <a:off x="10030968" y="2926080"/>
            <a:ext cx="1920240" cy="594360"/>
          </a:xfrm>
          <a:prstGeom prst="rect">
            <a:avLst/>
          </a:prstGeom>
          <a:noFill/>
          <a:ln/>
        </p:spPr>
        <p:txBody>
          <a:bodyPr wrap="square" rtlCol="0" anchor="ctr"/>
          <a:lstStyle/>
          <a:p>
            <a:pPr indent="0" marL="0">
              <a:lnSpc>
                <a:spcPct val="120000"/>
              </a:lnSpc>
              <a:buNone/>
            </a:pPr>
            <a:r>
              <a:rPr lang="en-US" sz="1200" b="1" dirty="0">
                <a:solidFill>
                  <a:srgbClr val="FFFFFF"/>
                </a:solidFill>
                <a:latin typeface="Calibri" pitchFamily="34" charset="0"/>
                <a:ea typeface="Calibri" pitchFamily="34" charset="-122"/>
                <a:cs typeface="Calibri" pitchFamily="34" charset="-120"/>
              </a:rPr>
              <a:t>PACS Integration</a:t>
            </a:r>
            <a:endParaRPr lang="en-US" sz="1200" dirty="0"/>
          </a:p>
        </p:txBody>
      </p:sp>
      <p:sp>
        <p:nvSpPr>
          <p:cNvPr id="68" name="Text 66"/>
          <p:cNvSpPr/>
          <p:nvPr/>
        </p:nvSpPr>
        <p:spPr>
          <a:xfrm>
            <a:off x="10030968" y="3566160"/>
            <a:ext cx="1901952" cy="109728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Imaging connectivity and clinical workflow for interventional and specialty practices. DICOM-ready.</a:t>
            </a:r>
            <a:endParaRPr lang="en-US" sz="1050" dirty="0"/>
          </a:p>
        </p:txBody>
      </p:sp>
      <p:sp>
        <p:nvSpPr>
          <p:cNvPr id="69" name="Text 67"/>
          <p:cNvSpPr/>
          <p:nvPr/>
        </p:nvSpPr>
        <p:spPr>
          <a:xfrm>
            <a:off x="548640" y="5074920"/>
            <a:ext cx="10972800" cy="365760"/>
          </a:xfrm>
          <a:prstGeom prst="rect">
            <a:avLst/>
          </a:prstGeom>
          <a:noFill/>
          <a:ln/>
        </p:spPr>
        <p:txBody>
          <a:bodyPr wrap="square" rtlCol="0" anchor="ctr"/>
          <a:lstStyle/>
          <a:p>
            <a:pPr algn="ctr" indent="0" marL="0">
              <a:buNone/>
            </a:pPr>
            <a:r>
              <a:rPr lang="en-US" sz="1300" b="1" dirty="0">
                <a:solidFill>
                  <a:srgbClr val="E8604F"/>
                </a:solidFill>
                <a:latin typeface="Calibri" pitchFamily="34" charset="0"/>
                <a:ea typeface="Calibri" pitchFamily="34" charset="-122"/>
                <a:cs typeface="Calibri" pitchFamily="34" charset="-120"/>
              </a:rPr>
              <a:t>Active builder, not just a service vendor.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73152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OUR CLIENTS — ST. LOUIS AND BEYOND</a:t>
            </a:r>
            <a:endParaRPr lang="en-US" sz="900" dirty="0"/>
          </a:p>
        </p:txBody>
      </p:sp>
      <p:sp>
        <p:nvSpPr>
          <p:cNvPr id="43" name="Text 41"/>
          <p:cNvSpPr/>
          <p:nvPr/>
        </p:nvSpPr>
        <p:spPr>
          <a:xfrm>
            <a:off x="548640" y="685800"/>
            <a:ext cx="10972800" cy="82296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Practices that trust us.</a:t>
            </a:r>
            <a:endParaRPr lang="en-US" sz="3600" dirty="0"/>
          </a:p>
        </p:txBody>
      </p:sp>
      <p:sp>
        <p:nvSpPr>
          <p:cNvPr id="44" name="Shape 42"/>
          <p:cNvSpPr/>
          <p:nvPr/>
        </p:nvSpPr>
        <p:spPr>
          <a:xfrm>
            <a:off x="411480" y="1783080"/>
            <a:ext cx="2761488" cy="2057400"/>
          </a:xfrm>
          <a:prstGeom prst="roundRect">
            <a:avLst>
              <a:gd name="adj" fmla="val 5333"/>
            </a:avLst>
          </a:prstGeom>
          <a:solidFill>
            <a:srgbClr val="161D32"/>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5" name="Shape 43"/>
          <p:cNvSpPr/>
          <p:nvPr/>
        </p:nvSpPr>
        <p:spPr>
          <a:xfrm>
            <a:off x="411480" y="1783080"/>
            <a:ext cx="2761488" cy="2057400"/>
          </a:xfrm>
          <a:prstGeom prst="roundRect">
            <a:avLst>
              <a:gd name="adj" fmla="val 5333"/>
            </a:avLst>
          </a:prstGeom>
          <a:solidFill>
            <a:srgbClr val="161D32"/>
          </a:solidFill>
          <a:ln w="15240">
            <a:solidFill>
              <a:srgbClr val="E8604F">
                <a:alpha val="60000"/>
              </a:srgbClr>
            </a:solidFill>
            <a:prstDash val="solid"/>
          </a:ln>
        </p:spPr>
      </p:sp>
      <p:sp>
        <p:nvSpPr>
          <p:cNvPr id="46" name="Text 44"/>
          <p:cNvSpPr/>
          <p:nvPr/>
        </p:nvSpPr>
        <p:spPr>
          <a:xfrm>
            <a:off x="576072" y="1947672"/>
            <a:ext cx="2423160" cy="256032"/>
          </a:xfrm>
          <a:prstGeom prst="rect">
            <a:avLst/>
          </a:prstGeom>
          <a:noFill/>
          <a:ln/>
        </p:spPr>
        <p:txBody>
          <a:bodyPr wrap="square" rtlCol="0" anchor="ctr"/>
          <a:lstStyle/>
          <a:p>
            <a:pPr indent="0" marL="0">
              <a:buNone/>
            </a:pPr>
            <a:r>
              <a:rPr lang="en-US" sz="850" b="1" spc="100" kern="0" dirty="0">
                <a:solidFill>
                  <a:srgbClr val="E8604F"/>
                </a:solidFill>
                <a:latin typeface="Calibri" pitchFamily="34" charset="0"/>
                <a:ea typeface="Calibri" pitchFamily="34" charset="-122"/>
                <a:cs typeface="Calibri" pitchFamily="34" charset="-120"/>
              </a:rPr>
              <a:t>★ AIP Member</a:t>
            </a:r>
            <a:endParaRPr lang="en-US" sz="850" dirty="0"/>
          </a:p>
        </p:txBody>
      </p:sp>
      <p:sp>
        <p:nvSpPr>
          <p:cNvPr id="47" name="Text 45"/>
          <p:cNvSpPr/>
          <p:nvPr/>
        </p:nvSpPr>
        <p:spPr>
          <a:xfrm>
            <a:off x="576072" y="2240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AIPSTL</a:t>
            </a:r>
            <a:endParaRPr lang="en-US" sz="1500" dirty="0"/>
          </a:p>
        </p:txBody>
      </p:sp>
      <p:sp>
        <p:nvSpPr>
          <p:cNvPr id="48" name="Text 46"/>
          <p:cNvSpPr/>
          <p:nvPr/>
        </p:nvSpPr>
        <p:spPr>
          <a:xfrm>
            <a:off x="576072" y="2770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Member acquisition for the Alliance of Independent Physicians — St. Louis.</a:t>
            </a:r>
            <a:endParaRPr lang="en-US" sz="1050" dirty="0"/>
          </a:p>
        </p:txBody>
      </p:sp>
      <p:sp>
        <p:nvSpPr>
          <p:cNvPr id="49" name="Shape 47"/>
          <p:cNvSpPr/>
          <p:nvPr/>
        </p:nvSpPr>
        <p:spPr>
          <a:xfrm>
            <a:off x="3355848" y="1783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0" name="Text 48"/>
          <p:cNvSpPr/>
          <p:nvPr/>
        </p:nvSpPr>
        <p:spPr>
          <a:xfrm>
            <a:off x="3520440" y="1947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Healthcare</a:t>
            </a:r>
            <a:endParaRPr lang="en-US" sz="850" dirty="0"/>
          </a:p>
        </p:txBody>
      </p:sp>
      <p:sp>
        <p:nvSpPr>
          <p:cNvPr id="51" name="Text 49"/>
          <p:cNvSpPr/>
          <p:nvPr/>
        </p:nvSpPr>
        <p:spPr>
          <a:xfrm>
            <a:off x="3520440" y="2240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STL IO+IR</a:t>
            </a:r>
            <a:endParaRPr lang="en-US" sz="1500" dirty="0"/>
          </a:p>
        </p:txBody>
      </p:sp>
      <p:sp>
        <p:nvSpPr>
          <p:cNvPr id="52" name="Text 50"/>
          <p:cNvSpPr/>
          <p:nvPr/>
        </p:nvSpPr>
        <p:spPr>
          <a:xfrm>
            <a:off x="3520440" y="2770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Full-stack digital presence for an interventional oncology and radiology practice.</a:t>
            </a:r>
            <a:endParaRPr lang="en-US" sz="1050" dirty="0"/>
          </a:p>
        </p:txBody>
      </p:sp>
      <p:sp>
        <p:nvSpPr>
          <p:cNvPr id="53" name="Shape 51"/>
          <p:cNvSpPr/>
          <p:nvPr/>
        </p:nvSpPr>
        <p:spPr>
          <a:xfrm>
            <a:off x="6300216" y="1783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4" name="Text 52"/>
          <p:cNvSpPr/>
          <p:nvPr/>
        </p:nvSpPr>
        <p:spPr>
          <a:xfrm>
            <a:off x="6464808" y="1947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Web + Brand</a:t>
            </a:r>
            <a:endParaRPr lang="en-US" sz="850" dirty="0"/>
          </a:p>
        </p:txBody>
      </p:sp>
      <p:sp>
        <p:nvSpPr>
          <p:cNvPr id="55" name="Text 53"/>
          <p:cNvSpPr/>
          <p:nvPr/>
        </p:nvSpPr>
        <p:spPr>
          <a:xfrm>
            <a:off x="6464808" y="2240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Arc Wellness</a:t>
            </a:r>
            <a:endParaRPr lang="en-US" sz="1500" dirty="0"/>
          </a:p>
        </p:txBody>
      </p:sp>
      <p:sp>
        <p:nvSpPr>
          <p:cNvPr id="56" name="Text 54"/>
          <p:cNvSpPr/>
          <p:nvPr/>
        </p:nvSpPr>
        <p:spPr>
          <a:xfrm>
            <a:off x="6464808" y="2770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Luxury aesthetics and longevity clinic. Physician-led premium patient acquisition.</a:t>
            </a:r>
            <a:endParaRPr lang="en-US" sz="1050" dirty="0"/>
          </a:p>
        </p:txBody>
      </p:sp>
      <p:sp>
        <p:nvSpPr>
          <p:cNvPr id="57" name="Shape 55"/>
          <p:cNvSpPr/>
          <p:nvPr/>
        </p:nvSpPr>
        <p:spPr>
          <a:xfrm>
            <a:off x="9244584" y="1783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8" name="Text 56"/>
          <p:cNvSpPr/>
          <p:nvPr/>
        </p:nvSpPr>
        <p:spPr>
          <a:xfrm>
            <a:off x="9409176" y="1947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Marketing</a:t>
            </a:r>
            <a:endParaRPr lang="en-US" sz="850" dirty="0"/>
          </a:p>
        </p:txBody>
      </p:sp>
      <p:sp>
        <p:nvSpPr>
          <p:cNvPr id="59" name="Text 57"/>
          <p:cNvSpPr/>
          <p:nvPr/>
        </p:nvSpPr>
        <p:spPr>
          <a:xfrm>
            <a:off x="9409176" y="2240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Smart Pain Solutions</a:t>
            </a:r>
            <a:endParaRPr lang="en-US" sz="1500" dirty="0"/>
          </a:p>
        </p:txBody>
      </p:sp>
      <p:sp>
        <p:nvSpPr>
          <p:cNvPr id="60" name="Text 58"/>
          <p:cNvSpPr/>
          <p:nvPr/>
        </p:nvSpPr>
        <p:spPr>
          <a:xfrm>
            <a:off x="9409176" y="2770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Performance marketing at scale. Consistent monthly patient volume growth.</a:t>
            </a:r>
            <a:endParaRPr lang="en-US" sz="1050" dirty="0"/>
          </a:p>
        </p:txBody>
      </p:sp>
      <p:sp>
        <p:nvSpPr>
          <p:cNvPr id="61" name="Shape 59"/>
          <p:cNvSpPr/>
          <p:nvPr/>
        </p:nvSpPr>
        <p:spPr>
          <a:xfrm>
            <a:off x="411480" y="4069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2" name="Text 60"/>
          <p:cNvSpPr/>
          <p:nvPr/>
        </p:nvSpPr>
        <p:spPr>
          <a:xfrm>
            <a:off x="576072" y="4233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Healthcare</a:t>
            </a:r>
            <a:endParaRPr lang="en-US" sz="850" dirty="0"/>
          </a:p>
        </p:txBody>
      </p:sp>
      <p:sp>
        <p:nvSpPr>
          <p:cNvPr id="63" name="Text 61"/>
          <p:cNvSpPr/>
          <p:nvPr/>
        </p:nvSpPr>
        <p:spPr>
          <a:xfrm>
            <a:off x="576072" y="4526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MHW Surgery</a:t>
            </a:r>
            <a:endParaRPr lang="en-US" sz="1500" dirty="0"/>
          </a:p>
        </p:txBody>
      </p:sp>
      <p:sp>
        <p:nvSpPr>
          <p:cNvPr id="64" name="Text 62"/>
          <p:cNvSpPr/>
          <p:nvPr/>
        </p:nvSpPr>
        <p:spPr>
          <a:xfrm>
            <a:off x="576072" y="5056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Surgical practice brand and acquisition engine built for a competitive market.</a:t>
            </a:r>
            <a:endParaRPr lang="en-US" sz="1050" dirty="0"/>
          </a:p>
        </p:txBody>
      </p:sp>
      <p:sp>
        <p:nvSpPr>
          <p:cNvPr id="65" name="Shape 63"/>
          <p:cNvSpPr/>
          <p:nvPr/>
        </p:nvSpPr>
        <p:spPr>
          <a:xfrm>
            <a:off x="3355848" y="4069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6" name="Text 64"/>
          <p:cNvSpPr/>
          <p:nvPr/>
        </p:nvSpPr>
        <p:spPr>
          <a:xfrm>
            <a:off x="3520440" y="4233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Healthcare</a:t>
            </a:r>
            <a:endParaRPr lang="en-US" sz="850" dirty="0"/>
          </a:p>
        </p:txBody>
      </p:sp>
      <p:sp>
        <p:nvSpPr>
          <p:cNvPr id="67" name="Text 65"/>
          <p:cNvSpPr/>
          <p:nvPr/>
        </p:nvSpPr>
        <p:spPr>
          <a:xfrm>
            <a:off x="3520440" y="4526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Spine Care</a:t>
            </a:r>
            <a:endParaRPr lang="en-US" sz="1500" dirty="0"/>
          </a:p>
        </p:txBody>
      </p:sp>
      <p:sp>
        <p:nvSpPr>
          <p:cNvPr id="68" name="Text 66"/>
          <p:cNvSpPr/>
          <p:nvPr/>
        </p:nvSpPr>
        <p:spPr>
          <a:xfrm>
            <a:off x="3520440" y="5056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Consistent month-over-month patient growth via SEO and digital acquisition.</a:t>
            </a:r>
            <a:endParaRPr lang="en-US" sz="1050" dirty="0"/>
          </a:p>
        </p:txBody>
      </p:sp>
      <p:sp>
        <p:nvSpPr>
          <p:cNvPr id="69" name="Shape 67"/>
          <p:cNvSpPr/>
          <p:nvPr/>
        </p:nvSpPr>
        <p:spPr>
          <a:xfrm>
            <a:off x="6300216" y="4069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70" name="Text 68"/>
          <p:cNvSpPr/>
          <p:nvPr/>
        </p:nvSpPr>
        <p:spPr>
          <a:xfrm>
            <a:off x="6464808" y="4233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AI Launch</a:t>
            </a:r>
            <a:endParaRPr lang="en-US" sz="850" dirty="0"/>
          </a:p>
        </p:txBody>
      </p:sp>
      <p:sp>
        <p:nvSpPr>
          <p:cNvPr id="71" name="Text 69"/>
          <p:cNvSpPr/>
          <p:nvPr/>
        </p:nvSpPr>
        <p:spPr>
          <a:xfrm>
            <a:off x="6464808" y="4526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CB Surgery</a:t>
            </a:r>
            <a:endParaRPr lang="en-US" sz="1500" dirty="0"/>
          </a:p>
        </p:txBody>
      </p:sp>
      <p:sp>
        <p:nvSpPr>
          <p:cNvPr id="72" name="Text 70"/>
          <p:cNvSpPr/>
          <p:nvPr/>
        </p:nvSpPr>
        <p:spPr>
          <a:xfrm>
            <a:off x="6464808" y="5056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Full AI-powered brand launch in 60 days — from zero to fully operational online.</a:t>
            </a:r>
            <a:endParaRPr lang="en-US" sz="1050" dirty="0"/>
          </a:p>
        </p:txBody>
      </p:sp>
      <p:sp>
        <p:nvSpPr>
          <p:cNvPr id="73" name="Shape 71"/>
          <p:cNvSpPr/>
          <p:nvPr/>
        </p:nvSpPr>
        <p:spPr>
          <a:xfrm>
            <a:off x="9244584" y="4069080"/>
            <a:ext cx="2761488" cy="2057400"/>
          </a:xfrm>
          <a:prstGeom prst="roundRect">
            <a:avLst>
              <a:gd name="adj" fmla="val 533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74" name="Text 72"/>
          <p:cNvSpPr/>
          <p:nvPr/>
        </p:nvSpPr>
        <p:spPr>
          <a:xfrm>
            <a:off x="9409176" y="4233672"/>
            <a:ext cx="2423160" cy="256032"/>
          </a:xfrm>
          <a:prstGeom prst="rect">
            <a:avLst/>
          </a:prstGeom>
          <a:noFill/>
          <a:ln/>
        </p:spPr>
        <p:txBody>
          <a:bodyPr wrap="square" rtlCol="0" anchor="ctr"/>
          <a:lstStyle/>
          <a:p>
            <a:pPr indent="0" marL="0">
              <a:buNone/>
            </a:pPr>
            <a:r>
              <a:rPr lang="en-US" sz="850" b="1" spc="100" kern="0" dirty="0">
                <a:solidFill>
                  <a:srgbClr val="666E8A"/>
                </a:solidFill>
                <a:latin typeface="Calibri" pitchFamily="34" charset="0"/>
                <a:ea typeface="Calibri" pitchFamily="34" charset="-122"/>
                <a:cs typeface="Calibri" pitchFamily="34" charset="-120"/>
              </a:rPr>
              <a:t>Social</a:t>
            </a:r>
            <a:endParaRPr lang="en-US" sz="850" dirty="0"/>
          </a:p>
        </p:txBody>
      </p:sp>
      <p:sp>
        <p:nvSpPr>
          <p:cNvPr id="75" name="Text 73"/>
          <p:cNvSpPr/>
          <p:nvPr/>
        </p:nvSpPr>
        <p:spPr>
          <a:xfrm>
            <a:off x="9409176" y="4526280"/>
            <a:ext cx="24231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Agafay Weight Loss</a:t>
            </a:r>
            <a:endParaRPr lang="en-US" sz="1500" dirty="0"/>
          </a:p>
        </p:txBody>
      </p:sp>
      <p:sp>
        <p:nvSpPr>
          <p:cNvPr id="76" name="Text 74"/>
          <p:cNvSpPr/>
          <p:nvPr/>
        </p:nvSpPr>
        <p:spPr>
          <a:xfrm>
            <a:off x="9409176" y="5056632"/>
            <a:ext cx="2423160" cy="914400"/>
          </a:xfrm>
          <a:prstGeom prst="rect">
            <a:avLst/>
          </a:prstGeom>
          <a:noFill/>
          <a:ln/>
        </p:spPr>
        <p:txBody>
          <a:bodyPr wrap="square" rtlCol="0" anchor="ctr"/>
          <a:lstStyle/>
          <a:p>
            <a:pPr indent="0" marL="0">
              <a:lnSpc>
                <a:spcPct val="135000"/>
              </a:lnSpc>
              <a:buNone/>
            </a:pPr>
            <a:r>
              <a:rPr lang="en-US" sz="1050" dirty="0">
                <a:solidFill>
                  <a:srgbClr val="B3B8CC"/>
                </a:solidFill>
                <a:latin typeface="Calibri" pitchFamily="34" charset="0"/>
                <a:ea typeface="Calibri" pitchFamily="34" charset="-122"/>
                <a:cs typeface="Calibri" pitchFamily="34" charset="-120"/>
              </a:rPr>
              <a:t>Social media growth and brand expansion. ROI measured in first 60 days.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45720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HOW WE START</a:t>
            </a:r>
            <a:endParaRPr lang="en-US" sz="900" dirty="0"/>
          </a:p>
        </p:txBody>
      </p:sp>
      <p:sp>
        <p:nvSpPr>
          <p:cNvPr id="43" name="Text 41"/>
          <p:cNvSpPr/>
          <p:nvPr/>
        </p:nvSpPr>
        <p:spPr>
          <a:xfrm>
            <a:off x="548640" y="685800"/>
            <a:ext cx="10972800" cy="1280160"/>
          </a:xfrm>
          <a:prstGeom prst="rect">
            <a:avLst/>
          </a:prstGeom>
          <a:noFill/>
          <a:ln/>
        </p:spPr>
        <p:txBody>
          <a:bodyPr wrap="square"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Results in 30 days.</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Not 6 months.</a:t>
            </a:r>
            <a:endParaRPr lang="en-US" sz="4000" dirty="0"/>
          </a:p>
        </p:txBody>
      </p:sp>
      <p:sp>
        <p:nvSpPr>
          <p:cNvPr id="44" name="Text 42"/>
          <p:cNvSpPr/>
          <p:nvPr/>
        </p:nvSpPr>
        <p:spPr>
          <a:xfrm>
            <a:off x="548640" y="2057400"/>
            <a:ext cx="10972800" cy="731520"/>
          </a:xfrm>
          <a:prstGeom prst="rect">
            <a:avLst/>
          </a:prstGeom>
          <a:noFill/>
          <a:ln/>
        </p:spPr>
        <p:txBody>
          <a:bodyPr wrap="square" rtlCol="0" anchor="ctr"/>
          <a:lstStyle/>
          <a:p>
            <a:pPr indent="0" marL="0">
              <a:lnSpc>
                <a:spcPct val="140000"/>
              </a:lnSpc>
              <a:buNone/>
            </a:pPr>
            <a:r>
              <a:rPr lang="en-US" sz="1300" dirty="0">
                <a:solidFill>
                  <a:srgbClr val="B3B8CC"/>
                </a:solidFill>
                <a:latin typeface="Calibri" pitchFamily="34" charset="0"/>
                <a:ea typeface="Calibri" pitchFamily="34" charset="-122"/>
                <a:cs typeface="Calibri" pitchFamily="34" charset="-120"/>
              </a:rPr>
              <a:t>Our 90-Day Quick-Win Plan prioritizes the highest-ROI actions first so you see measurable results fast — then we build the 12-month engine for sustained market leadership.</a:t>
            </a:r>
            <a:endParaRPr lang="en-US" sz="1300" dirty="0"/>
          </a:p>
        </p:txBody>
      </p:sp>
      <p:sp>
        <p:nvSpPr>
          <p:cNvPr id="45" name="Shape 43"/>
          <p:cNvSpPr/>
          <p:nvPr/>
        </p:nvSpPr>
        <p:spPr>
          <a:xfrm>
            <a:off x="1920240" y="3749040"/>
            <a:ext cx="8229600" cy="0"/>
          </a:xfrm>
          <a:prstGeom prst="line">
            <a:avLst/>
          </a:prstGeom>
          <a:noFill/>
          <a:ln w="19050">
            <a:solidFill>
              <a:srgbClr val="E8604F">
                <a:alpha val="50000"/>
              </a:srgbClr>
            </a:solidFill>
            <a:prstDash val="solid"/>
          </a:ln>
        </p:spPr>
      </p:sp>
      <p:sp>
        <p:nvSpPr>
          <p:cNvPr id="46" name="Shape 44"/>
          <p:cNvSpPr/>
          <p:nvPr/>
        </p:nvSpPr>
        <p:spPr>
          <a:xfrm>
            <a:off x="1965960" y="3566160"/>
            <a:ext cx="384048" cy="384048"/>
          </a:xfrm>
          <a:prstGeom prst="ellipse">
            <a:avLst/>
          </a:prstGeom>
          <a:solidFill>
            <a:srgbClr val="E8604F"/>
          </a:solidFill>
          <a:ln w="12700">
            <a:solidFill>
              <a:srgbClr val="E8604F"/>
            </a:solidFill>
            <a:prstDash val="solid"/>
          </a:ln>
        </p:spPr>
      </p:sp>
      <p:sp>
        <p:nvSpPr>
          <p:cNvPr id="47" name="Text 45"/>
          <p:cNvSpPr/>
          <p:nvPr/>
        </p:nvSpPr>
        <p:spPr>
          <a:xfrm>
            <a:off x="640080" y="2743200"/>
            <a:ext cx="3200400" cy="320040"/>
          </a:xfrm>
          <a:prstGeom prst="rect">
            <a:avLst/>
          </a:prstGeom>
          <a:noFill/>
          <a:ln/>
        </p:spPr>
        <p:txBody>
          <a:bodyPr wrap="square" rtlCol="0" anchor="ctr"/>
          <a:lstStyle/>
          <a:p>
            <a:pPr indent="0" marL="0">
              <a:buNone/>
            </a:pPr>
            <a:r>
              <a:rPr lang="en-US" sz="1000" b="1" spc="100" kern="0" dirty="0">
                <a:solidFill>
                  <a:srgbClr val="E8604F"/>
                </a:solidFill>
                <a:latin typeface="Calibri" pitchFamily="34" charset="0"/>
                <a:ea typeface="Calibri" pitchFamily="34" charset="-122"/>
                <a:cs typeface="Calibri" pitchFamily="34" charset="-120"/>
              </a:rPr>
              <a:t>Days 1–30</a:t>
            </a:r>
            <a:endParaRPr lang="en-US" sz="1000" dirty="0"/>
          </a:p>
        </p:txBody>
      </p:sp>
      <p:sp>
        <p:nvSpPr>
          <p:cNvPr id="48" name="Shape 46"/>
          <p:cNvSpPr/>
          <p:nvPr/>
        </p:nvSpPr>
        <p:spPr>
          <a:xfrm>
            <a:off x="640080" y="4114800"/>
            <a:ext cx="3566160" cy="2423160"/>
          </a:xfrm>
          <a:prstGeom prst="roundRect">
            <a:avLst>
              <a:gd name="adj" fmla="val 4528"/>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9" name="Text 47"/>
          <p:cNvSpPr/>
          <p:nvPr/>
        </p:nvSpPr>
        <p:spPr>
          <a:xfrm>
            <a:off x="822960" y="4251960"/>
            <a:ext cx="320040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Foundation</a:t>
            </a:r>
            <a:endParaRPr lang="en-US" sz="1600" dirty="0"/>
          </a:p>
        </p:txBody>
      </p:sp>
      <p:sp>
        <p:nvSpPr>
          <p:cNvPr id="50" name="Shape 48"/>
          <p:cNvSpPr/>
          <p:nvPr/>
        </p:nvSpPr>
        <p:spPr>
          <a:xfrm>
            <a:off x="822960" y="4828032"/>
            <a:ext cx="128016" cy="128016"/>
          </a:xfrm>
          <a:prstGeom prst="ellipse">
            <a:avLst/>
          </a:prstGeom>
          <a:solidFill>
            <a:srgbClr val="E8604F"/>
          </a:solidFill>
          <a:ln w="12700">
            <a:solidFill>
              <a:srgbClr val="E8604F"/>
            </a:solidFill>
            <a:prstDash val="solid"/>
          </a:ln>
        </p:spPr>
      </p:sp>
      <p:sp>
        <p:nvSpPr>
          <p:cNvPr id="51" name="Text 49"/>
          <p:cNvSpPr/>
          <p:nvPr/>
        </p:nvSpPr>
        <p:spPr>
          <a:xfrm>
            <a:off x="1024128" y="4773168"/>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Website audit — speed, mobile, ADA</a:t>
            </a:r>
            <a:endParaRPr lang="en-US" sz="1100" dirty="0"/>
          </a:p>
        </p:txBody>
      </p:sp>
      <p:sp>
        <p:nvSpPr>
          <p:cNvPr id="52" name="Shape 50"/>
          <p:cNvSpPr/>
          <p:nvPr/>
        </p:nvSpPr>
        <p:spPr>
          <a:xfrm>
            <a:off x="822960" y="5340096"/>
            <a:ext cx="128016" cy="128016"/>
          </a:xfrm>
          <a:prstGeom prst="ellipse">
            <a:avLst/>
          </a:prstGeom>
          <a:solidFill>
            <a:srgbClr val="E8604F"/>
          </a:solidFill>
          <a:ln w="12700">
            <a:solidFill>
              <a:srgbClr val="E8604F"/>
            </a:solidFill>
            <a:prstDash val="solid"/>
          </a:ln>
        </p:spPr>
      </p:sp>
      <p:sp>
        <p:nvSpPr>
          <p:cNvPr id="53" name="Text 51"/>
          <p:cNvSpPr/>
          <p:nvPr/>
        </p:nvSpPr>
        <p:spPr>
          <a:xfrm>
            <a:off x="1024128" y="5285232"/>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HIPAA-compliant tracking setup</a:t>
            </a:r>
            <a:endParaRPr lang="en-US" sz="1100" dirty="0"/>
          </a:p>
        </p:txBody>
      </p:sp>
      <p:sp>
        <p:nvSpPr>
          <p:cNvPr id="54" name="Shape 52"/>
          <p:cNvSpPr/>
          <p:nvPr/>
        </p:nvSpPr>
        <p:spPr>
          <a:xfrm>
            <a:off x="822960" y="5852160"/>
            <a:ext cx="128016" cy="128016"/>
          </a:xfrm>
          <a:prstGeom prst="ellipse">
            <a:avLst/>
          </a:prstGeom>
          <a:solidFill>
            <a:srgbClr val="E8604F"/>
          </a:solidFill>
          <a:ln w="12700">
            <a:solidFill>
              <a:srgbClr val="E8604F"/>
            </a:solidFill>
            <a:prstDash val="solid"/>
          </a:ln>
        </p:spPr>
      </p:sp>
      <p:sp>
        <p:nvSpPr>
          <p:cNvPr id="55" name="Text 53"/>
          <p:cNvSpPr/>
          <p:nvPr/>
        </p:nvSpPr>
        <p:spPr>
          <a:xfrm>
            <a:off x="1024128" y="5797296"/>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Google Business Profile optimized</a:t>
            </a:r>
            <a:endParaRPr lang="en-US" sz="1100" dirty="0"/>
          </a:p>
        </p:txBody>
      </p:sp>
      <p:sp>
        <p:nvSpPr>
          <p:cNvPr id="56" name="Shape 54"/>
          <p:cNvSpPr/>
          <p:nvPr/>
        </p:nvSpPr>
        <p:spPr>
          <a:xfrm>
            <a:off x="5760720" y="3566160"/>
            <a:ext cx="384048" cy="384048"/>
          </a:xfrm>
          <a:prstGeom prst="ellipse">
            <a:avLst/>
          </a:prstGeom>
          <a:solidFill>
            <a:srgbClr val="E8604F"/>
          </a:solidFill>
          <a:ln w="12700">
            <a:solidFill>
              <a:srgbClr val="E8604F"/>
            </a:solidFill>
            <a:prstDash val="solid"/>
          </a:ln>
        </p:spPr>
      </p:sp>
      <p:sp>
        <p:nvSpPr>
          <p:cNvPr id="57" name="Text 55"/>
          <p:cNvSpPr/>
          <p:nvPr/>
        </p:nvSpPr>
        <p:spPr>
          <a:xfrm>
            <a:off x="4434840" y="2743200"/>
            <a:ext cx="3200400" cy="320040"/>
          </a:xfrm>
          <a:prstGeom prst="rect">
            <a:avLst/>
          </a:prstGeom>
          <a:noFill/>
          <a:ln/>
        </p:spPr>
        <p:txBody>
          <a:bodyPr wrap="square" rtlCol="0" anchor="ctr"/>
          <a:lstStyle/>
          <a:p>
            <a:pPr indent="0" marL="0">
              <a:buNone/>
            </a:pPr>
            <a:r>
              <a:rPr lang="en-US" sz="1000" b="1" spc="100" kern="0" dirty="0">
                <a:solidFill>
                  <a:srgbClr val="E8604F"/>
                </a:solidFill>
                <a:latin typeface="Calibri" pitchFamily="34" charset="0"/>
                <a:ea typeface="Calibri" pitchFamily="34" charset="-122"/>
                <a:cs typeface="Calibri" pitchFamily="34" charset="-120"/>
              </a:rPr>
              <a:t>Days 31–60</a:t>
            </a:r>
            <a:endParaRPr lang="en-US" sz="1000" dirty="0"/>
          </a:p>
        </p:txBody>
      </p:sp>
      <p:sp>
        <p:nvSpPr>
          <p:cNvPr id="58" name="Shape 56"/>
          <p:cNvSpPr/>
          <p:nvPr/>
        </p:nvSpPr>
        <p:spPr>
          <a:xfrm>
            <a:off x="4434840" y="4114800"/>
            <a:ext cx="3566160" cy="2423160"/>
          </a:xfrm>
          <a:prstGeom prst="roundRect">
            <a:avLst>
              <a:gd name="adj" fmla="val 4528"/>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9" name="Text 57"/>
          <p:cNvSpPr/>
          <p:nvPr/>
        </p:nvSpPr>
        <p:spPr>
          <a:xfrm>
            <a:off x="4617720" y="4251960"/>
            <a:ext cx="320040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Demand Gen</a:t>
            </a:r>
            <a:endParaRPr lang="en-US" sz="1600" dirty="0"/>
          </a:p>
        </p:txBody>
      </p:sp>
      <p:sp>
        <p:nvSpPr>
          <p:cNvPr id="60" name="Shape 58"/>
          <p:cNvSpPr/>
          <p:nvPr/>
        </p:nvSpPr>
        <p:spPr>
          <a:xfrm>
            <a:off x="4617720" y="4828032"/>
            <a:ext cx="128016" cy="128016"/>
          </a:xfrm>
          <a:prstGeom prst="ellipse">
            <a:avLst/>
          </a:prstGeom>
          <a:solidFill>
            <a:srgbClr val="E8604F"/>
          </a:solidFill>
          <a:ln w="12700">
            <a:solidFill>
              <a:srgbClr val="E8604F"/>
            </a:solidFill>
            <a:prstDash val="solid"/>
          </a:ln>
        </p:spPr>
      </p:sp>
      <p:sp>
        <p:nvSpPr>
          <p:cNvPr id="61" name="Text 59"/>
          <p:cNvSpPr/>
          <p:nvPr/>
        </p:nvSpPr>
        <p:spPr>
          <a:xfrm>
            <a:off x="4818888" y="4773168"/>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NAP consistency across directories</a:t>
            </a:r>
            <a:endParaRPr lang="en-US" sz="1100" dirty="0"/>
          </a:p>
        </p:txBody>
      </p:sp>
      <p:sp>
        <p:nvSpPr>
          <p:cNvPr id="62" name="Shape 60"/>
          <p:cNvSpPr/>
          <p:nvPr/>
        </p:nvSpPr>
        <p:spPr>
          <a:xfrm>
            <a:off x="4617720" y="5340096"/>
            <a:ext cx="128016" cy="128016"/>
          </a:xfrm>
          <a:prstGeom prst="ellipse">
            <a:avLst/>
          </a:prstGeom>
          <a:solidFill>
            <a:srgbClr val="E8604F"/>
          </a:solidFill>
          <a:ln w="12700">
            <a:solidFill>
              <a:srgbClr val="E8604F"/>
            </a:solidFill>
            <a:prstDash val="solid"/>
          </a:ln>
        </p:spPr>
      </p:sp>
      <p:sp>
        <p:nvSpPr>
          <p:cNvPr id="63" name="Text 61"/>
          <p:cNvSpPr/>
          <p:nvPr/>
        </p:nvSpPr>
        <p:spPr>
          <a:xfrm>
            <a:off x="4818888" y="5285232"/>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Automated review generation</a:t>
            </a:r>
            <a:endParaRPr lang="en-US" sz="1100" dirty="0"/>
          </a:p>
        </p:txBody>
      </p:sp>
      <p:sp>
        <p:nvSpPr>
          <p:cNvPr id="64" name="Shape 62"/>
          <p:cNvSpPr/>
          <p:nvPr/>
        </p:nvSpPr>
        <p:spPr>
          <a:xfrm>
            <a:off x="4617720" y="5852160"/>
            <a:ext cx="128016" cy="128016"/>
          </a:xfrm>
          <a:prstGeom prst="ellipse">
            <a:avLst/>
          </a:prstGeom>
          <a:solidFill>
            <a:srgbClr val="E8604F"/>
          </a:solidFill>
          <a:ln w="12700">
            <a:solidFill>
              <a:srgbClr val="E8604F"/>
            </a:solidFill>
            <a:prstDash val="solid"/>
          </a:ln>
        </p:spPr>
      </p:sp>
      <p:sp>
        <p:nvSpPr>
          <p:cNvPr id="65" name="Text 63"/>
          <p:cNvSpPr/>
          <p:nvPr/>
        </p:nvSpPr>
        <p:spPr>
          <a:xfrm>
            <a:off x="4818888" y="5797296"/>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Online scheduling + secure forms</a:t>
            </a:r>
            <a:endParaRPr lang="en-US" sz="1100" dirty="0"/>
          </a:p>
        </p:txBody>
      </p:sp>
      <p:sp>
        <p:nvSpPr>
          <p:cNvPr id="66" name="Shape 64"/>
          <p:cNvSpPr/>
          <p:nvPr/>
        </p:nvSpPr>
        <p:spPr>
          <a:xfrm>
            <a:off x="9555480" y="3566160"/>
            <a:ext cx="384048" cy="384048"/>
          </a:xfrm>
          <a:prstGeom prst="ellipse">
            <a:avLst/>
          </a:prstGeom>
          <a:solidFill>
            <a:srgbClr val="E8604F"/>
          </a:solidFill>
          <a:ln w="12700">
            <a:solidFill>
              <a:srgbClr val="E8604F"/>
            </a:solidFill>
            <a:prstDash val="solid"/>
          </a:ln>
        </p:spPr>
      </p:sp>
      <p:sp>
        <p:nvSpPr>
          <p:cNvPr id="67" name="Text 65"/>
          <p:cNvSpPr/>
          <p:nvPr/>
        </p:nvSpPr>
        <p:spPr>
          <a:xfrm>
            <a:off x="8229600" y="2743200"/>
            <a:ext cx="3200400" cy="320040"/>
          </a:xfrm>
          <a:prstGeom prst="rect">
            <a:avLst/>
          </a:prstGeom>
          <a:noFill/>
          <a:ln/>
        </p:spPr>
        <p:txBody>
          <a:bodyPr wrap="square" rtlCol="0" anchor="ctr"/>
          <a:lstStyle/>
          <a:p>
            <a:pPr indent="0" marL="0">
              <a:buNone/>
            </a:pPr>
            <a:r>
              <a:rPr lang="en-US" sz="1000" b="1" spc="100" kern="0" dirty="0">
                <a:solidFill>
                  <a:srgbClr val="E8604F"/>
                </a:solidFill>
                <a:latin typeface="Calibri" pitchFamily="34" charset="0"/>
                <a:ea typeface="Calibri" pitchFamily="34" charset="-122"/>
                <a:cs typeface="Calibri" pitchFamily="34" charset="-120"/>
              </a:rPr>
              <a:t>Days 61–90</a:t>
            </a:r>
            <a:endParaRPr lang="en-US" sz="1000" dirty="0"/>
          </a:p>
        </p:txBody>
      </p:sp>
      <p:sp>
        <p:nvSpPr>
          <p:cNvPr id="68" name="Shape 66"/>
          <p:cNvSpPr/>
          <p:nvPr/>
        </p:nvSpPr>
        <p:spPr>
          <a:xfrm>
            <a:off x="8229600" y="4114800"/>
            <a:ext cx="3566160" cy="2423160"/>
          </a:xfrm>
          <a:prstGeom prst="roundRect">
            <a:avLst>
              <a:gd name="adj" fmla="val 4528"/>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69" name="Text 67"/>
          <p:cNvSpPr/>
          <p:nvPr/>
        </p:nvSpPr>
        <p:spPr>
          <a:xfrm>
            <a:off x="8412480" y="4251960"/>
            <a:ext cx="3200400" cy="4114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Scale</a:t>
            </a:r>
            <a:endParaRPr lang="en-US" sz="1600" dirty="0"/>
          </a:p>
        </p:txBody>
      </p:sp>
      <p:sp>
        <p:nvSpPr>
          <p:cNvPr id="70" name="Shape 68"/>
          <p:cNvSpPr/>
          <p:nvPr/>
        </p:nvSpPr>
        <p:spPr>
          <a:xfrm>
            <a:off x="8412480" y="4828032"/>
            <a:ext cx="128016" cy="128016"/>
          </a:xfrm>
          <a:prstGeom prst="ellipse">
            <a:avLst/>
          </a:prstGeom>
          <a:solidFill>
            <a:srgbClr val="E8604F"/>
          </a:solidFill>
          <a:ln w="12700">
            <a:solidFill>
              <a:srgbClr val="E8604F"/>
            </a:solidFill>
            <a:prstDash val="solid"/>
          </a:ln>
        </p:spPr>
      </p:sp>
      <p:sp>
        <p:nvSpPr>
          <p:cNvPr id="71" name="Text 69"/>
          <p:cNvSpPr/>
          <p:nvPr/>
        </p:nvSpPr>
        <p:spPr>
          <a:xfrm>
            <a:off x="8613648" y="4773168"/>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PPC launched — Search + Local Ads</a:t>
            </a:r>
            <a:endParaRPr lang="en-US" sz="1100" dirty="0"/>
          </a:p>
        </p:txBody>
      </p:sp>
      <p:sp>
        <p:nvSpPr>
          <p:cNvPr id="72" name="Shape 70"/>
          <p:cNvSpPr/>
          <p:nvPr/>
        </p:nvSpPr>
        <p:spPr>
          <a:xfrm>
            <a:off x="8412480" y="5340096"/>
            <a:ext cx="128016" cy="128016"/>
          </a:xfrm>
          <a:prstGeom prst="ellipse">
            <a:avLst/>
          </a:prstGeom>
          <a:solidFill>
            <a:srgbClr val="E8604F"/>
          </a:solidFill>
          <a:ln w="12700">
            <a:solidFill>
              <a:srgbClr val="E8604F"/>
            </a:solidFill>
            <a:prstDash val="solid"/>
          </a:ln>
        </p:spPr>
      </p:sp>
      <p:sp>
        <p:nvSpPr>
          <p:cNvPr id="73" name="Text 71"/>
          <p:cNvSpPr/>
          <p:nvPr/>
        </p:nvSpPr>
        <p:spPr>
          <a:xfrm>
            <a:off x="8613648" y="5285232"/>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First SEO content cluster published</a:t>
            </a:r>
            <a:endParaRPr lang="en-US" sz="1100" dirty="0"/>
          </a:p>
        </p:txBody>
      </p:sp>
      <p:sp>
        <p:nvSpPr>
          <p:cNvPr id="74" name="Shape 72"/>
          <p:cNvSpPr/>
          <p:nvPr/>
        </p:nvSpPr>
        <p:spPr>
          <a:xfrm>
            <a:off x="8412480" y="5852160"/>
            <a:ext cx="128016" cy="128016"/>
          </a:xfrm>
          <a:prstGeom prst="ellipse">
            <a:avLst/>
          </a:prstGeom>
          <a:solidFill>
            <a:srgbClr val="E8604F"/>
          </a:solidFill>
          <a:ln w="12700">
            <a:solidFill>
              <a:srgbClr val="E8604F"/>
            </a:solidFill>
            <a:prstDash val="solid"/>
          </a:ln>
        </p:spPr>
      </p:sp>
      <p:sp>
        <p:nvSpPr>
          <p:cNvPr id="75" name="Text 73"/>
          <p:cNvSpPr/>
          <p:nvPr/>
        </p:nvSpPr>
        <p:spPr>
          <a:xfrm>
            <a:off x="8613648" y="5797296"/>
            <a:ext cx="3108960" cy="420624"/>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A/B testing: headlines, CTAs, pages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Text 40"/>
          <p:cNvSpPr/>
          <p:nvPr/>
        </p:nvSpPr>
        <p:spPr>
          <a:xfrm>
            <a:off x="548640" y="365760"/>
            <a:ext cx="5486400" cy="274320"/>
          </a:xfrm>
          <a:prstGeom prst="rect">
            <a:avLst/>
          </a:prstGeom>
          <a:noFill/>
          <a:ln/>
        </p:spPr>
        <p:txBody>
          <a:bodyPr wrap="square" rtlCol="0" anchor="ctr"/>
          <a:lstStyle/>
          <a:p>
            <a:pPr indent="0" marL="0">
              <a:buNone/>
            </a:pPr>
            <a:r>
              <a:rPr lang="en-US" sz="900" b="1" spc="300" kern="0" dirty="0">
                <a:solidFill>
                  <a:srgbClr val="E8604F"/>
                </a:solidFill>
                <a:latin typeface="Calibri" pitchFamily="34" charset="0"/>
                <a:ea typeface="Calibri" pitchFamily="34" charset="-122"/>
                <a:cs typeface="Calibri" pitchFamily="34" charset="-120"/>
              </a:rPr>
              <a:t>HOW WE WORK TOGETHER</a:t>
            </a:r>
            <a:endParaRPr lang="en-US" sz="900" dirty="0"/>
          </a:p>
        </p:txBody>
      </p:sp>
      <p:sp>
        <p:nvSpPr>
          <p:cNvPr id="43" name="Text 41"/>
          <p:cNvSpPr/>
          <p:nvPr/>
        </p:nvSpPr>
        <p:spPr>
          <a:xfrm>
            <a:off x="548640" y="685800"/>
            <a:ext cx="7315200" cy="128016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There's an entry point for</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every practice.</a:t>
            </a:r>
            <a:endParaRPr lang="en-US" sz="3600" dirty="0"/>
          </a:p>
        </p:txBody>
      </p:sp>
      <p:sp>
        <p:nvSpPr>
          <p:cNvPr id="44" name="Shape 42"/>
          <p:cNvSpPr/>
          <p:nvPr/>
        </p:nvSpPr>
        <p:spPr>
          <a:xfrm>
            <a:off x="457200" y="2148840"/>
            <a:ext cx="3703320" cy="4389120"/>
          </a:xfrm>
          <a:prstGeom prst="roundRect">
            <a:avLst>
              <a:gd name="adj" fmla="val 296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5" name="Text 43"/>
          <p:cNvSpPr/>
          <p:nvPr/>
        </p:nvSpPr>
        <p:spPr>
          <a:xfrm>
            <a:off x="658368" y="2331720"/>
            <a:ext cx="3337560" cy="292608"/>
          </a:xfrm>
          <a:prstGeom prst="rect">
            <a:avLst/>
          </a:prstGeom>
          <a:noFill/>
          <a:ln/>
        </p:spPr>
        <p:txBody>
          <a:bodyPr wrap="square" rtlCol="0" anchor="ctr"/>
          <a:lstStyle/>
          <a:p>
            <a:pPr indent="0" marL="0">
              <a:buNone/>
            </a:pPr>
            <a:r>
              <a:rPr lang="en-US" sz="900" b="1" spc="200" kern="0" dirty="0">
                <a:solidFill>
                  <a:srgbClr val="666E8A"/>
                </a:solidFill>
                <a:latin typeface="Calibri" pitchFamily="34" charset="0"/>
                <a:ea typeface="Calibri" pitchFamily="34" charset="-122"/>
                <a:cs typeface="Calibri" pitchFamily="34" charset="-120"/>
              </a:rPr>
              <a:t>ESSENTIALS</a:t>
            </a:r>
            <a:endParaRPr lang="en-US" sz="900" dirty="0"/>
          </a:p>
        </p:txBody>
      </p:sp>
      <p:sp>
        <p:nvSpPr>
          <p:cNvPr id="46" name="Text 44"/>
          <p:cNvSpPr/>
          <p:nvPr/>
        </p:nvSpPr>
        <p:spPr>
          <a:xfrm>
            <a:off x="658368" y="2651760"/>
            <a:ext cx="333756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Foundation</a:t>
            </a:r>
            <a:endParaRPr lang="en-US" sz="2200" dirty="0"/>
          </a:p>
        </p:txBody>
      </p:sp>
      <p:sp>
        <p:nvSpPr>
          <p:cNvPr id="47" name="Text 45"/>
          <p:cNvSpPr/>
          <p:nvPr/>
        </p:nvSpPr>
        <p:spPr>
          <a:xfrm>
            <a:off x="658368" y="3218688"/>
            <a:ext cx="3273552" cy="914400"/>
          </a:xfrm>
          <a:prstGeom prst="rect">
            <a:avLst/>
          </a:prstGeom>
          <a:noFill/>
          <a:ln/>
        </p:spPr>
        <p:txBody>
          <a:bodyPr wrap="square" rtlCol="0" anchor="ctr"/>
          <a:lstStyle/>
          <a:p>
            <a:pPr indent="0" marL="0">
              <a:lnSpc>
                <a:spcPct val="140000"/>
              </a:lnSpc>
              <a:buNone/>
            </a:pPr>
            <a:r>
              <a:rPr lang="en-US" sz="1150" dirty="0">
                <a:solidFill>
                  <a:srgbClr val="B3B8CC"/>
                </a:solidFill>
                <a:latin typeface="Calibri" pitchFamily="34" charset="0"/>
                <a:ea typeface="Calibri" pitchFamily="34" charset="-122"/>
                <a:cs typeface="Calibri" pitchFamily="34" charset="-120"/>
              </a:rPr>
              <a:t>Get the foundations in place — website, compliance, and basic digital visibility.</a:t>
            </a:r>
            <a:endParaRPr lang="en-US" sz="1150" dirty="0"/>
          </a:p>
        </p:txBody>
      </p:sp>
      <p:sp>
        <p:nvSpPr>
          <p:cNvPr id="48" name="Shape 46"/>
          <p:cNvSpPr/>
          <p:nvPr/>
        </p:nvSpPr>
        <p:spPr>
          <a:xfrm>
            <a:off x="658368" y="4279392"/>
            <a:ext cx="128016" cy="128016"/>
          </a:xfrm>
          <a:prstGeom prst="ellipse">
            <a:avLst/>
          </a:prstGeom>
          <a:solidFill>
            <a:srgbClr val="1D9E75"/>
          </a:solidFill>
          <a:ln w="12700">
            <a:solidFill>
              <a:srgbClr val="1D9E75"/>
            </a:solidFill>
            <a:prstDash val="solid"/>
          </a:ln>
        </p:spPr>
      </p:sp>
      <p:sp>
        <p:nvSpPr>
          <p:cNvPr id="49" name="Text 47"/>
          <p:cNvSpPr/>
          <p:nvPr/>
        </p:nvSpPr>
        <p:spPr>
          <a:xfrm>
            <a:off x="859536" y="4224528"/>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Physician-grade website</a:t>
            </a:r>
            <a:endParaRPr lang="en-US" sz="1100" dirty="0"/>
          </a:p>
        </p:txBody>
      </p:sp>
      <p:sp>
        <p:nvSpPr>
          <p:cNvPr id="50" name="Shape 48"/>
          <p:cNvSpPr/>
          <p:nvPr/>
        </p:nvSpPr>
        <p:spPr>
          <a:xfrm>
            <a:off x="658368" y="4718304"/>
            <a:ext cx="128016" cy="128016"/>
          </a:xfrm>
          <a:prstGeom prst="ellipse">
            <a:avLst/>
          </a:prstGeom>
          <a:solidFill>
            <a:srgbClr val="1D9E75"/>
          </a:solidFill>
          <a:ln w="12700">
            <a:solidFill>
              <a:srgbClr val="1D9E75"/>
            </a:solidFill>
            <a:prstDash val="solid"/>
          </a:ln>
        </p:spPr>
      </p:sp>
      <p:sp>
        <p:nvSpPr>
          <p:cNvPr id="51" name="Text 49"/>
          <p:cNvSpPr/>
          <p:nvPr/>
        </p:nvSpPr>
        <p:spPr>
          <a:xfrm>
            <a:off x="859536" y="4663440"/>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Google Business Profile</a:t>
            </a:r>
            <a:endParaRPr lang="en-US" sz="1100" dirty="0"/>
          </a:p>
        </p:txBody>
      </p:sp>
      <p:sp>
        <p:nvSpPr>
          <p:cNvPr id="52" name="Shape 50"/>
          <p:cNvSpPr/>
          <p:nvPr/>
        </p:nvSpPr>
        <p:spPr>
          <a:xfrm>
            <a:off x="658368" y="5157216"/>
            <a:ext cx="128016" cy="128016"/>
          </a:xfrm>
          <a:prstGeom prst="ellipse">
            <a:avLst/>
          </a:prstGeom>
          <a:solidFill>
            <a:srgbClr val="1D9E75"/>
          </a:solidFill>
          <a:ln w="12700">
            <a:solidFill>
              <a:srgbClr val="1D9E75"/>
            </a:solidFill>
            <a:prstDash val="solid"/>
          </a:ln>
        </p:spPr>
      </p:sp>
      <p:sp>
        <p:nvSpPr>
          <p:cNvPr id="53" name="Text 51"/>
          <p:cNvSpPr/>
          <p:nvPr/>
        </p:nvSpPr>
        <p:spPr>
          <a:xfrm>
            <a:off x="859536" y="5102352"/>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HIPAA-compliant tracking</a:t>
            </a:r>
            <a:endParaRPr lang="en-US" sz="1100" dirty="0"/>
          </a:p>
        </p:txBody>
      </p:sp>
      <p:sp>
        <p:nvSpPr>
          <p:cNvPr id="54" name="Shape 52"/>
          <p:cNvSpPr/>
          <p:nvPr/>
        </p:nvSpPr>
        <p:spPr>
          <a:xfrm>
            <a:off x="658368" y="5596128"/>
            <a:ext cx="128016" cy="128016"/>
          </a:xfrm>
          <a:prstGeom prst="ellipse">
            <a:avLst/>
          </a:prstGeom>
          <a:solidFill>
            <a:srgbClr val="1D9E75"/>
          </a:solidFill>
          <a:ln w="12700">
            <a:solidFill>
              <a:srgbClr val="1D9E75"/>
            </a:solidFill>
            <a:prstDash val="solid"/>
          </a:ln>
        </p:spPr>
      </p:sp>
      <p:sp>
        <p:nvSpPr>
          <p:cNvPr id="55" name="Text 53"/>
          <p:cNvSpPr/>
          <p:nvPr/>
        </p:nvSpPr>
        <p:spPr>
          <a:xfrm>
            <a:off x="859536" y="5541264"/>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Basic local SEO</a:t>
            </a:r>
            <a:endParaRPr lang="en-US" sz="1100" dirty="0"/>
          </a:p>
        </p:txBody>
      </p:sp>
      <p:sp>
        <p:nvSpPr>
          <p:cNvPr id="56" name="Shape 54"/>
          <p:cNvSpPr/>
          <p:nvPr/>
        </p:nvSpPr>
        <p:spPr>
          <a:xfrm>
            <a:off x="4370832" y="2148840"/>
            <a:ext cx="3703320" cy="4389120"/>
          </a:xfrm>
          <a:prstGeom prst="roundRect">
            <a:avLst>
              <a:gd name="adj" fmla="val 2963"/>
            </a:avLst>
          </a:prstGeom>
          <a:solidFill>
            <a:srgbClr val="161D32"/>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7" name="Shape 55"/>
          <p:cNvSpPr/>
          <p:nvPr/>
        </p:nvSpPr>
        <p:spPr>
          <a:xfrm>
            <a:off x="4370832" y="2148840"/>
            <a:ext cx="3703320" cy="4389120"/>
          </a:xfrm>
          <a:prstGeom prst="roundRect">
            <a:avLst>
              <a:gd name="adj" fmla="val 2963"/>
            </a:avLst>
          </a:prstGeom>
          <a:solidFill>
            <a:srgbClr val="161D32"/>
          </a:solidFill>
          <a:ln w="19050">
            <a:solidFill>
              <a:srgbClr val="E8604F">
                <a:alpha val="65000"/>
              </a:srgbClr>
            </a:solidFill>
            <a:prstDash val="solid"/>
          </a:ln>
          <a:effectLst>
            <a:outerShdw sx="100000" sy="100000" kx="0" ky="0" algn="bl" rotWithShape="0" blurRad="101600" dist="38100" dir="2700000">
              <a:srgbClr val="000000">
                <a:alpha val="18000"/>
              </a:srgbClr>
            </a:outerShdw>
          </a:effectLst>
        </p:spPr>
      </p:sp>
      <p:sp>
        <p:nvSpPr>
          <p:cNvPr id="58" name="Text 56"/>
          <p:cNvSpPr/>
          <p:nvPr/>
        </p:nvSpPr>
        <p:spPr>
          <a:xfrm>
            <a:off x="4572000" y="2331720"/>
            <a:ext cx="3337560" cy="292608"/>
          </a:xfrm>
          <a:prstGeom prst="rect">
            <a:avLst/>
          </a:prstGeom>
          <a:noFill/>
          <a:ln/>
        </p:spPr>
        <p:txBody>
          <a:bodyPr wrap="square" rtlCol="0" anchor="ctr"/>
          <a:lstStyle/>
          <a:p>
            <a:pPr indent="0" marL="0">
              <a:buNone/>
            </a:pPr>
            <a:r>
              <a:rPr lang="en-US" sz="900" b="1" spc="200" kern="0" dirty="0">
                <a:solidFill>
                  <a:srgbClr val="E8604F"/>
                </a:solidFill>
                <a:latin typeface="Calibri" pitchFamily="34" charset="0"/>
                <a:ea typeface="Calibri" pitchFamily="34" charset="-122"/>
                <a:cs typeface="Calibri" pitchFamily="34" charset="-120"/>
              </a:rPr>
              <a:t>GROWTH  ★</a:t>
            </a:r>
            <a:endParaRPr lang="en-US" sz="900" dirty="0"/>
          </a:p>
        </p:txBody>
      </p:sp>
      <p:sp>
        <p:nvSpPr>
          <p:cNvPr id="59" name="Text 57"/>
          <p:cNvSpPr/>
          <p:nvPr/>
        </p:nvSpPr>
        <p:spPr>
          <a:xfrm>
            <a:off x="4572000" y="2651760"/>
            <a:ext cx="333756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Scale</a:t>
            </a:r>
            <a:endParaRPr lang="en-US" sz="2200" dirty="0"/>
          </a:p>
        </p:txBody>
      </p:sp>
      <p:sp>
        <p:nvSpPr>
          <p:cNvPr id="60" name="Text 58"/>
          <p:cNvSpPr/>
          <p:nvPr/>
        </p:nvSpPr>
        <p:spPr>
          <a:xfrm>
            <a:off x="4572000" y="3218688"/>
            <a:ext cx="3273552" cy="914400"/>
          </a:xfrm>
          <a:prstGeom prst="rect">
            <a:avLst/>
          </a:prstGeom>
          <a:noFill/>
          <a:ln/>
        </p:spPr>
        <p:txBody>
          <a:bodyPr wrap="square" rtlCol="0" anchor="ctr"/>
          <a:lstStyle/>
          <a:p>
            <a:pPr indent="0" marL="0">
              <a:lnSpc>
                <a:spcPct val="140000"/>
              </a:lnSpc>
              <a:buNone/>
            </a:pPr>
            <a:r>
              <a:rPr lang="en-US" sz="1150" dirty="0">
                <a:solidFill>
                  <a:srgbClr val="FFFFFF"/>
                </a:solidFill>
                <a:latin typeface="Calibri" pitchFamily="34" charset="0"/>
                <a:ea typeface="Calibri" pitchFamily="34" charset="-122"/>
                <a:cs typeface="Calibri" pitchFamily="34" charset="-120"/>
              </a:rPr>
              <a:t>Scale your presence with ongoing marketing, automation, and patient engagement.</a:t>
            </a:r>
            <a:endParaRPr lang="en-US" sz="1150" dirty="0"/>
          </a:p>
        </p:txBody>
      </p:sp>
      <p:sp>
        <p:nvSpPr>
          <p:cNvPr id="61" name="Shape 59"/>
          <p:cNvSpPr/>
          <p:nvPr/>
        </p:nvSpPr>
        <p:spPr>
          <a:xfrm>
            <a:off x="4572000" y="4279392"/>
            <a:ext cx="128016" cy="128016"/>
          </a:xfrm>
          <a:prstGeom prst="ellipse">
            <a:avLst/>
          </a:prstGeom>
          <a:solidFill>
            <a:srgbClr val="1D9E75"/>
          </a:solidFill>
          <a:ln w="12700">
            <a:solidFill>
              <a:srgbClr val="1D9E75"/>
            </a:solidFill>
            <a:prstDash val="solid"/>
          </a:ln>
        </p:spPr>
      </p:sp>
      <p:sp>
        <p:nvSpPr>
          <p:cNvPr id="62" name="Text 60"/>
          <p:cNvSpPr/>
          <p:nvPr/>
        </p:nvSpPr>
        <p:spPr>
          <a:xfrm>
            <a:off x="4773168" y="4224528"/>
            <a:ext cx="297180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Everything in Essentials</a:t>
            </a:r>
            <a:endParaRPr lang="en-US" sz="1100" dirty="0"/>
          </a:p>
        </p:txBody>
      </p:sp>
      <p:sp>
        <p:nvSpPr>
          <p:cNvPr id="63" name="Shape 61"/>
          <p:cNvSpPr/>
          <p:nvPr/>
        </p:nvSpPr>
        <p:spPr>
          <a:xfrm>
            <a:off x="4572000" y="4718304"/>
            <a:ext cx="128016" cy="128016"/>
          </a:xfrm>
          <a:prstGeom prst="ellipse">
            <a:avLst/>
          </a:prstGeom>
          <a:solidFill>
            <a:srgbClr val="1D9E75"/>
          </a:solidFill>
          <a:ln w="12700">
            <a:solidFill>
              <a:srgbClr val="1D9E75"/>
            </a:solidFill>
            <a:prstDash val="solid"/>
          </a:ln>
        </p:spPr>
      </p:sp>
      <p:sp>
        <p:nvSpPr>
          <p:cNvPr id="64" name="Text 62"/>
          <p:cNvSpPr/>
          <p:nvPr/>
        </p:nvSpPr>
        <p:spPr>
          <a:xfrm>
            <a:off x="4773168" y="4663440"/>
            <a:ext cx="297180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Performance marketing (PPC)</a:t>
            </a:r>
            <a:endParaRPr lang="en-US" sz="1100" dirty="0"/>
          </a:p>
        </p:txBody>
      </p:sp>
      <p:sp>
        <p:nvSpPr>
          <p:cNvPr id="65" name="Shape 63"/>
          <p:cNvSpPr/>
          <p:nvPr/>
        </p:nvSpPr>
        <p:spPr>
          <a:xfrm>
            <a:off x="4572000" y="5157216"/>
            <a:ext cx="128016" cy="128016"/>
          </a:xfrm>
          <a:prstGeom prst="ellipse">
            <a:avLst/>
          </a:prstGeom>
          <a:solidFill>
            <a:srgbClr val="1D9E75"/>
          </a:solidFill>
          <a:ln w="12700">
            <a:solidFill>
              <a:srgbClr val="1D9E75"/>
            </a:solidFill>
            <a:prstDash val="solid"/>
          </a:ln>
        </p:spPr>
      </p:sp>
      <p:sp>
        <p:nvSpPr>
          <p:cNvPr id="66" name="Text 64"/>
          <p:cNvSpPr/>
          <p:nvPr/>
        </p:nvSpPr>
        <p:spPr>
          <a:xfrm>
            <a:off x="4773168" y="5102352"/>
            <a:ext cx="297180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Reputation management</a:t>
            </a:r>
            <a:endParaRPr lang="en-US" sz="1100" dirty="0"/>
          </a:p>
        </p:txBody>
      </p:sp>
      <p:sp>
        <p:nvSpPr>
          <p:cNvPr id="67" name="Shape 65"/>
          <p:cNvSpPr/>
          <p:nvPr/>
        </p:nvSpPr>
        <p:spPr>
          <a:xfrm>
            <a:off x="4572000" y="5596128"/>
            <a:ext cx="128016" cy="128016"/>
          </a:xfrm>
          <a:prstGeom prst="ellipse">
            <a:avLst/>
          </a:prstGeom>
          <a:solidFill>
            <a:srgbClr val="1D9E75"/>
          </a:solidFill>
          <a:ln w="12700">
            <a:solidFill>
              <a:srgbClr val="1D9E75"/>
            </a:solidFill>
            <a:prstDash val="solid"/>
          </a:ln>
        </p:spPr>
      </p:sp>
      <p:sp>
        <p:nvSpPr>
          <p:cNvPr id="68" name="Text 66"/>
          <p:cNvSpPr/>
          <p:nvPr/>
        </p:nvSpPr>
        <p:spPr>
          <a:xfrm>
            <a:off x="4773168" y="5541264"/>
            <a:ext cx="297180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AI-powered automation</a:t>
            </a:r>
            <a:endParaRPr lang="en-US" sz="1100" dirty="0"/>
          </a:p>
        </p:txBody>
      </p:sp>
      <p:sp>
        <p:nvSpPr>
          <p:cNvPr id="69" name="Shape 67"/>
          <p:cNvSpPr/>
          <p:nvPr/>
        </p:nvSpPr>
        <p:spPr>
          <a:xfrm>
            <a:off x="8284464" y="2148840"/>
            <a:ext cx="3703320" cy="4389120"/>
          </a:xfrm>
          <a:prstGeom prst="roundRect">
            <a:avLst>
              <a:gd name="adj" fmla="val 2963"/>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70" name="Text 68"/>
          <p:cNvSpPr/>
          <p:nvPr/>
        </p:nvSpPr>
        <p:spPr>
          <a:xfrm>
            <a:off x="8485632" y="2331720"/>
            <a:ext cx="3337560" cy="292608"/>
          </a:xfrm>
          <a:prstGeom prst="rect">
            <a:avLst/>
          </a:prstGeom>
          <a:noFill/>
          <a:ln/>
        </p:spPr>
        <p:txBody>
          <a:bodyPr wrap="square" rtlCol="0" anchor="ctr"/>
          <a:lstStyle/>
          <a:p>
            <a:pPr indent="0" marL="0">
              <a:buNone/>
            </a:pPr>
            <a:r>
              <a:rPr lang="en-US" sz="900" b="1" spc="200" kern="0" dirty="0">
                <a:solidFill>
                  <a:srgbClr val="666E8A"/>
                </a:solidFill>
                <a:latin typeface="Calibri" pitchFamily="34" charset="0"/>
                <a:ea typeface="Calibri" pitchFamily="34" charset="-122"/>
                <a:cs typeface="Calibri" pitchFamily="34" charset="-120"/>
              </a:rPr>
              <a:t>DOMINANCE</a:t>
            </a:r>
            <a:endParaRPr lang="en-US" sz="900" dirty="0"/>
          </a:p>
        </p:txBody>
      </p:sp>
      <p:sp>
        <p:nvSpPr>
          <p:cNvPr id="71" name="Text 69"/>
          <p:cNvSpPr/>
          <p:nvPr/>
        </p:nvSpPr>
        <p:spPr>
          <a:xfrm>
            <a:off x="8485632" y="2651760"/>
            <a:ext cx="333756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Lead</a:t>
            </a:r>
            <a:endParaRPr lang="en-US" sz="2200" dirty="0"/>
          </a:p>
        </p:txBody>
      </p:sp>
      <p:sp>
        <p:nvSpPr>
          <p:cNvPr id="72" name="Text 70"/>
          <p:cNvSpPr/>
          <p:nvPr/>
        </p:nvSpPr>
        <p:spPr>
          <a:xfrm>
            <a:off x="8485632" y="3218688"/>
            <a:ext cx="3273552" cy="914400"/>
          </a:xfrm>
          <a:prstGeom prst="rect">
            <a:avLst/>
          </a:prstGeom>
          <a:noFill/>
          <a:ln/>
        </p:spPr>
        <p:txBody>
          <a:bodyPr wrap="square" rtlCol="0" anchor="ctr"/>
          <a:lstStyle/>
          <a:p>
            <a:pPr indent="0" marL="0">
              <a:lnSpc>
                <a:spcPct val="140000"/>
              </a:lnSpc>
              <a:buNone/>
            </a:pPr>
            <a:r>
              <a:rPr lang="en-US" sz="1150" dirty="0">
                <a:solidFill>
                  <a:srgbClr val="B3B8CC"/>
                </a:solidFill>
                <a:latin typeface="Calibri" pitchFamily="34" charset="0"/>
                <a:ea typeface="Calibri" pitchFamily="34" charset="-122"/>
                <a:cs typeface="Calibri" pitchFamily="34" charset="-120"/>
              </a:rPr>
              <a:t>Lead your market with advanced AI, full-stack digital operations, and custom development.</a:t>
            </a:r>
            <a:endParaRPr lang="en-US" sz="1150" dirty="0"/>
          </a:p>
        </p:txBody>
      </p:sp>
      <p:sp>
        <p:nvSpPr>
          <p:cNvPr id="73" name="Shape 71"/>
          <p:cNvSpPr/>
          <p:nvPr/>
        </p:nvSpPr>
        <p:spPr>
          <a:xfrm>
            <a:off x="8485632" y="4279392"/>
            <a:ext cx="128016" cy="128016"/>
          </a:xfrm>
          <a:prstGeom prst="ellipse">
            <a:avLst/>
          </a:prstGeom>
          <a:solidFill>
            <a:srgbClr val="1D9E75"/>
          </a:solidFill>
          <a:ln w="12700">
            <a:solidFill>
              <a:srgbClr val="1D9E75"/>
            </a:solidFill>
            <a:prstDash val="solid"/>
          </a:ln>
        </p:spPr>
      </p:sp>
      <p:sp>
        <p:nvSpPr>
          <p:cNvPr id="74" name="Text 72"/>
          <p:cNvSpPr/>
          <p:nvPr/>
        </p:nvSpPr>
        <p:spPr>
          <a:xfrm>
            <a:off x="8686800" y="4224528"/>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Everything in Growth</a:t>
            </a:r>
            <a:endParaRPr lang="en-US" sz="1100" dirty="0"/>
          </a:p>
        </p:txBody>
      </p:sp>
      <p:sp>
        <p:nvSpPr>
          <p:cNvPr id="75" name="Shape 73"/>
          <p:cNvSpPr/>
          <p:nvPr/>
        </p:nvSpPr>
        <p:spPr>
          <a:xfrm>
            <a:off x="8485632" y="4718304"/>
            <a:ext cx="128016" cy="128016"/>
          </a:xfrm>
          <a:prstGeom prst="ellipse">
            <a:avLst/>
          </a:prstGeom>
          <a:solidFill>
            <a:srgbClr val="1D9E75"/>
          </a:solidFill>
          <a:ln w="12700">
            <a:solidFill>
              <a:srgbClr val="1D9E75"/>
            </a:solidFill>
            <a:prstDash val="solid"/>
          </a:ln>
        </p:spPr>
      </p:sp>
      <p:sp>
        <p:nvSpPr>
          <p:cNvPr id="76" name="Text 74"/>
          <p:cNvSpPr/>
          <p:nvPr/>
        </p:nvSpPr>
        <p:spPr>
          <a:xfrm>
            <a:off x="8686800" y="4663440"/>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Custom CRM and portals</a:t>
            </a:r>
            <a:endParaRPr lang="en-US" sz="1100" dirty="0"/>
          </a:p>
        </p:txBody>
      </p:sp>
      <p:sp>
        <p:nvSpPr>
          <p:cNvPr id="77" name="Shape 75"/>
          <p:cNvSpPr/>
          <p:nvPr/>
        </p:nvSpPr>
        <p:spPr>
          <a:xfrm>
            <a:off x="8485632" y="5157216"/>
            <a:ext cx="128016" cy="128016"/>
          </a:xfrm>
          <a:prstGeom prst="ellipse">
            <a:avLst/>
          </a:prstGeom>
          <a:solidFill>
            <a:srgbClr val="1D9E75"/>
          </a:solidFill>
          <a:ln w="12700">
            <a:solidFill>
              <a:srgbClr val="1D9E75"/>
            </a:solidFill>
            <a:prstDash val="solid"/>
          </a:ln>
        </p:spPr>
      </p:sp>
      <p:sp>
        <p:nvSpPr>
          <p:cNvPr id="78" name="Text 76"/>
          <p:cNvSpPr/>
          <p:nvPr/>
        </p:nvSpPr>
        <p:spPr>
          <a:xfrm>
            <a:off x="8686800" y="5102352"/>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AI and clinical software</a:t>
            </a:r>
            <a:endParaRPr lang="en-US" sz="1100" dirty="0"/>
          </a:p>
        </p:txBody>
      </p:sp>
      <p:sp>
        <p:nvSpPr>
          <p:cNvPr id="79" name="Shape 77"/>
          <p:cNvSpPr/>
          <p:nvPr/>
        </p:nvSpPr>
        <p:spPr>
          <a:xfrm>
            <a:off x="8485632" y="5596128"/>
            <a:ext cx="128016" cy="128016"/>
          </a:xfrm>
          <a:prstGeom prst="ellipse">
            <a:avLst/>
          </a:prstGeom>
          <a:solidFill>
            <a:srgbClr val="1D9E75"/>
          </a:solidFill>
          <a:ln w="12700">
            <a:solidFill>
              <a:srgbClr val="1D9E75"/>
            </a:solidFill>
            <a:prstDash val="solid"/>
          </a:ln>
        </p:spPr>
      </p:sp>
      <p:sp>
        <p:nvSpPr>
          <p:cNvPr id="80" name="Text 78"/>
          <p:cNvSpPr/>
          <p:nvPr/>
        </p:nvSpPr>
        <p:spPr>
          <a:xfrm>
            <a:off x="8686800" y="5541264"/>
            <a:ext cx="2971800" cy="347472"/>
          </a:xfrm>
          <a:prstGeom prst="rect">
            <a:avLst/>
          </a:prstGeom>
          <a:noFill/>
          <a:ln/>
        </p:spPr>
        <p:txBody>
          <a:bodyPr wrap="square" rtlCol="0" anchor="ctr"/>
          <a:lstStyle/>
          <a:p>
            <a:pPr indent="0" marL="0">
              <a:buNone/>
            </a:pPr>
            <a:r>
              <a:rPr lang="en-US" sz="1100" dirty="0">
                <a:solidFill>
                  <a:srgbClr val="B3B8CC"/>
                </a:solidFill>
                <a:latin typeface="Calibri" pitchFamily="34" charset="0"/>
                <a:ea typeface="Calibri" pitchFamily="34" charset="-122"/>
                <a:cs typeface="Calibri" pitchFamily="34" charset="-120"/>
              </a:rPr>
              <a:t>Dedicated team access</a:t>
            </a:r>
            <a:endParaRPr lang="en-US" sz="1100" dirty="0"/>
          </a:p>
        </p:txBody>
      </p:sp>
      <p:sp>
        <p:nvSpPr>
          <p:cNvPr id="81" name="Text 79"/>
          <p:cNvSpPr/>
          <p:nvPr/>
        </p:nvSpPr>
        <p:spPr>
          <a:xfrm>
            <a:off x="457200" y="6492240"/>
            <a:ext cx="11247120" cy="292608"/>
          </a:xfrm>
          <a:prstGeom prst="rect">
            <a:avLst/>
          </a:prstGeom>
          <a:noFill/>
          <a:ln/>
        </p:spPr>
        <p:txBody>
          <a:bodyPr wrap="square" rtlCol="0" anchor="ctr"/>
          <a:lstStyle/>
          <a:p>
            <a:pPr algn="ctr" indent="0" marL="0">
              <a:buNone/>
            </a:pPr>
            <a:r>
              <a:rPr lang="en-US" sz="1300" b="1" i="1" dirty="0">
                <a:solidFill>
                  <a:srgbClr val="E8604F"/>
                </a:solidFill>
                <a:latin typeface="Cambria" pitchFamily="34" charset="0"/>
                <a:ea typeface="Cambria" pitchFamily="34" charset="-122"/>
                <a:cs typeface="Cambria" pitchFamily="34" charset="-120"/>
              </a:rPr>
              <a:t>"Five verticals. One partner. Zero gaps."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731520" y="457200"/>
            <a:ext cx="36576" cy="36576"/>
          </a:xfrm>
          <a:prstGeom prst="ellipse">
            <a:avLst/>
          </a:prstGeom>
          <a:solidFill>
            <a:srgbClr val="FFFFFF">
              <a:alpha val="12000"/>
            </a:srgbClr>
          </a:solidFill>
          <a:ln w="12700">
            <a:solidFill>
              <a:srgbClr val="FFFFFF">
                <a:alpha val="0"/>
              </a:srgbClr>
            </a:solidFill>
            <a:prstDash val="solid"/>
          </a:ln>
        </p:spPr>
      </p:sp>
      <p:sp>
        <p:nvSpPr>
          <p:cNvPr id="3" name="Shape 1"/>
          <p:cNvSpPr/>
          <p:nvPr/>
        </p:nvSpPr>
        <p:spPr>
          <a:xfrm>
            <a:off x="731520" y="1737360"/>
            <a:ext cx="36576" cy="36576"/>
          </a:xfrm>
          <a:prstGeom prst="ellipse">
            <a:avLst/>
          </a:prstGeom>
          <a:solidFill>
            <a:srgbClr val="FFFFFF">
              <a:alpha val="12000"/>
            </a:srgbClr>
          </a:solidFill>
          <a:ln w="12700">
            <a:solidFill>
              <a:srgbClr val="FFFFFF">
                <a:alpha val="0"/>
              </a:srgbClr>
            </a:solidFill>
            <a:prstDash val="solid"/>
          </a:ln>
        </p:spPr>
      </p:sp>
      <p:sp>
        <p:nvSpPr>
          <p:cNvPr id="4" name="Shape 2"/>
          <p:cNvSpPr/>
          <p:nvPr/>
        </p:nvSpPr>
        <p:spPr>
          <a:xfrm>
            <a:off x="731520" y="3017520"/>
            <a:ext cx="36576" cy="36576"/>
          </a:xfrm>
          <a:prstGeom prst="ellipse">
            <a:avLst/>
          </a:prstGeom>
          <a:solidFill>
            <a:srgbClr val="FFFFFF">
              <a:alpha val="12000"/>
            </a:srgbClr>
          </a:solidFill>
          <a:ln w="12700">
            <a:solidFill>
              <a:srgbClr val="FFFFFF">
                <a:alpha val="0"/>
              </a:srgbClr>
            </a:solidFill>
            <a:prstDash val="solid"/>
          </a:ln>
        </p:spPr>
      </p:sp>
      <p:sp>
        <p:nvSpPr>
          <p:cNvPr id="5" name="Shape 3"/>
          <p:cNvSpPr/>
          <p:nvPr/>
        </p:nvSpPr>
        <p:spPr>
          <a:xfrm>
            <a:off x="731520" y="4297680"/>
            <a:ext cx="36576" cy="36576"/>
          </a:xfrm>
          <a:prstGeom prst="ellipse">
            <a:avLst/>
          </a:prstGeom>
          <a:solidFill>
            <a:srgbClr val="FFFFFF">
              <a:alpha val="12000"/>
            </a:srgbClr>
          </a:solidFill>
          <a:ln w="12700">
            <a:solidFill>
              <a:srgbClr val="FFFFFF">
                <a:alpha val="0"/>
              </a:srgbClr>
            </a:solidFill>
            <a:prstDash val="solid"/>
          </a:ln>
        </p:spPr>
      </p:sp>
      <p:sp>
        <p:nvSpPr>
          <p:cNvPr id="6" name="Shape 4"/>
          <p:cNvSpPr/>
          <p:nvPr/>
        </p:nvSpPr>
        <p:spPr>
          <a:xfrm>
            <a:off x="731520" y="5577840"/>
            <a:ext cx="36576" cy="36576"/>
          </a:xfrm>
          <a:prstGeom prst="ellipse">
            <a:avLst/>
          </a:prstGeom>
          <a:solidFill>
            <a:srgbClr val="FFFFFF">
              <a:alpha val="12000"/>
            </a:srgbClr>
          </a:solidFill>
          <a:ln w="12700">
            <a:solidFill>
              <a:srgbClr val="FFFFFF">
                <a:alpha val="0"/>
              </a:srgbClr>
            </a:solidFill>
            <a:prstDash val="solid"/>
          </a:ln>
        </p:spPr>
      </p:sp>
      <p:sp>
        <p:nvSpPr>
          <p:cNvPr id="7" name="Shape 5"/>
          <p:cNvSpPr/>
          <p:nvPr/>
        </p:nvSpPr>
        <p:spPr>
          <a:xfrm>
            <a:off x="2148840" y="457200"/>
            <a:ext cx="36576" cy="36576"/>
          </a:xfrm>
          <a:prstGeom prst="ellipse">
            <a:avLst/>
          </a:prstGeom>
          <a:solidFill>
            <a:srgbClr val="FFFFFF">
              <a:alpha val="12000"/>
            </a:srgbClr>
          </a:solidFill>
          <a:ln w="12700">
            <a:solidFill>
              <a:srgbClr val="FFFFFF">
                <a:alpha val="0"/>
              </a:srgbClr>
            </a:solidFill>
            <a:prstDash val="solid"/>
          </a:ln>
        </p:spPr>
      </p:sp>
      <p:sp>
        <p:nvSpPr>
          <p:cNvPr id="8" name="Shape 6"/>
          <p:cNvSpPr/>
          <p:nvPr/>
        </p:nvSpPr>
        <p:spPr>
          <a:xfrm>
            <a:off x="2148840" y="1737360"/>
            <a:ext cx="36576" cy="36576"/>
          </a:xfrm>
          <a:prstGeom prst="ellipse">
            <a:avLst/>
          </a:prstGeom>
          <a:solidFill>
            <a:srgbClr val="FFFFFF">
              <a:alpha val="12000"/>
            </a:srgbClr>
          </a:solidFill>
          <a:ln w="12700">
            <a:solidFill>
              <a:srgbClr val="FFFFFF">
                <a:alpha val="0"/>
              </a:srgbClr>
            </a:solidFill>
            <a:prstDash val="solid"/>
          </a:ln>
        </p:spPr>
      </p:sp>
      <p:sp>
        <p:nvSpPr>
          <p:cNvPr id="9" name="Shape 7"/>
          <p:cNvSpPr/>
          <p:nvPr/>
        </p:nvSpPr>
        <p:spPr>
          <a:xfrm>
            <a:off x="2148840" y="3017520"/>
            <a:ext cx="36576" cy="36576"/>
          </a:xfrm>
          <a:prstGeom prst="ellipse">
            <a:avLst/>
          </a:prstGeom>
          <a:solidFill>
            <a:srgbClr val="FFFFFF">
              <a:alpha val="12000"/>
            </a:srgbClr>
          </a:solidFill>
          <a:ln w="12700">
            <a:solidFill>
              <a:srgbClr val="FFFFFF">
                <a:alpha val="0"/>
              </a:srgbClr>
            </a:solidFill>
            <a:prstDash val="solid"/>
          </a:ln>
        </p:spPr>
      </p:sp>
      <p:sp>
        <p:nvSpPr>
          <p:cNvPr id="10" name="Shape 8"/>
          <p:cNvSpPr/>
          <p:nvPr/>
        </p:nvSpPr>
        <p:spPr>
          <a:xfrm>
            <a:off x="2148840" y="4297680"/>
            <a:ext cx="36576" cy="36576"/>
          </a:xfrm>
          <a:prstGeom prst="ellipse">
            <a:avLst/>
          </a:prstGeom>
          <a:solidFill>
            <a:srgbClr val="FFFFFF">
              <a:alpha val="12000"/>
            </a:srgbClr>
          </a:solidFill>
          <a:ln w="12700">
            <a:solidFill>
              <a:srgbClr val="FFFFFF">
                <a:alpha val="0"/>
              </a:srgbClr>
            </a:solidFill>
            <a:prstDash val="solid"/>
          </a:ln>
        </p:spPr>
      </p:sp>
      <p:sp>
        <p:nvSpPr>
          <p:cNvPr id="11" name="Shape 9"/>
          <p:cNvSpPr/>
          <p:nvPr/>
        </p:nvSpPr>
        <p:spPr>
          <a:xfrm>
            <a:off x="2148840" y="5577840"/>
            <a:ext cx="36576" cy="36576"/>
          </a:xfrm>
          <a:prstGeom prst="ellipse">
            <a:avLst/>
          </a:prstGeom>
          <a:solidFill>
            <a:srgbClr val="FFFFFF">
              <a:alpha val="12000"/>
            </a:srgbClr>
          </a:solidFill>
          <a:ln w="12700">
            <a:solidFill>
              <a:srgbClr val="FFFFFF">
                <a:alpha val="0"/>
              </a:srgbClr>
            </a:solidFill>
            <a:prstDash val="solid"/>
          </a:ln>
        </p:spPr>
      </p:sp>
      <p:sp>
        <p:nvSpPr>
          <p:cNvPr id="12" name="Shape 10"/>
          <p:cNvSpPr/>
          <p:nvPr/>
        </p:nvSpPr>
        <p:spPr>
          <a:xfrm>
            <a:off x="3566160" y="457200"/>
            <a:ext cx="36576" cy="36576"/>
          </a:xfrm>
          <a:prstGeom prst="ellipse">
            <a:avLst/>
          </a:prstGeom>
          <a:solidFill>
            <a:srgbClr val="FFFFFF">
              <a:alpha val="12000"/>
            </a:srgbClr>
          </a:solidFill>
          <a:ln w="12700">
            <a:solidFill>
              <a:srgbClr val="FFFFFF">
                <a:alpha val="0"/>
              </a:srgbClr>
            </a:solidFill>
            <a:prstDash val="solid"/>
          </a:ln>
        </p:spPr>
      </p:sp>
      <p:sp>
        <p:nvSpPr>
          <p:cNvPr id="13" name="Shape 11"/>
          <p:cNvSpPr/>
          <p:nvPr/>
        </p:nvSpPr>
        <p:spPr>
          <a:xfrm>
            <a:off x="3566160" y="1737360"/>
            <a:ext cx="36576" cy="36576"/>
          </a:xfrm>
          <a:prstGeom prst="ellipse">
            <a:avLst/>
          </a:prstGeom>
          <a:solidFill>
            <a:srgbClr val="FFFFFF">
              <a:alpha val="12000"/>
            </a:srgbClr>
          </a:solidFill>
          <a:ln w="12700">
            <a:solidFill>
              <a:srgbClr val="FFFFFF">
                <a:alpha val="0"/>
              </a:srgbClr>
            </a:solidFill>
            <a:prstDash val="solid"/>
          </a:ln>
        </p:spPr>
      </p:sp>
      <p:sp>
        <p:nvSpPr>
          <p:cNvPr id="14" name="Shape 12"/>
          <p:cNvSpPr/>
          <p:nvPr/>
        </p:nvSpPr>
        <p:spPr>
          <a:xfrm>
            <a:off x="3566160" y="3017520"/>
            <a:ext cx="36576" cy="36576"/>
          </a:xfrm>
          <a:prstGeom prst="ellipse">
            <a:avLst/>
          </a:prstGeom>
          <a:solidFill>
            <a:srgbClr val="FFFFFF">
              <a:alpha val="12000"/>
            </a:srgbClr>
          </a:solidFill>
          <a:ln w="12700">
            <a:solidFill>
              <a:srgbClr val="FFFFFF">
                <a:alpha val="0"/>
              </a:srgbClr>
            </a:solidFill>
            <a:prstDash val="solid"/>
          </a:ln>
        </p:spPr>
      </p:sp>
      <p:sp>
        <p:nvSpPr>
          <p:cNvPr id="15" name="Shape 13"/>
          <p:cNvSpPr/>
          <p:nvPr/>
        </p:nvSpPr>
        <p:spPr>
          <a:xfrm>
            <a:off x="3566160" y="4297680"/>
            <a:ext cx="36576" cy="36576"/>
          </a:xfrm>
          <a:prstGeom prst="ellipse">
            <a:avLst/>
          </a:prstGeom>
          <a:solidFill>
            <a:srgbClr val="FFFFFF">
              <a:alpha val="12000"/>
            </a:srgbClr>
          </a:solidFill>
          <a:ln w="12700">
            <a:solidFill>
              <a:srgbClr val="FFFFFF">
                <a:alpha val="0"/>
              </a:srgbClr>
            </a:solidFill>
            <a:prstDash val="solid"/>
          </a:ln>
        </p:spPr>
      </p:sp>
      <p:sp>
        <p:nvSpPr>
          <p:cNvPr id="16" name="Shape 14"/>
          <p:cNvSpPr/>
          <p:nvPr/>
        </p:nvSpPr>
        <p:spPr>
          <a:xfrm>
            <a:off x="3566160" y="5577840"/>
            <a:ext cx="36576" cy="36576"/>
          </a:xfrm>
          <a:prstGeom prst="ellipse">
            <a:avLst/>
          </a:prstGeom>
          <a:solidFill>
            <a:srgbClr val="FFFFFF">
              <a:alpha val="12000"/>
            </a:srgbClr>
          </a:solidFill>
          <a:ln w="12700">
            <a:solidFill>
              <a:srgbClr val="FFFFFF">
                <a:alpha val="0"/>
              </a:srgbClr>
            </a:solidFill>
            <a:prstDash val="solid"/>
          </a:ln>
        </p:spPr>
      </p:sp>
      <p:sp>
        <p:nvSpPr>
          <p:cNvPr id="17" name="Shape 15"/>
          <p:cNvSpPr/>
          <p:nvPr/>
        </p:nvSpPr>
        <p:spPr>
          <a:xfrm>
            <a:off x="4983480" y="457200"/>
            <a:ext cx="36576" cy="36576"/>
          </a:xfrm>
          <a:prstGeom prst="ellipse">
            <a:avLst/>
          </a:prstGeom>
          <a:solidFill>
            <a:srgbClr val="FFFFFF">
              <a:alpha val="12000"/>
            </a:srgbClr>
          </a:solidFill>
          <a:ln w="12700">
            <a:solidFill>
              <a:srgbClr val="FFFFFF">
                <a:alpha val="0"/>
              </a:srgbClr>
            </a:solidFill>
            <a:prstDash val="solid"/>
          </a:ln>
        </p:spPr>
      </p:sp>
      <p:sp>
        <p:nvSpPr>
          <p:cNvPr id="18" name="Shape 16"/>
          <p:cNvSpPr/>
          <p:nvPr/>
        </p:nvSpPr>
        <p:spPr>
          <a:xfrm>
            <a:off x="4983480" y="1737360"/>
            <a:ext cx="36576" cy="36576"/>
          </a:xfrm>
          <a:prstGeom prst="ellipse">
            <a:avLst/>
          </a:prstGeom>
          <a:solidFill>
            <a:srgbClr val="FFFFFF">
              <a:alpha val="12000"/>
            </a:srgbClr>
          </a:solidFill>
          <a:ln w="12700">
            <a:solidFill>
              <a:srgbClr val="FFFFFF">
                <a:alpha val="0"/>
              </a:srgbClr>
            </a:solidFill>
            <a:prstDash val="solid"/>
          </a:ln>
        </p:spPr>
      </p:sp>
      <p:sp>
        <p:nvSpPr>
          <p:cNvPr id="19" name="Shape 17"/>
          <p:cNvSpPr/>
          <p:nvPr/>
        </p:nvSpPr>
        <p:spPr>
          <a:xfrm>
            <a:off x="4983480" y="3017520"/>
            <a:ext cx="36576" cy="36576"/>
          </a:xfrm>
          <a:prstGeom prst="ellipse">
            <a:avLst/>
          </a:prstGeom>
          <a:solidFill>
            <a:srgbClr val="FFFFFF">
              <a:alpha val="12000"/>
            </a:srgbClr>
          </a:solidFill>
          <a:ln w="12700">
            <a:solidFill>
              <a:srgbClr val="FFFFFF">
                <a:alpha val="0"/>
              </a:srgbClr>
            </a:solidFill>
            <a:prstDash val="solid"/>
          </a:ln>
        </p:spPr>
      </p:sp>
      <p:sp>
        <p:nvSpPr>
          <p:cNvPr id="20" name="Shape 18"/>
          <p:cNvSpPr/>
          <p:nvPr/>
        </p:nvSpPr>
        <p:spPr>
          <a:xfrm>
            <a:off x="4983480" y="4297680"/>
            <a:ext cx="36576" cy="36576"/>
          </a:xfrm>
          <a:prstGeom prst="ellipse">
            <a:avLst/>
          </a:prstGeom>
          <a:solidFill>
            <a:srgbClr val="FFFFFF">
              <a:alpha val="12000"/>
            </a:srgbClr>
          </a:solidFill>
          <a:ln w="12700">
            <a:solidFill>
              <a:srgbClr val="FFFFFF">
                <a:alpha val="0"/>
              </a:srgbClr>
            </a:solidFill>
            <a:prstDash val="solid"/>
          </a:ln>
        </p:spPr>
      </p:sp>
      <p:sp>
        <p:nvSpPr>
          <p:cNvPr id="21" name="Shape 19"/>
          <p:cNvSpPr/>
          <p:nvPr/>
        </p:nvSpPr>
        <p:spPr>
          <a:xfrm>
            <a:off x="4983480" y="5577840"/>
            <a:ext cx="36576" cy="36576"/>
          </a:xfrm>
          <a:prstGeom prst="ellipse">
            <a:avLst/>
          </a:prstGeom>
          <a:solidFill>
            <a:srgbClr val="FFFFFF">
              <a:alpha val="12000"/>
            </a:srgbClr>
          </a:solidFill>
          <a:ln w="12700">
            <a:solidFill>
              <a:srgbClr val="FFFFFF">
                <a:alpha val="0"/>
              </a:srgbClr>
            </a:solidFill>
            <a:prstDash val="solid"/>
          </a:ln>
        </p:spPr>
      </p:sp>
      <p:sp>
        <p:nvSpPr>
          <p:cNvPr id="22" name="Shape 20"/>
          <p:cNvSpPr/>
          <p:nvPr/>
        </p:nvSpPr>
        <p:spPr>
          <a:xfrm>
            <a:off x="6400800" y="457200"/>
            <a:ext cx="36576" cy="36576"/>
          </a:xfrm>
          <a:prstGeom prst="ellipse">
            <a:avLst/>
          </a:prstGeom>
          <a:solidFill>
            <a:srgbClr val="FFFFFF">
              <a:alpha val="12000"/>
            </a:srgbClr>
          </a:solidFill>
          <a:ln w="12700">
            <a:solidFill>
              <a:srgbClr val="FFFFFF">
                <a:alpha val="0"/>
              </a:srgbClr>
            </a:solidFill>
            <a:prstDash val="solid"/>
          </a:ln>
        </p:spPr>
      </p:sp>
      <p:sp>
        <p:nvSpPr>
          <p:cNvPr id="23" name="Shape 21"/>
          <p:cNvSpPr/>
          <p:nvPr/>
        </p:nvSpPr>
        <p:spPr>
          <a:xfrm>
            <a:off x="6400800" y="1737360"/>
            <a:ext cx="36576" cy="36576"/>
          </a:xfrm>
          <a:prstGeom prst="ellipse">
            <a:avLst/>
          </a:prstGeom>
          <a:solidFill>
            <a:srgbClr val="FFFFFF">
              <a:alpha val="12000"/>
            </a:srgbClr>
          </a:solidFill>
          <a:ln w="12700">
            <a:solidFill>
              <a:srgbClr val="FFFFFF">
                <a:alpha val="0"/>
              </a:srgbClr>
            </a:solidFill>
            <a:prstDash val="solid"/>
          </a:ln>
        </p:spPr>
      </p:sp>
      <p:sp>
        <p:nvSpPr>
          <p:cNvPr id="24" name="Shape 22"/>
          <p:cNvSpPr/>
          <p:nvPr/>
        </p:nvSpPr>
        <p:spPr>
          <a:xfrm>
            <a:off x="6400800" y="3017520"/>
            <a:ext cx="36576" cy="36576"/>
          </a:xfrm>
          <a:prstGeom prst="ellipse">
            <a:avLst/>
          </a:prstGeom>
          <a:solidFill>
            <a:srgbClr val="FFFFFF">
              <a:alpha val="12000"/>
            </a:srgbClr>
          </a:solidFill>
          <a:ln w="12700">
            <a:solidFill>
              <a:srgbClr val="FFFFFF">
                <a:alpha val="0"/>
              </a:srgbClr>
            </a:solidFill>
            <a:prstDash val="solid"/>
          </a:ln>
        </p:spPr>
      </p:sp>
      <p:sp>
        <p:nvSpPr>
          <p:cNvPr id="25" name="Shape 23"/>
          <p:cNvSpPr/>
          <p:nvPr/>
        </p:nvSpPr>
        <p:spPr>
          <a:xfrm>
            <a:off x="6400800" y="4297680"/>
            <a:ext cx="36576" cy="36576"/>
          </a:xfrm>
          <a:prstGeom prst="ellipse">
            <a:avLst/>
          </a:prstGeom>
          <a:solidFill>
            <a:srgbClr val="FFFFFF">
              <a:alpha val="12000"/>
            </a:srgbClr>
          </a:solidFill>
          <a:ln w="12700">
            <a:solidFill>
              <a:srgbClr val="FFFFFF">
                <a:alpha val="0"/>
              </a:srgbClr>
            </a:solidFill>
            <a:prstDash val="solid"/>
          </a:ln>
        </p:spPr>
      </p:sp>
      <p:sp>
        <p:nvSpPr>
          <p:cNvPr id="26" name="Shape 24"/>
          <p:cNvSpPr/>
          <p:nvPr/>
        </p:nvSpPr>
        <p:spPr>
          <a:xfrm>
            <a:off x="6400800" y="5577840"/>
            <a:ext cx="36576" cy="36576"/>
          </a:xfrm>
          <a:prstGeom prst="ellipse">
            <a:avLst/>
          </a:prstGeom>
          <a:solidFill>
            <a:srgbClr val="FFFFFF">
              <a:alpha val="12000"/>
            </a:srgbClr>
          </a:solidFill>
          <a:ln w="12700">
            <a:solidFill>
              <a:srgbClr val="FFFFFF">
                <a:alpha val="0"/>
              </a:srgbClr>
            </a:solidFill>
            <a:prstDash val="solid"/>
          </a:ln>
        </p:spPr>
      </p:sp>
      <p:sp>
        <p:nvSpPr>
          <p:cNvPr id="27" name="Shape 25"/>
          <p:cNvSpPr/>
          <p:nvPr/>
        </p:nvSpPr>
        <p:spPr>
          <a:xfrm>
            <a:off x="7818120" y="457200"/>
            <a:ext cx="36576" cy="36576"/>
          </a:xfrm>
          <a:prstGeom prst="ellipse">
            <a:avLst/>
          </a:prstGeom>
          <a:solidFill>
            <a:srgbClr val="FFFFFF">
              <a:alpha val="12000"/>
            </a:srgbClr>
          </a:solidFill>
          <a:ln w="12700">
            <a:solidFill>
              <a:srgbClr val="FFFFFF">
                <a:alpha val="0"/>
              </a:srgbClr>
            </a:solidFill>
            <a:prstDash val="solid"/>
          </a:ln>
        </p:spPr>
      </p:sp>
      <p:sp>
        <p:nvSpPr>
          <p:cNvPr id="28" name="Shape 26"/>
          <p:cNvSpPr/>
          <p:nvPr/>
        </p:nvSpPr>
        <p:spPr>
          <a:xfrm>
            <a:off x="7818120" y="1737360"/>
            <a:ext cx="36576" cy="36576"/>
          </a:xfrm>
          <a:prstGeom prst="ellipse">
            <a:avLst/>
          </a:prstGeom>
          <a:solidFill>
            <a:srgbClr val="FFFFFF">
              <a:alpha val="12000"/>
            </a:srgbClr>
          </a:solidFill>
          <a:ln w="12700">
            <a:solidFill>
              <a:srgbClr val="FFFFFF">
                <a:alpha val="0"/>
              </a:srgbClr>
            </a:solidFill>
            <a:prstDash val="solid"/>
          </a:ln>
        </p:spPr>
      </p:sp>
      <p:sp>
        <p:nvSpPr>
          <p:cNvPr id="29" name="Shape 27"/>
          <p:cNvSpPr/>
          <p:nvPr/>
        </p:nvSpPr>
        <p:spPr>
          <a:xfrm>
            <a:off x="7818120" y="3017520"/>
            <a:ext cx="36576" cy="36576"/>
          </a:xfrm>
          <a:prstGeom prst="ellipse">
            <a:avLst/>
          </a:prstGeom>
          <a:solidFill>
            <a:srgbClr val="FFFFFF">
              <a:alpha val="12000"/>
            </a:srgbClr>
          </a:solidFill>
          <a:ln w="12700">
            <a:solidFill>
              <a:srgbClr val="FFFFFF">
                <a:alpha val="0"/>
              </a:srgbClr>
            </a:solidFill>
            <a:prstDash val="solid"/>
          </a:ln>
        </p:spPr>
      </p:sp>
      <p:sp>
        <p:nvSpPr>
          <p:cNvPr id="30" name="Shape 28"/>
          <p:cNvSpPr/>
          <p:nvPr/>
        </p:nvSpPr>
        <p:spPr>
          <a:xfrm>
            <a:off x="7818120" y="4297680"/>
            <a:ext cx="36576" cy="36576"/>
          </a:xfrm>
          <a:prstGeom prst="ellipse">
            <a:avLst/>
          </a:prstGeom>
          <a:solidFill>
            <a:srgbClr val="FFFFFF">
              <a:alpha val="12000"/>
            </a:srgbClr>
          </a:solidFill>
          <a:ln w="12700">
            <a:solidFill>
              <a:srgbClr val="FFFFFF">
                <a:alpha val="0"/>
              </a:srgbClr>
            </a:solidFill>
            <a:prstDash val="solid"/>
          </a:ln>
        </p:spPr>
      </p:sp>
      <p:sp>
        <p:nvSpPr>
          <p:cNvPr id="31" name="Shape 29"/>
          <p:cNvSpPr/>
          <p:nvPr/>
        </p:nvSpPr>
        <p:spPr>
          <a:xfrm>
            <a:off x="7818120" y="5577840"/>
            <a:ext cx="36576" cy="36576"/>
          </a:xfrm>
          <a:prstGeom prst="ellipse">
            <a:avLst/>
          </a:prstGeom>
          <a:solidFill>
            <a:srgbClr val="FFFFFF">
              <a:alpha val="12000"/>
            </a:srgbClr>
          </a:solidFill>
          <a:ln w="12700">
            <a:solidFill>
              <a:srgbClr val="FFFFFF">
                <a:alpha val="0"/>
              </a:srgbClr>
            </a:solidFill>
            <a:prstDash val="solid"/>
          </a:ln>
        </p:spPr>
      </p:sp>
      <p:sp>
        <p:nvSpPr>
          <p:cNvPr id="32" name="Shape 30"/>
          <p:cNvSpPr/>
          <p:nvPr/>
        </p:nvSpPr>
        <p:spPr>
          <a:xfrm>
            <a:off x="9235440" y="457200"/>
            <a:ext cx="36576" cy="36576"/>
          </a:xfrm>
          <a:prstGeom prst="ellipse">
            <a:avLst/>
          </a:prstGeom>
          <a:solidFill>
            <a:srgbClr val="FFFFFF">
              <a:alpha val="12000"/>
            </a:srgbClr>
          </a:solidFill>
          <a:ln w="12700">
            <a:solidFill>
              <a:srgbClr val="FFFFFF">
                <a:alpha val="0"/>
              </a:srgbClr>
            </a:solidFill>
            <a:prstDash val="solid"/>
          </a:ln>
        </p:spPr>
      </p:sp>
      <p:sp>
        <p:nvSpPr>
          <p:cNvPr id="33" name="Shape 31"/>
          <p:cNvSpPr/>
          <p:nvPr/>
        </p:nvSpPr>
        <p:spPr>
          <a:xfrm>
            <a:off x="9235440" y="1737360"/>
            <a:ext cx="36576" cy="36576"/>
          </a:xfrm>
          <a:prstGeom prst="ellipse">
            <a:avLst/>
          </a:prstGeom>
          <a:solidFill>
            <a:srgbClr val="FFFFFF">
              <a:alpha val="12000"/>
            </a:srgbClr>
          </a:solidFill>
          <a:ln w="12700">
            <a:solidFill>
              <a:srgbClr val="FFFFFF">
                <a:alpha val="0"/>
              </a:srgbClr>
            </a:solidFill>
            <a:prstDash val="solid"/>
          </a:ln>
        </p:spPr>
      </p:sp>
      <p:sp>
        <p:nvSpPr>
          <p:cNvPr id="34" name="Shape 32"/>
          <p:cNvSpPr/>
          <p:nvPr/>
        </p:nvSpPr>
        <p:spPr>
          <a:xfrm>
            <a:off x="9235440" y="3017520"/>
            <a:ext cx="36576" cy="36576"/>
          </a:xfrm>
          <a:prstGeom prst="ellipse">
            <a:avLst/>
          </a:prstGeom>
          <a:solidFill>
            <a:srgbClr val="FFFFFF">
              <a:alpha val="12000"/>
            </a:srgbClr>
          </a:solidFill>
          <a:ln w="12700">
            <a:solidFill>
              <a:srgbClr val="FFFFFF">
                <a:alpha val="0"/>
              </a:srgbClr>
            </a:solidFill>
            <a:prstDash val="solid"/>
          </a:ln>
        </p:spPr>
      </p:sp>
      <p:sp>
        <p:nvSpPr>
          <p:cNvPr id="35" name="Shape 33"/>
          <p:cNvSpPr/>
          <p:nvPr/>
        </p:nvSpPr>
        <p:spPr>
          <a:xfrm>
            <a:off x="9235440" y="4297680"/>
            <a:ext cx="36576" cy="36576"/>
          </a:xfrm>
          <a:prstGeom prst="ellipse">
            <a:avLst/>
          </a:prstGeom>
          <a:solidFill>
            <a:srgbClr val="FFFFFF">
              <a:alpha val="12000"/>
            </a:srgbClr>
          </a:solidFill>
          <a:ln w="12700">
            <a:solidFill>
              <a:srgbClr val="FFFFFF">
                <a:alpha val="0"/>
              </a:srgbClr>
            </a:solidFill>
            <a:prstDash val="solid"/>
          </a:ln>
        </p:spPr>
      </p:sp>
      <p:sp>
        <p:nvSpPr>
          <p:cNvPr id="36" name="Shape 34"/>
          <p:cNvSpPr/>
          <p:nvPr/>
        </p:nvSpPr>
        <p:spPr>
          <a:xfrm>
            <a:off x="9235440" y="5577840"/>
            <a:ext cx="36576" cy="36576"/>
          </a:xfrm>
          <a:prstGeom prst="ellipse">
            <a:avLst/>
          </a:prstGeom>
          <a:solidFill>
            <a:srgbClr val="FFFFFF">
              <a:alpha val="12000"/>
            </a:srgbClr>
          </a:solidFill>
          <a:ln w="12700">
            <a:solidFill>
              <a:srgbClr val="FFFFFF">
                <a:alpha val="0"/>
              </a:srgbClr>
            </a:solidFill>
            <a:prstDash val="solid"/>
          </a:ln>
        </p:spPr>
      </p:sp>
      <p:sp>
        <p:nvSpPr>
          <p:cNvPr id="37" name="Shape 35"/>
          <p:cNvSpPr/>
          <p:nvPr/>
        </p:nvSpPr>
        <p:spPr>
          <a:xfrm>
            <a:off x="10652760" y="457200"/>
            <a:ext cx="36576" cy="36576"/>
          </a:xfrm>
          <a:prstGeom prst="ellipse">
            <a:avLst/>
          </a:prstGeom>
          <a:solidFill>
            <a:srgbClr val="FFFFFF">
              <a:alpha val="12000"/>
            </a:srgbClr>
          </a:solidFill>
          <a:ln w="12700">
            <a:solidFill>
              <a:srgbClr val="FFFFFF">
                <a:alpha val="0"/>
              </a:srgbClr>
            </a:solidFill>
            <a:prstDash val="solid"/>
          </a:ln>
        </p:spPr>
      </p:sp>
      <p:sp>
        <p:nvSpPr>
          <p:cNvPr id="38" name="Shape 36"/>
          <p:cNvSpPr/>
          <p:nvPr/>
        </p:nvSpPr>
        <p:spPr>
          <a:xfrm>
            <a:off x="10652760" y="1737360"/>
            <a:ext cx="36576" cy="36576"/>
          </a:xfrm>
          <a:prstGeom prst="ellipse">
            <a:avLst/>
          </a:prstGeom>
          <a:solidFill>
            <a:srgbClr val="FFFFFF">
              <a:alpha val="12000"/>
            </a:srgbClr>
          </a:solidFill>
          <a:ln w="12700">
            <a:solidFill>
              <a:srgbClr val="FFFFFF">
                <a:alpha val="0"/>
              </a:srgbClr>
            </a:solidFill>
            <a:prstDash val="solid"/>
          </a:ln>
        </p:spPr>
      </p:sp>
      <p:sp>
        <p:nvSpPr>
          <p:cNvPr id="39" name="Shape 37"/>
          <p:cNvSpPr/>
          <p:nvPr/>
        </p:nvSpPr>
        <p:spPr>
          <a:xfrm>
            <a:off x="10652760" y="3017520"/>
            <a:ext cx="36576" cy="36576"/>
          </a:xfrm>
          <a:prstGeom prst="ellipse">
            <a:avLst/>
          </a:prstGeom>
          <a:solidFill>
            <a:srgbClr val="FFFFFF">
              <a:alpha val="12000"/>
            </a:srgbClr>
          </a:solidFill>
          <a:ln w="12700">
            <a:solidFill>
              <a:srgbClr val="FFFFFF">
                <a:alpha val="0"/>
              </a:srgbClr>
            </a:solidFill>
            <a:prstDash val="solid"/>
          </a:ln>
        </p:spPr>
      </p:sp>
      <p:sp>
        <p:nvSpPr>
          <p:cNvPr id="40" name="Shape 38"/>
          <p:cNvSpPr/>
          <p:nvPr/>
        </p:nvSpPr>
        <p:spPr>
          <a:xfrm>
            <a:off x="10652760" y="4297680"/>
            <a:ext cx="36576" cy="36576"/>
          </a:xfrm>
          <a:prstGeom prst="ellipse">
            <a:avLst/>
          </a:prstGeom>
          <a:solidFill>
            <a:srgbClr val="FFFFFF">
              <a:alpha val="12000"/>
            </a:srgbClr>
          </a:solidFill>
          <a:ln w="12700">
            <a:solidFill>
              <a:srgbClr val="FFFFFF">
                <a:alpha val="0"/>
              </a:srgbClr>
            </a:solidFill>
            <a:prstDash val="solid"/>
          </a:ln>
        </p:spPr>
      </p:sp>
      <p:sp>
        <p:nvSpPr>
          <p:cNvPr id="41" name="Shape 39"/>
          <p:cNvSpPr/>
          <p:nvPr/>
        </p:nvSpPr>
        <p:spPr>
          <a:xfrm>
            <a:off x="10652760" y="5577840"/>
            <a:ext cx="36576" cy="36576"/>
          </a:xfrm>
          <a:prstGeom prst="ellipse">
            <a:avLst/>
          </a:prstGeom>
          <a:solidFill>
            <a:srgbClr val="FFFFFF">
              <a:alpha val="12000"/>
            </a:srgbClr>
          </a:solidFill>
          <a:ln w="12700">
            <a:solidFill>
              <a:srgbClr val="FFFFFF">
                <a:alpha val="0"/>
              </a:srgbClr>
            </a:solidFill>
            <a:prstDash val="solid"/>
          </a:ln>
        </p:spPr>
      </p:sp>
      <p:sp>
        <p:nvSpPr>
          <p:cNvPr id="42" name="Shape 40"/>
          <p:cNvSpPr/>
          <p:nvPr/>
        </p:nvSpPr>
        <p:spPr>
          <a:xfrm>
            <a:off x="7315200" y="-914400"/>
            <a:ext cx="6400800" cy="6400800"/>
          </a:xfrm>
          <a:prstGeom prst="ellipse">
            <a:avLst/>
          </a:prstGeom>
          <a:solidFill>
            <a:srgbClr val="E8604F">
              <a:alpha val="10000"/>
            </a:srgbClr>
          </a:solidFill>
          <a:ln w="12700">
            <a:solidFill>
              <a:srgbClr val="E8604F">
                <a:alpha val="10000"/>
              </a:srgbClr>
            </a:solidFill>
            <a:prstDash val="solid"/>
          </a:ln>
        </p:spPr>
      </p:sp>
      <p:sp>
        <p:nvSpPr>
          <p:cNvPr id="43" name="Shape 41"/>
          <p:cNvSpPr/>
          <p:nvPr/>
        </p:nvSpPr>
        <p:spPr>
          <a:xfrm>
            <a:off x="-1828800" y="1828800"/>
            <a:ext cx="4572000" cy="4572000"/>
          </a:xfrm>
          <a:prstGeom prst="ellipse">
            <a:avLst/>
          </a:prstGeom>
          <a:solidFill>
            <a:srgbClr val="6350D2">
              <a:alpha val="10000"/>
            </a:srgbClr>
          </a:solidFill>
          <a:ln w="12700">
            <a:solidFill>
              <a:srgbClr val="6350D2">
                <a:alpha val="10000"/>
              </a:srgbClr>
            </a:solidFill>
            <a:prstDash val="solid"/>
          </a:ln>
        </p:spPr>
      </p:sp>
      <p:sp>
        <p:nvSpPr>
          <p:cNvPr id="44" name="Text 42"/>
          <p:cNvSpPr/>
          <p:nvPr/>
        </p:nvSpPr>
        <p:spPr>
          <a:xfrm>
            <a:off x="548640" y="640080"/>
            <a:ext cx="9144000" cy="2194560"/>
          </a:xfrm>
          <a:prstGeom prst="rect">
            <a:avLst/>
          </a:prstGeom>
          <a:noFill/>
          <a:ln/>
        </p:spPr>
        <p:txBody>
          <a:bodyPr wrap="square" rtlCol="0" anchor="ctr"/>
          <a:lstStyle/>
          <a:p>
            <a:pPr indent="0" marL="0">
              <a:lnSpc>
                <a:spcPct val="108000"/>
              </a:lnSpc>
              <a:buNone/>
            </a:pPr>
            <a:r>
              <a:rPr lang="en-US" sz="5400" b="1" dirty="0">
                <a:solidFill>
                  <a:srgbClr val="FFFFFF"/>
                </a:solidFill>
                <a:latin typeface="Cambria" pitchFamily="34" charset="0"/>
                <a:ea typeface="Cambria" pitchFamily="34" charset="-122"/>
                <a:cs typeface="Cambria" pitchFamily="34" charset="-120"/>
              </a:rPr>
              <a:t>Ready to grow</a:t>
            </a:r>
            <a:endParaRPr lang="en-US" sz="5400" dirty="0"/>
          </a:p>
          <a:p>
            <a:pPr indent="0" marL="0">
              <a:lnSpc>
                <a:spcPct val="108000"/>
              </a:lnSpc>
              <a:buNone/>
            </a:pPr>
            <a:r>
              <a:rPr lang="en-US" sz="5400" b="1" dirty="0">
                <a:solidFill>
                  <a:srgbClr val="FFFFFF"/>
                </a:solidFill>
                <a:latin typeface="Cambria" pitchFamily="34" charset="0"/>
                <a:ea typeface="Cambria" pitchFamily="34" charset="-122"/>
                <a:cs typeface="Cambria" pitchFamily="34" charset="-120"/>
              </a:rPr>
              <a:t>your practice?</a:t>
            </a:r>
            <a:endParaRPr lang="en-US" sz="5400" dirty="0"/>
          </a:p>
        </p:txBody>
      </p:sp>
      <p:sp>
        <p:nvSpPr>
          <p:cNvPr id="45" name="Text 43"/>
          <p:cNvSpPr/>
          <p:nvPr/>
        </p:nvSpPr>
        <p:spPr>
          <a:xfrm>
            <a:off x="548640" y="3017520"/>
            <a:ext cx="7315200" cy="548640"/>
          </a:xfrm>
          <a:prstGeom prst="rect">
            <a:avLst/>
          </a:prstGeom>
          <a:noFill/>
          <a:ln/>
        </p:spPr>
        <p:txBody>
          <a:bodyPr wrap="square" rtlCol="0" anchor="ctr"/>
          <a:lstStyle/>
          <a:p>
            <a:pPr indent="0" marL="0">
              <a:buNone/>
            </a:pPr>
            <a:r>
              <a:rPr lang="en-US" sz="1600" dirty="0">
                <a:solidFill>
                  <a:srgbClr val="B3B8CC"/>
                </a:solidFill>
                <a:latin typeface="Calibri" pitchFamily="34" charset="0"/>
                <a:ea typeface="Calibri" pitchFamily="34" charset="-122"/>
                <a:cs typeface="Calibri" pitchFamily="34" charset="-120"/>
              </a:rPr>
              <a:t>Come find us at our table. We would love to learn about your practice.</a:t>
            </a:r>
            <a:endParaRPr lang="en-US" sz="1600" dirty="0"/>
          </a:p>
        </p:txBody>
      </p:sp>
      <p:sp>
        <p:nvSpPr>
          <p:cNvPr id="46" name="Shape 44"/>
          <p:cNvSpPr/>
          <p:nvPr/>
        </p:nvSpPr>
        <p:spPr>
          <a:xfrm>
            <a:off x="548640" y="3749040"/>
            <a:ext cx="6400800" cy="658368"/>
          </a:xfrm>
          <a:prstGeom prst="roundRect">
            <a:avLst>
              <a:gd name="adj" fmla="val 16667"/>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47" name="Text 45"/>
          <p:cNvSpPr/>
          <p:nvPr/>
        </p:nvSpPr>
        <p:spPr>
          <a:xfrm>
            <a:off x="777240" y="3813048"/>
            <a:ext cx="1097280" cy="457200"/>
          </a:xfrm>
          <a:prstGeom prst="rect">
            <a:avLst/>
          </a:prstGeom>
          <a:noFill/>
          <a:ln/>
        </p:spPr>
        <p:txBody>
          <a:bodyPr wrap="square" rtlCol="0" anchor="ctr"/>
          <a:lstStyle/>
          <a:p>
            <a:pPr indent="0" marL="0">
              <a:buNone/>
            </a:pPr>
            <a:r>
              <a:rPr lang="en-US" sz="900" b="1" spc="150" kern="0" dirty="0">
                <a:solidFill>
                  <a:srgbClr val="E8604F"/>
                </a:solidFill>
                <a:latin typeface="Calibri" pitchFamily="34" charset="0"/>
                <a:ea typeface="Calibri" pitchFamily="34" charset="-122"/>
                <a:cs typeface="Calibri" pitchFamily="34" charset="-120"/>
              </a:rPr>
              <a:t>LOCATION</a:t>
            </a:r>
            <a:endParaRPr lang="en-US" sz="900" dirty="0"/>
          </a:p>
        </p:txBody>
      </p:sp>
      <p:sp>
        <p:nvSpPr>
          <p:cNvPr id="48" name="Text 46"/>
          <p:cNvSpPr/>
          <p:nvPr/>
        </p:nvSpPr>
        <p:spPr>
          <a:xfrm>
            <a:off x="1920240" y="3813048"/>
            <a:ext cx="48463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 Louis, MO  — available for in-person meetings</a:t>
            </a:r>
            <a:endParaRPr lang="en-US" sz="1300" dirty="0"/>
          </a:p>
        </p:txBody>
      </p:sp>
      <p:sp>
        <p:nvSpPr>
          <p:cNvPr id="49" name="Shape 47"/>
          <p:cNvSpPr/>
          <p:nvPr/>
        </p:nvSpPr>
        <p:spPr>
          <a:xfrm>
            <a:off x="548640" y="4553712"/>
            <a:ext cx="6400800" cy="658368"/>
          </a:xfrm>
          <a:prstGeom prst="roundRect">
            <a:avLst>
              <a:gd name="adj" fmla="val 16667"/>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0" name="Text 48"/>
          <p:cNvSpPr/>
          <p:nvPr/>
        </p:nvSpPr>
        <p:spPr>
          <a:xfrm>
            <a:off x="777240" y="4617720"/>
            <a:ext cx="1097280" cy="457200"/>
          </a:xfrm>
          <a:prstGeom prst="rect">
            <a:avLst/>
          </a:prstGeom>
          <a:noFill/>
          <a:ln/>
        </p:spPr>
        <p:txBody>
          <a:bodyPr wrap="square" rtlCol="0" anchor="ctr"/>
          <a:lstStyle/>
          <a:p>
            <a:pPr indent="0" marL="0">
              <a:buNone/>
            </a:pPr>
            <a:r>
              <a:rPr lang="en-US" sz="900" b="1" spc="150" kern="0" dirty="0">
                <a:solidFill>
                  <a:srgbClr val="E8604F"/>
                </a:solidFill>
                <a:latin typeface="Calibri" pitchFamily="34" charset="0"/>
                <a:ea typeface="Calibri" pitchFamily="34" charset="-122"/>
                <a:cs typeface="Calibri" pitchFamily="34" charset="-120"/>
              </a:rPr>
              <a:t>WEB</a:t>
            </a:r>
            <a:endParaRPr lang="en-US" sz="900" dirty="0"/>
          </a:p>
        </p:txBody>
      </p:sp>
      <p:sp>
        <p:nvSpPr>
          <p:cNvPr id="51" name="Text 49"/>
          <p:cNvSpPr/>
          <p:nvPr/>
        </p:nvSpPr>
        <p:spPr>
          <a:xfrm>
            <a:off x="1920240" y="4617720"/>
            <a:ext cx="48463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ensemblewebsite.netlify.app</a:t>
            </a:r>
            <a:endParaRPr lang="en-US" sz="1300" dirty="0"/>
          </a:p>
        </p:txBody>
      </p:sp>
      <p:sp>
        <p:nvSpPr>
          <p:cNvPr id="52" name="Shape 50"/>
          <p:cNvSpPr/>
          <p:nvPr/>
        </p:nvSpPr>
        <p:spPr>
          <a:xfrm>
            <a:off x="548640" y="5358384"/>
            <a:ext cx="6400800" cy="658368"/>
          </a:xfrm>
          <a:prstGeom prst="roundRect">
            <a:avLst>
              <a:gd name="adj" fmla="val 16667"/>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3" name="Text 51"/>
          <p:cNvSpPr/>
          <p:nvPr/>
        </p:nvSpPr>
        <p:spPr>
          <a:xfrm>
            <a:off x="777240" y="5422392"/>
            <a:ext cx="1097280" cy="457200"/>
          </a:xfrm>
          <a:prstGeom prst="rect">
            <a:avLst/>
          </a:prstGeom>
          <a:noFill/>
          <a:ln/>
        </p:spPr>
        <p:txBody>
          <a:bodyPr wrap="square" rtlCol="0" anchor="ctr"/>
          <a:lstStyle/>
          <a:p>
            <a:pPr indent="0" marL="0">
              <a:buNone/>
            </a:pPr>
            <a:r>
              <a:rPr lang="en-US" sz="900" b="1" spc="150" kern="0" dirty="0">
                <a:solidFill>
                  <a:srgbClr val="E8604F"/>
                </a:solidFill>
                <a:latin typeface="Calibri" pitchFamily="34" charset="0"/>
                <a:ea typeface="Calibri" pitchFamily="34" charset="-122"/>
                <a:cs typeface="Calibri" pitchFamily="34" charset="-120"/>
              </a:rPr>
              <a:t>FREE AUDIT</a:t>
            </a:r>
            <a:endParaRPr lang="en-US" sz="900" dirty="0"/>
          </a:p>
        </p:txBody>
      </p:sp>
      <p:sp>
        <p:nvSpPr>
          <p:cNvPr id="54" name="Text 52"/>
          <p:cNvSpPr/>
          <p:nvPr/>
        </p:nvSpPr>
        <p:spPr>
          <a:xfrm>
            <a:off x="1920240" y="5422392"/>
            <a:ext cx="48463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Scan QR code for a free practice audit</a:t>
            </a:r>
            <a:endParaRPr lang="en-US" sz="1300" dirty="0"/>
          </a:p>
        </p:txBody>
      </p:sp>
      <p:sp>
        <p:nvSpPr>
          <p:cNvPr id="55" name="Shape 53"/>
          <p:cNvSpPr/>
          <p:nvPr/>
        </p:nvSpPr>
        <p:spPr>
          <a:xfrm>
            <a:off x="7955280" y="2286000"/>
            <a:ext cx="3749040" cy="4023360"/>
          </a:xfrm>
          <a:prstGeom prst="roundRect">
            <a:avLst>
              <a:gd name="adj" fmla="val 2927"/>
            </a:avLst>
          </a:prstGeom>
          <a:solidFill>
            <a:srgbClr val="0F1525"/>
          </a:solidFill>
          <a:ln w="6350">
            <a:solidFill>
              <a:srgbClr val="FFFFFF">
                <a:alpha val="8000"/>
              </a:srgbClr>
            </a:solidFill>
            <a:prstDash val="solid"/>
          </a:ln>
          <a:effectLst>
            <a:outerShdw sx="100000" sy="100000" kx="0" ky="0" algn="bl" rotWithShape="0" blurRad="101600" dist="38100" dir="2700000">
              <a:srgbClr val="000000">
                <a:alpha val="18000"/>
              </a:srgbClr>
            </a:outerShdw>
          </a:effectLst>
        </p:spPr>
      </p:sp>
      <p:sp>
        <p:nvSpPr>
          <p:cNvPr id="56" name="Shape 54"/>
          <p:cNvSpPr/>
          <p:nvPr/>
        </p:nvSpPr>
        <p:spPr>
          <a:xfrm>
            <a:off x="8503920" y="2697480"/>
            <a:ext cx="2651760" cy="2651760"/>
          </a:xfrm>
          <a:prstGeom prst="roundRect">
            <a:avLst>
              <a:gd name="adj" fmla="val 2759"/>
            </a:avLst>
          </a:prstGeom>
          <a:solidFill>
            <a:srgbClr val="FFFFFF"/>
          </a:solidFill>
          <a:ln w="12700">
            <a:solidFill>
              <a:srgbClr val="161D32"/>
            </a:solidFill>
            <a:prstDash val="solid"/>
          </a:ln>
        </p:spPr>
      </p:sp>
      <p:sp>
        <p:nvSpPr>
          <p:cNvPr id="57" name="Text 55"/>
          <p:cNvSpPr/>
          <p:nvPr/>
        </p:nvSpPr>
        <p:spPr>
          <a:xfrm>
            <a:off x="8503920" y="3291840"/>
            <a:ext cx="2651760" cy="1463040"/>
          </a:xfrm>
          <a:prstGeom prst="rect">
            <a:avLst/>
          </a:prstGeom>
          <a:noFill/>
          <a:ln/>
        </p:spPr>
        <p:txBody>
          <a:bodyPr wrap="square" rtlCol="0" anchor="ctr"/>
          <a:lstStyle/>
          <a:p>
            <a:pPr algn="ctr" indent="0" marL="0">
              <a:buNone/>
            </a:pPr>
            <a:r>
              <a:rPr lang="en-US" sz="1800" b="1" dirty="0">
                <a:solidFill>
                  <a:srgbClr val="080C18"/>
                </a:solidFill>
                <a:latin typeface="Calibri" pitchFamily="34" charset="0"/>
                <a:ea typeface="Calibri" pitchFamily="34" charset="-122"/>
                <a:cs typeface="Calibri" pitchFamily="34" charset="-120"/>
              </a:rPr>
              <a:t>QR CODE</a:t>
            </a:r>
            <a:endParaRPr lang="en-US" sz="1800" dirty="0"/>
          </a:p>
          <a:p>
            <a:pPr algn="ctr" indent="0" marL="0">
              <a:buNone/>
            </a:pPr>
            <a:r>
              <a:rPr lang="en-US" sz="1800" b="1" dirty="0">
                <a:solidFill>
                  <a:srgbClr val="080C18"/>
                </a:solidFill>
                <a:latin typeface="Calibri" pitchFamily="34" charset="0"/>
                <a:ea typeface="Calibri" pitchFamily="34" charset="-122"/>
                <a:cs typeface="Calibri" pitchFamily="34" charset="-120"/>
              </a:rPr>
              <a:t>HERE</a:t>
            </a:r>
            <a:endParaRPr lang="en-US" sz="1800" dirty="0"/>
          </a:p>
        </p:txBody>
      </p:sp>
      <p:sp>
        <p:nvSpPr>
          <p:cNvPr id="58" name="Text 56"/>
          <p:cNvSpPr/>
          <p:nvPr/>
        </p:nvSpPr>
        <p:spPr>
          <a:xfrm>
            <a:off x="8092440" y="5486400"/>
            <a:ext cx="3566160" cy="640080"/>
          </a:xfrm>
          <a:prstGeom prst="rect">
            <a:avLst/>
          </a:prstGeom>
          <a:noFill/>
          <a:ln/>
        </p:spPr>
        <p:txBody>
          <a:bodyPr wrap="square" rtlCol="0" anchor="ctr"/>
          <a:lstStyle/>
          <a:p>
            <a:pPr algn="ctr" indent="0" marL="0">
              <a:lnSpc>
                <a:spcPct val="130000"/>
              </a:lnSpc>
              <a:buNone/>
            </a:pPr>
            <a:r>
              <a:rPr lang="en-US" sz="1100" dirty="0">
                <a:solidFill>
                  <a:srgbClr val="B3B8CC"/>
                </a:solidFill>
                <a:latin typeface="Calibri" pitchFamily="34" charset="0"/>
                <a:ea typeface="Calibri" pitchFamily="34" charset="-122"/>
                <a:cs typeface="Calibri" pitchFamily="34" charset="-120"/>
              </a:rPr>
              <a:t>Scan for free</a:t>
            </a:r>
            <a:endParaRPr lang="en-US" sz="1100" dirty="0"/>
          </a:p>
          <a:p>
            <a:pPr algn="ctr" indent="0" marL="0">
              <a:lnSpc>
                <a:spcPct val="130000"/>
              </a:lnSpc>
              <a:buNone/>
            </a:pPr>
            <a:r>
              <a:rPr lang="en-US" sz="1100" dirty="0">
                <a:solidFill>
                  <a:srgbClr val="B3B8CC"/>
                </a:solidFill>
                <a:latin typeface="Calibri" pitchFamily="34" charset="0"/>
                <a:ea typeface="Calibri" pitchFamily="34" charset="-122"/>
                <a:cs typeface="Calibri" pitchFamily="34" charset="-120"/>
              </a:rPr>
              <a:t>practice audit</a:t>
            </a:r>
            <a:endParaRPr lang="en-US" sz="1100" dirty="0"/>
          </a:p>
        </p:txBody>
      </p:sp>
      <p:sp>
        <p:nvSpPr>
          <p:cNvPr id="59" name="Text 57"/>
          <p:cNvSpPr/>
          <p:nvPr/>
        </p:nvSpPr>
        <p:spPr>
          <a:xfrm>
            <a:off x="8229600" y="6172200"/>
            <a:ext cx="3200400" cy="411480"/>
          </a:xfrm>
          <a:prstGeom prst="rect">
            <a:avLst/>
          </a:prstGeom>
          <a:noFill/>
          <a:ln/>
        </p:spPr>
        <p:txBody>
          <a:bodyPr wrap="square" rtlCol="0" anchor="ctr"/>
          <a:lstStyle/>
          <a:p>
            <a:pPr algn="ctr" indent="0" marL="0">
              <a:buNone/>
            </a:pPr>
            <a:r>
              <a:rPr lang="en-US" sz="1800" b="1" spc="300" kern="0" dirty="0">
                <a:solidFill>
                  <a:srgbClr val="E8604F"/>
                </a:solidFill>
                <a:latin typeface="Cambria" pitchFamily="34" charset="0"/>
                <a:ea typeface="Cambria" pitchFamily="34" charset="-122"/>
                <a:cs typeface="Cambria" pitchFamily="34" charset="-120"/>
              </a:rPr>
              <a:t>TABLE  [#]</a:t>
            </a:r>
            <a:endParaRPr lang="en-US" sz="1800" dirty="0"/>
          </a:p>
        </p:txBody>
      </p:sp>
      <p:sp>
        <p:nvSpPr>
          <p:cNvPr id="60" name="Shape 58"/>
          <p:cNvSpPr/>
          <p:nvPr/>
        </p:nvSpPr>
        <p:spPr>
          <a:xfrm>
            <a:off x="10058400" y="274320"/>
            <a:ext cx="1828800" cy="502920"/>
          </a:xfrm>
          <a:prstGeom prst="roundRect">
            <a:avLst>
              <a:gd name="adj" fmla="val 14545"/>
            </a:avLst>
          </a:prstGeom>
          <a:solidFill>
            <a:srgbClr val="E8604F"/>
          </a:solidFill>
          <a:ln/>
        </p:spPr>
      </p:sp>
      <p:sp>
        <p:nvSpPr>
          <p:cNvPr id="61" name="Text 59"/>
          <p:cNvSpPr/>
          <p:nvPr/>
        </p:nvSpPr>
        <p:spPr>
          <a:xfrm>
            <a:off x="10058400" y="301752"/>
            <a:ext cx="1828800" cy="41148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ENSEMBLE DIGITAL LABS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 Conference 2026 — Ensemble Digital Labs</dc:title>
  <dc:subject>PptxGenJS Presentation</dc:subject>
  <dc:creator>Ensemble Digital Labs</dc:creator>
  <cp:lastModifiedBy>Ensemble Digital Labs</cp:lastModifiedBy>
  <cp:revision>1</cp:revision>
  <dcterms:created xsi:type="dcterms:W3CDTF">2026-06-14T17:43:41Z</dcterms:created>
  <dcterms:modified xsi:type="dcterms:W3CDTF">2026-06-14T17:43:41Z</dcterms:modified>
</cp:coreProperties>
</file>